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ink/ink2.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8" r:id="rId1"/>
  </p:sldMasterIdLst>
  <p:notesMasterIdLst>
    <p:notesMasterId r:id="rId56"/>
  </p:notesMasterIdLst>
  <p:sldIdLst>
    <p:sldId id="256" r:id="rId2"/>
    <p:sldId id="257" r:id="rId3"/>
    <p:sldId id="258" r:id="rId4"/>
    <p:sldId id="259" r:id="rId5"/>
    <p:sldId id="260" r:id="rId6"/>
    <p:sldId id="262" r:id="rId7"/>
    <p:sldId id="265" r:id="rId8"/>
    <p:sldId id="263"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90" r:id="rId34"/>
    <p:sldId id="289" r:id="rId35"/>
    <p:sldId id="291" r:id="rId36"/>
    <p:sldId id="292" r:id="rId37"/>
    <p:sldId id="293" r:id="rId38"/>
    <p:sldId id="296" r:id="rId39"/>
    <p:sldId id="295" r:id="rId40"/>
    <p:sldId id="298" r:id="rId41"/>
    <p:sldId id="297" r:id="rId42"/>
    <p:sldId id="299" r:id="rId43"/>
    <p:sldId id="300" r:id="rId44"/>
    <p:sldId id="301" r:id="rId45"/>
    <p:sldId id="302" r:id="rId46"/>
    <p:sldId id="303" r:id="rId47"/>
    <p:sldId id="304" r:id="rId48"/>
    <p:sldId id="305" r:id="rId49"/>
    <p:sldId id="306" r:id="rId50"/>
    <p:sldId id="307" r:id="rId51"/>
    <p:sldId id="294" r:id="rId52"/>
    <p:sldId id="308" r:id="rId53"/>
    <p:sldId id="309" r:id="rId54"/>
    <p:sldId id="310"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108"/>
    <p:restoredTop sz="94720"/>
  </p:normalViewPr>
  <p:slideViewPr>
    <p:cSldViewPr snapToGrid="0">
      <p:cViewPr>
        <p:scale>
          <a:sx n="150" d="100"/>
          <a:sy n="150" d="100"/>
        </p:scale>
        <p:origin x="3832" y="1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5T16:48:24.863"/>
    </inkml:context>
    <inkml:brush xml:id="br0">
      <inkml:brushProperty name="width" value="0.1" units="cm"/>
      <inkml:brushProperty name="height" value="0.6" units="cm"/>
      <inkml:brushProperty name="color" value="#849398"/>
      <inkml:brushProperty name="inkEffects" value="pencil"/>
    </inkml:brush>
  </inkml:definitions>
  <inkml:trace contextRef="#ctx0" brushRef="#br0">0 0 16383,'0'0'0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5T16:48:24.863"/>
    </inkml:context>
    <inkml:brush xml:id="br0">
      <inkml:brushProperty name="width" value="0.1" units="cm"/>
      <inkml:brushProperty name="height" value="0.6" units="cm"/>
      <inkml:brushProperty name="color" value="#849398"/>
      <inkml:brushProperty name="inkEffects" value="pencil"/>
    </inkml:brush>
  </inkml:definitions>
  <inkml:trace contextRef="#ctx0" brushRef="#br0">0 0 16383,'0'0'0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E1BF89-7CE6-FA4F-89A5-FF429C282D8A}" type="datetimeFigureOut">
              <a:rPr lang="en-US" smtClean="0"/>
              <a:t>11/5/25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54676B-9A65-A740-9E03-62E992CA24A1}" type="slidenum">
              <a:rPr lang="en-US" smtClean="0"/>
              <a:t>‹#›</a:t>
            </a:fld>
            <a:endParaRPr lang="en-US"/>
          </a:p>
        </p:txBody>
      </p:sp>
    </p:spTree>
    <p:extLst>
      <p:ext uri="{BB962C8B-B14F-4D97-AF65-F5344CB8AC3E}">
        <p14:creationId xmlns:p14="http://schemas.microsoft.com/office/powerpoint/2010/main" val="3584911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54676B-9A65-A740-9E03-62E992CA24A1}" type="slidenum">
              <a:rPr lang="en-US" smtClean="0"/>
              <a:t>10</a:t>
            </a:fld>
            <a:endParaRPr lang="en-US"/>
          </a:p>
        </p:txBody>
      </p:sp>
    </p:spTree>
    <p:extLst>
      <p:ext uri="{BB962C8B-B14F-4D97-AF65-F5344CB8AC3E}">
        <p14:creationId xmlns:p14="http://schemas.microsoft.com/office/powerpoint/2010/main" val="4151989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C695F-FAD0-0898-6234-FEAF661EC2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F4E94-ED81-FE0D-10FF-8A47835027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586B71-42AA-260E-7259-B68E5C500F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9BC714-ADC0-32C5-DB14-40F8CBB15F11}"/>
              </a:ext>
            </a:extLst>
          </p:cNvPr>
          <p:cNvSpPr>
            <a:spLocks noGrp="1"/>
          </p:cNvSpPr>
          <p:nvPr>
            <p:ph type="sldNum" sz="quarter" idx="5"/>
          </p:nvPr>
        </p:nvSpPr>
        <p:spPr/>
        <p:txBody>
          <a:bodyPr/>
          <a:lstStyle/>
          <a:p>
            <a:fld id="{0954676B-9A65-A740-9E03-62E992CA24A1}" type="slidenum">
              <a:rPr lang="en-US" smtClean="0"/>
              <a:t>11</a:t>
            </a:fld>
            <a:endParaRPr lang="en-US"/>
          </a:p>
        </p:txBody>
      </p:sp>
    </p:spTree>
    <p:extLst>
      <p:ext uri="{BB962C8B-B14F-4D97-AF65-F5344CB8AC3E}">
        <p14:creationId xmlns:p14="http://schemas.microsoft.com/office/powerpoint/2010/main" val="1475629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83BF2-62D6-0014-F59B-F9348F4EE8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10C46B-0CCB-F9A6-AE13-EAD3EA5D3F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730D16-32FD-57C4-F900-38E564F49E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EB35AC-754A-0A73-7F93-DF02E014BB5A}"/>
              </a:ext>
            </a:extLst>
          </p:cNvPr>
          <p:cNvSpPr>
            <a:spLocks noGrp="1"/>
          </p:cNvSpPr>
          <p:nvPr>
            <p:ph type="sldNum" sz="quarter" idx="5"/>
          </p:nvPr>
        </p:nvSpPr>
        <p:spPr/>
        <p:txBody>
          <a:bodyPr/>
          <a:lstStyle/>
          <a:p>
            <a:fld id="{0954676B-9A65-A740-9E03-62E992CA24A1}" type="slidenum">
              <a:rPr lang="en-US" smtClean="0"/>
              <a:t>13</a:t>
            </a:fld>
            <a:endParaRPr lang="en-US"/>
          </a:p>
        </p:txBody>
      </p:sp>
    </p:spTree>
    <p:extLst>
      <p:ext uri="{BB962C8B-B14F-4D97-AF65-F5344CB8AC3E}">
        <p14:creationId xmlns:p14="http://schemas.microsoft.com/office/powerpoint/2010/main" val="2391145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C0645-4EF5-2052-8950-4FEBC851A3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3795E-ABD9-E1B5-58B5-0D28019DF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E3836F-6AE0-06D8-89B6-DF63B91ED8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AEB38E-D527-127D-5515-F1BC233D748E}"/>
              </a:ext>
            </a:extLst>
          </p:cNvPr>
          <p:cNvSpPr>
            <a:spLocks noGrp="1"/>
          </p:cNvSpPr>
          <p:nvPr>
            <p:ph type="sldNum" sz="quarter" idx="5"/>
          </p:nvPr>
        </p:nvSpPr>
        <p:spPr/>
        <p:txBody>
          <a:bodyPr/>
          <a:lstStyle/>
          <a:p>
            <a:fld id="{0954676B-9A65-A740-9E03-62E992CA24A1}" type="slidenum">
              <a:rPr lang="en-US" smtClean="0"/>
              <a:t>15</a:t>
            </a:fld>
            <a:endParaRPr lang="en-US"/>
          </a:p>
        </p:txBody>
      </p:sp>
    </p:spTree>
    <p:extLst>
      <p:ext uri="{BB962C8B-B14F-4D97-AF65-F5344CB8AC3E}">
        <p14:creationId xmlns:p14="http://schemas.microsoft.com/office/powerpoint/2010/main" val="22470807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460B9-8E4E-9E87-DEE1-CF7FB529FA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76C6D4-FD3C-3B81-A450-EF1B0B7B2B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CADE51-8A92-CE26-4C5D-4BBF59F952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781661-0856-97CC-9644-9A0BF492E6B8}"/>
              </a:ext>
            </a:extLst>
          </p:cNvPr>
          <p:cNvSpPr>
            <a:spLocks noGrp="1"/>
          </p:cNvSpPr>
          <p:nvPr>
            <p:ph type="sldNum" sz="quarter" idx="5"/>
          </p:nvPr>
        </p:nvSpPr>
        <p:spPr/>
        <p:txBody>
          <a:bodyPr/>
          <a:lstStyle/>
          <a:p>
            <a:fld id="{0954676B-9A65-A740-9E03-62E992CA24A1}" type="slidenum">
              <a:rPr lang="en-US" smtClean="0"/>
              <a:t>16</a:t>
            </a:fld>
            <a:endParaRPr lang="en-US"/>
          </a:p>
        </p:txBody>
      </p:sp>
    </p:spTree>
    <p:extLst>
      <p:ext uri="{BB962C8B-B14F-4D97-AF65-F5344CB8AC3E}">
        <p14:creationId xmlns:p14="http://schemas.microsoft.com/office/powerpoint/2010/main" val="3227383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0B2F3-AAD4-4F5D-A171-750FCC77FD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34233E-FAA5-A5D8-11AD-790CC5E50B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D71B1E-76F4-A052-8ED7-8A2A15E73E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7EB025-69AB-7967-CB19-482A06C48BD9}"/>
              </a:ext>
            </a:extLst>
          </p:cNvPr>
          <p:cNvSpPr>
            <a:spLocks noGrp="1"/>
          </p:cNvSpPr>
          <p:nvPr>
            <p:ph type="sldNum" sz="quarter" idx="5"/>
          </p:nvPr>
        </p:nvSpPr>
        <p:spPr/>
        <p:txBody>
          <a:bodyPr/>
          <a:lstStyle/>
          <a:p>
            <a:fld id="{0954676B-9A65-A740-9E03-62E992CA24A1}" type="slidenum">
              <a:rPr lang="en-US" smtClean="0"/>
              <a:t>18</a:t>
            </a:fld>
            <a:endParaRPr lang="en-US"/>
          </a:p>
        </p:txBody>
      </p:sp>
    </p:spTree>
    <p:extLst>
      <p:ext uri="{BB962C8B-B14F-4D97-AF65-F5344CB8AC3E}">
        <p14:creationId xmlns:p14="http://schemas.microsoft.com/office/powerpoint/2010/main" val="602174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D58AF-2C59-9A61-6989-58C0D292C9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C42047-A3CE-34F7-6AFB-3EDC17E82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40FB4F-A0FC-E490-4476-3D3CFB0445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B3A8AD-81FE-1144-B0FA-47A811BA55AC}"/>
              </a:ext>
            </a:extLst>
          </p:cNvPr>
          <p:cNvSpPr>
            <a:spLocks noGrp="1"/>
          </p:cNvSpPr>
          <p:nvPr>
            <p:ph type="sldNum" sz="quarter" idx="5"/>
          </p:nvPr>
        </p:nvSpPr>
        <p:spPr/>
        <p:txBody>
          <a:bodyPr/>
          <a:lstStyle/>
          <a:p>
            <a:fld id="{0954676B-9A65-A740-9E03-62E992CA24A1}" type="slidenum">
              <a:rPr lang="en-US" smtClean="0"/>
              <a:t>20</a:t>
            </a:fld>
            <a:endParaRPr lang="en-US"/>
          </a:p>
        </p:txBody>
      </p:sp>
    </p:spTree>
    <p:extLst>
      <p:ext uri="{BB962C8B-B14F-4D97-AF65-F5344CB8AC3E}">
        <p14:creationId xmlns:p14="http://schemas.microsoft.com/office/powerpoint/2010/main" val="1381812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C2CB-3FB6-1E1F-58E8-D783863329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2F8E7-6127-C015-49C4-8759CB2271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4403E3-7908-FB6C-9C84-42E7FACB0E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D52E30-AD90-B804-86BF-394A115A557D}"/>
              </a:ext>
            </a:extLst>
          </p:cNvPr>
          <p:cNvSpPr>
            <a:spLocks noGrp="1"/>
          </p:cNvSpPr>
          <p:nvPr>
            <p:ph type="sldNum" sz="quarter" idx="5"/>
          </p:nvPr>
        </p:nvSpPr>
        <p:spPr/>
        <p:txBody>
          <a:bodyPr/>
          <a:lstStyle/>
          <a:p>
            <a:fld id="{0954676B-9A65-A740-9E03-62E992CA24A1}" type="slidenum">
              <a:rPr lang="en-US" smtClean="0"/>
              <a:t>21</a:t>
            </a:fld>
            <a:endParaRPr lang="en-US"/>
          </a:p>
        </p:txBody>
      </p:sp>
    </p:spTree>
    <p:extLst>
      <p:ext uri="{BB962C8B-B14F-4D97-AF65-F5344CB8AC3E}">
        <p14:creationId xmlns:p14="http://schemas.microsoft.com/office/powerpoint/2010/main" val="4227623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D9D4B-A19A-BD11-F5FE-82F567C425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F23853-B045-FB5D-DE9B-896C1DAC8D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752F90-0D60-0F37-585A-1882DBBDFE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803A94-84A1-D6BE-B854-A0FBD44FE40C}"/>
              </a:ext>
            </a:extLst>
          </p:cNvPr>
          <p:cNvSpPr>
            <a:spLocks noGrp="1"/>
          </p:cNvSpPr>
          <p:nvPr>
            <p:ph type="sldNum" sz="quarter" idx="5"/>
          </p:nvPr>
        </p:nvSpPr>
        <p:spPr/>
        <p:txBody>
          <a:bodyPr/>
          <a:lstStyle/>
          <a:p>
            <a:fld id="{0954676B-9A65-A740-9E03-62E992CA24A1}" type="slidenum">
              <a:rPr lang="en-US" smtClean="0"/>
              <a:t>23</a:t>
            </a:fld>
            <a:endParaRPr lang="en-US"/>
          </a:p>
        </p:txBody>
      </p:sp>
    </p:spTree>
    <p:extLst>
      <p:ext uri="{BB962C8B-B14F-4D97-AF65-F5344CB8AC3E}">
        <p14:creationId xmlns:p14="http://schemas.microsoft.com/office/powerpoint/2010/main" val="221955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14F7A-874E-E086-7ADA-6976992C6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15B5AB-A3B9-4A61-5DCF-6DC8856186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22FD47-62F5-CD11-81E5-E8314CBC1F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FB6030-E391-641F-9210-58DE307E7D69}"/>
              </a:ext>
            </a:extLst>
          </p:cNvPr>
          <p:cNvSpPr>
            <a:spLocks noGrp="1"/>
          </p:cNvSpPr>
          <p:nvPr>
            <p:ph type="sldNum" sz="quarter" idx="5"/>
          </p:nvPr>
        </p:nvSpPr>
        <p:spPr/>
        <p:txBody>
          <a:bodyPr/>
          <a:lstStyle/>
          <a:p>
            <a:fld id="{0954676B-9A65-A740-9E03-62E992CA24A1}" type="slidenum">
              <a:rPr lang="en-US" smtClean="0"/>
              <a:t>26</a:t>
            </a:fld>
            <a:endParaRPr lang="en-US"/>
          </a:p>
        </p:txBody>
      </p:sp>
    </p:spTree>
    <p:extLst>
      <p:ext uri="{BB962C8B-B14F-4D97-AF65-F5344CB8AC3E}">
        <p14:creationId xmlns:p14="http://schemas.microsoft.com/office/powerpoint/2010/main" val="2227092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0CBB3-BCE4-705A-5DBF-C9E60BE44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889B8B-C959-BBD7-2F12-DFF1B0C48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BB98CF-F80A-CD8A-18E8-E5ED1C7CC4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4AB837-29F6-BF87-7E0B-D60F1C540880}"/>
              </a:ext>
            </a:extLst>
          </p:cNvPr>
          <p:cNvSpPr>
            <a:spLocks noGrp="1"/>
          </p:cNvSpPr>
          <p:nvPr>
            <p:ph type="sldNum" sz="quarter" idx="5"/>
          </p:nvPr>
        </p:nvSpPr>
        <p:spPr/>
        <p:txBody>
          <a:bodyPr/>
          <a:lstStyle/>
          <a:p>
            <a:fld id="{0954676B-9A65-A740-9E03-62E992CA24A1}" type="slidenum">
              <a:rPr lang="en-US" smtClean="0"/>
              <a:t>29</a:t>
            </a:fld>
            <a:endParaRPr lang="en-US"/>
          </a:p>
        </p:txBody>
      </p:sp>
    </p:spTree>
    <p:extLst>
      <p:ext uri="{BB962C8B-B14F-4D97-AF65-F5344CB8AC3E}">
        <p14:creationId xmlns:p14="http://schemas.microsoft.com/office/powerpoint/2010/main" val="3771756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EE8B9-F745-D625-5853-9A998AB141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5695A-6FE2-A517-71CB-BFC5B0093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6758D0-0C0E-1DF2-1E44-35C712864F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AC0441-D539-801C-8872-4185FF457D00}"/>
              </a:ext>
            </a:extLst>
          </p:cNvPr>
          <p:cNvSpPr>
            <a:spLocks noGrp="1"/>
          </p:cNvSpPr>
          <p:nvPr>
            <p:ph type="sldNum" sz="quarter" idx="5"/>
          </p:nvPr>
        </p:nvSpPr>
        <p:spPr/>
        <p:txBody>
          <a:bodyPr/>
          <a:lstStyle/>
          <a:p>
            <a:fld id="{0954676B-9A65-A740-9E03-62E992CA24A1}" type="slidenum">
              <a:rPr lang="en-US" smtClean="0"/>
              <a:t>30</a:t>
            </a:fld>
            <a:endParaRPr lang="en-US"/>
          </a:p>
        </p:txBody>
      </p:sp>
    </p:spTree>
    <p:extLst>
      <p:ext uri="{BB962C8B-B14F-4D97-AF65-F5344CB8AC3E}">
        <p14:creationId xmlns:p14="http://schemas.microsoft.com/office/powerpoint/2010/main" val="2623890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9661A-BCF8-8B07-7CA5-31493B5A6F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B7AD2-787D-D304-3AA7-9B811B99E4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99696-474D-1535-F16B-394C67B9BB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BDE984-31EB-782A-868E-5D51913946BF}"/>
              </a:ext>
            </a:extLst>
          </p:cNvPr>
          <p:cNvSpPr>
            <a:spLocks noGrp="1"/>
          </p:cNvSpPr>
          <p:nvPr>
            <p:ph type="sldNum" sz="quarter" idx="5"/>
          </p:nvPr>
        </p:nvSpPr>
        <p:spPr/>
        <p:txBody>
          <a:bodyPr/>
          <a:lstStyle/>
          <a:p>
            <a:fld id="{0954676B-9A65-A740-9E03-62E992CA24A1}" type="slidenum">
              <a:rPr lang="en-US" smtClean="0"/>
              <a:t>32</a:t>
            </a:fld>
            <a:endParaRPr lang="en-US"/>
          </a:p>
        </p:txBody>
      </p:sp>
    </p:spTree>
    <p:extLst>
      <p:ext uri="{BB962C8B-B14F-4D97-AF65-F5344CB8AC3E}">
        <p14:creationId xmlns:p14="http://schemas.microsoft.com/office/powerpoint/2010/main" val="29879132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587E9-BCAF-2434-D7E0-14DCA6DFB0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F87C9F-FFC9-588F-2F89-869A647AD5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A8BBE-16D6-0FAA-CA63-79591CA974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43479F-FAB9-0B87-C44B-E9745CFE0218}"/>
              </a:ext>
            </a:extLst>
          </p:cNvPr>
          <p:cNvSpPr>
            <a:spLocks noGrp="1"/>
          </p:cNvSpPr>
          <p:nvPr>
            <p:ph type="sldNum" sz="quarter" idx="5"/>
          </p:nvPr>
        </p:nvSpPr>
        <p:spPr/>
        <p:txBody>
          <a:bodyPr/>
          <a:lstStyle/>
          <a:p>
            <a:fld id="{0954676B-9A65-A740-9E03-62E992CA24A1}" type="slidenum">
              <a:rPr lang="en-US" smtClean="0"/>
              <a:t>34</a:t>
            </a:fld>
            <a:endParaRPr lang="en-US"/>
          </a:p>
        </p:txBody>
      </p:sp>
    </p:spTree>
    <p:extLst>
      <p:ext uri="{BB962C8B-B14F-4D97-AF65-F5344CB8AC3E}">
        <p14:creationId xmlns:p14="http://schemas.microsoft.com/office/powerpoint/2010/main" val="28064290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EE442-4941-77E6-3F29-D3A209D26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90BE62-91BD-7A5F-7748-47A819263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8B20A8-AF58-6131-5A4F-D7A2070C79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8D97BE-7B92-4FEE-F811-E0F86D0C281C}"/>
              </a:ext>
            </a:extLst>
          </p:cNvPr>
          <p:cNvSpPr>
            <a:spLocks noGrp="1"/>
          </p:cNvSpPr>
          <p:nvPr>
            <p:ph type="sldNum" sz="quarter" idx="5"/>
          </p:nvPr>
        </p:nvSpPr>
        <p:spPr/>
        <p:txBody>
          <a:bodyPr/>
          <a:lstStyle/>
          <a:p>
            <a:fld id="{0954676B-9A65-A740-9E03-62E992CA24A1}" type="slidenum">
              <a:rPr lang="en-US" smtClean="0"/>
              <a:t>35</a:t>
            </a:fld>
            <a:endParaRPr lang="en-US"/>
          </a:p>
        </p:txBody>
      </p:sp>
    </p:spTree>
    <p:extLst>
      <p:ext uri="{BB962C8B-B14F-4D97-AF65-F5344CB8AC3E}">
        <p14:creationId xmlns:p14="http://schemas.microsoft.com/office/powerpoint/2010/main" val="3764087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DF7A1-6F40-2647-BE97-F43E84E5C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9DA2B-10F9-C41C-49F0-1528A0445A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0D5C0-60A1-246D-17D0-5FB0868570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149EB6-DB33-250E-5FF7-1A9D9695BC99}"/>
              </a:ext>
            </a:extLst>
          </p:cNvPr>
          <p:cNvSpPr>
            <a:spLocks noGrp="1"/>
          </p:cNvSpPr>
          <p:nvPr>
            <p:ph type="sldNum" sz="quarter" idx="5"/>
          </p:nvPr>
        </p:nvSpPr>
        <p:spPr/>
        <p:txBody>
          <a:bodyPr/>
          <a:lstStyle/>
          <a:p>
            <a:fld id="{0954676B-9A65-A740-9E03-62E992CA24A1}" type="slidenum">
              <a:rPr lang="en-US" smtClean="0"/>
              <a:t>38</a:t>
            </a:fld>
            <a:endParaRPr lang="en-US"/>
          </a:p>
        </p:txBody>
      </p:sp>
    </p:spTree>
    <p:extLst>
      <p:ext uri="{BB962C8B-B14F-4D97-AF65-F5344CB8AC3E}">
        <p14:creationId xmlns:p14="http://schemas.microsoft.com/office/powerpoint/2010/main" val="495373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42664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887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70173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07083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91804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5842480"/>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00143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84179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smtClean="0"/>
              <a:pPr/>
              <a:t>11/5/25</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0628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2151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634327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15264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60694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solidFill>
                  <a:schemeClr val="accent1"/>
                </a:soli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98878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solidFill>
                  <a:schemeClr val="tx1"/>
                </a:soli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43720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79159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37888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smtClean="0"/>
              <a:pPr/>
              <a:t>11/5/25</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33312082"/>
      </p:ext>
    </p:extLst>
  </p:cSld>
  <p:clrMap bg1="dk1" tx1="lt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Lst>
  <p:txStyles>
    <p:titleStyle>
      <a:lvl1pPr algn="l" defTabSz="457200" rtl="0" eaLnBrk="1" latinLnBrk="0" hangingPunct="1">
        <a:spcBef>
          <a:spcPct val="0"/>
        </a:spcBef>
        <a:buNone/>
        <a:defRPr sz="3200" kern="1200" cap="all">
          <a:ln w="3175" cmpd="sng">
            <a:noFill/>
          </a:ln>
          <a:solidFill>
            <a:schemeClr val="accent1"/>
          </a:soli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00000"/>
        <a:buFont typeface="Arial"/>
        <a:buChar char="•"/>
        <a:defRPr sz="20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customXml" Target="../ink/ink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74EEA-21FF-89DC-BDED-2EA5166877AE}"/>
              </a:ext>
            </a:extLst>
          </p:cNvPr>
          <p:cNvSpPr>
            <a:spLocks noGrp="1"/>
          </p:cNvSpPr>
          <p:nvPr>
            <p:ph type="ctrTitle"/>
          </p:nvPr>
        </p:nvSpPr>
        <p:spPr>
          <a:xfrm>
            <a:off x="8164106" y="609600"/>
            <a:ext cx="3369133" cy="3642851"/>
          </a:xfrm>
        </p:spPr>
        <p:txBody>
          <a:bodyPr>
            <a:normAutofit/>
          </a:bodyPr>
          <a:lstStyle/>
          <a:p>
            <a:r>
              <a:rPr lang="en-US" sz="4000" dirty="0">
                <a:solidFill>
                  <a:srgbClr val="FFC000"/>
                </a:solidFill>
                <a:effectLst/>
                <a:latin typeface="Helvetica" pitchFamily="2" charset="0"/>
              </a:rPr>
              <a:t>React JS</a:t>
            </a:r>
            <a:br>
              <a:rPr lang="en-US" sz="4000" dirty="0">
                <a:effectLst/>
                <a:latin typeface="Helvetica" pitchFamily="2" charset="0"/>
              </a:rPr>
            </a:br>
            <a:endParaRPr lang="en-US" sz="4000" dirty="0"/>
          </a:p>
        </p:txBody>
      </p:sp>
      <p:sp>
        <p:nvSpPr>
          <p:cNvPr id="3" name="Subtitle 2">
            <a:extLst>
              <a:ext uri="{FF2B5EF4-FFF2-40B4-BE49-F238E27FC236}">
                <a16:creationId xmlns:a16="http://schemas.microsoft.com/office/drawing/2014/main" id="{780B46BB-6268-BF4D-1CE1-DBAA7D44BA4E}"/>
              </a:ext>
            </a:extLst>
          </p:cNvPr>
          <p:cNvSpPr>
            <a:spLocks noGrp="1"/>
          </p:cNvSpPr>
          <p:nvPr>
            <p:ph type="subTitle" idx="1"/>
          </p:nvPr>
        </p:nvSpPr>
        <p:spPr>
          <a:xfrm>
            <a:off x="8164106" y="4365523"/>
            <a:ext cx="3369132" cy="1793053"/>
          </a:xfrm>
        </p:spPr>
        <p:txBody>
          <a:bodyPr>
            <a:normAutofit/>
          </a:bodyPr>
          <a:lstStyle/>
          <a:p>
            <a:endParaRPr lang="en-US" dirty="0"/>
          </a:p>
        </p:txBody>
      </p:sp>
      <p:pic>
        <p:nvPicPr>
          <p:cNvPr id="7" name="Graphic 6">
            <a:extLst>
              <a:ext uri="{FF2B5EF4-FFF2-40B4-BE49-F238E27FC236}">
                <a16:creationId xmlns:a16="http://schemas.microsoft.com/office/drawing/2014/main" id="{410460D9-D9C9-F1F8-BC82-4FB137884C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03807" y="639905"/>
            <a:ext cx="5581878" cy="5581878"/>
          </a:xfrm>
          <a:prstGeom prst="roundRect">
            <a:avLst>
              <a:gd name="adj" fmla="val 3517"/>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3888433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06DE3-BFFB-B1B4-6DE9-521C36674C02}"/>
              </a:ext>
            </a:extLst>
          </p:cNvPr>
          <p:cNvSpPr>
            <a:spLocks noGrp="1"/>
          </p:cNvSpPr>
          <p:nvPr>
            <p:ph type="title"/>
          </p:nvPr>
        </p:nvSpPr>
        <p:spPr/>
        <p:txBody>
          <a:bodyPr/>
          <a:lstStyle/>
          <a:p>
            <a:r>
              <a:rPr lang="en-US" dirty="0">
                <a:solidFill>
                  <a:schemeClr val="accent2">
                    <a:lumMod val="60000"/>
                    <a:lumOff val="40000"/>
                  </a:schemeClr>
                </a:solidFill>
                <a:latin typeface="AkayaTelivigala" pitchFamily="2" charset="77"/>
                <a:cs typeface="AkayaTelivigala" pitchFamily="2" charset="77"/>
              </a:rPr>
              <a:t>Before Start…</a:t>
            </a:r>
          </a:p>
        </p:txBody>
      </p:sp>
      <p:sp>
        <p:nvSpPr>
          <p:cNvPr id="3" name="Content Placeholder 2">
            <a:extLst>
              <a:ext uri="{FF2B5EF4-FFF2-40B4-BE49-F238E27FC236}">
                <a16:creationId xmlns:a16="http://schemas.microsoft.com/office/drawing/2014/main" id="{8E454D69-21AC-7BF5-4CFD-82B7EAF51F40}"/>
              </a:ext>
            </a:extLst>
          </p:cNvPr>
          <p:cNvSpPr>
            <a:spLocks noGrp="1"/>
          </p:cNvSpPr>
          <p:nvPr>
            <p:ph idx="1"/>
          </p:nvPr>
        </p:nvSpPr>
        <p:spPr/>
        <p:txBody>
          <a:bodyPr>
            <a:normAutofit/>
          </a:bodyPr>
          <a:lstStyle/>
          <a:p>
            <a:r>
              <a:rPr lang="en-US" dirty="0">
                <a:solidFill>
                  <a:srgbClr val="FFC000"/>
                </a:solidFill>
                <a:effectLst/>
              </a:rPr>
              <a:t>switch operator</a:t>
            </a:r>
          </a:p>
          <a:p>
            <a:pPr lvl="1"/>
            <a:r>
              <a:rPr lang="en-US" dirty="0">
                <a:effectLst/>
                <a:latin typeface="AkayaTelivigala" pitchFamily="2" charset="77"/>
                <a:cs typeface="AkayaTelivigala" pitchFamily="2" charset="77"/>
              </a:rPr>
              <a:t>an alternative to if</a:t>
            </a:r>
          </a:p>
          <a:p>
            <a:pPr lvl="1"/>
            <a:r>
              <a:rPr lang="en-US" dirty="0">
                <a:effectLst/>
                <a:latin typeface="AkayaTelivigala" pitchFamily="2" charset="77"/>
                <a:cs typeface="AkayaTelivigala" pitchFamily="2" charset="77"/>
              </a:rPr>
              <a:t>is a control flow construct in JavaScript that to execute allows you one of several possible operations depending on the of an value expression.</a:t>
            </a:r>
          </a:p>
          <a:p>
            <a:pPr marL="457200" lvl="1" indent="0">
              <a:buNone/>
            </a:pPr>
            <a:endParaRPr lang="en-US" dirty="0">
              <a:effectLst/>
              <a:latin typeface="AkayaTelivigala" pitchFamily="2" charset="77"/>
              <a:cs typeface="AkayaTelivigala" pitchFamily="2" charset="77"/>
            </a:endParaRPr>
          </a:p>
          <a:p>
            <a:pPr marL="457200" lvl="1" indent="0">
              <a:buNone/>
            </a:pPr>
            <a:r>
              <a:rPr lang="en-US" dirty="0">
                <a:effectLst/>
                <a:latin typeface="AkayaTelivigala" pitchFamily="2" charset="77"/>
                <a:cs typeface="AkayaTelivigala" pitchFamily="2" charset="77"/>
              </a:rPr>
              <a:t>It ’s especially useful when you need to compare a single value against multiple possible options and execute the corresponding code.</a:t>
            </a:r>
          </a:p>
          <a:p>
            <a:pPr lvl="1"/>
            <a:endParaRPr lang="en-US" dirty="0"/>
          </a:p>
        </p:txBody>
      </p:sp>
    </p:spTree>
    <p:extLst>
      <p:ext uri="{BB962C8B-B14F-4D97-AF65-F5344CB8AC3E}">
        <p14:creationId xmlns:p14="http://schemas.microsoft.com/office/powerpoint/2010/main" val="688260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3AB3D-46E3-319F-1AC8-523E57E5E4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905DE-DC57-1F26-3E21-7D3B66E92664}"/>
              </a:ext>
            </a:extLst>
          </p:cNvPr>
          <p:cNvSpPr>
            <a:spLocks noGrp="1"/>
          </p:cNvSpPr>
          <p:nvPr>
            <p:ph type="title"/>
          </p:nvPr>
        </p:nvSpPr>
        <p:spPr/>
        <p:txBody>
          <a:bodyPr/>
          <a:lstStyle/>
          <a:p>
            <a:r>
              <a:rPr lang="en-US" dirty="0">
                <a:solidFill>
                  <a:schemeClr val="accent2">
                    <a:lumMod val="60000"/>
                    <a:lumOff val="40000"/>
                  </a:schemeClr>
                </a:solidFill>
                <a:effectLst/>
                <a:latin typeface="AkayaTelivigala" pitchFamily="2" charset="77"/>
                <a:cs typeface="AkayaTelivigala" pitchFamily="2" charset="77"/>
              </a:rPr>
              <a:t>Array methods:</a:t>
            </a:r>
          </a:p>
        </p:txBody>
      </p:sp>
      <p:sp>
        <p:nvSpPr>
          <p:cNvPr id="3" name="Content Placeholder 2">
            <a:extLst>
              <a:ext uri="{FF2B5EF4-FFF2-40B4-BE49-F238E27FC236}">
                <a16:creationId xmlns:a16="http://schemas.microsoft.com/office/drawing/2014/main" id="{4CFB3689-2B76-3FED-3328-4AD0D86452F8}"/>
              </a:ext>
            </a:extLst>
          </p:cNvPr>
          <p:cNvSpPr>
            <a:spLocks noGrp="1"/>
          </p:cNvSpPr>
          <p:nvPr>
            <p:ph idx="1"/>
          </p:nvPr>
        </p:nvSpPr>
        <p:spPr>
          <a:xfrm>
            <a:off x="1141413" y="2016525"/>
            <a:ext cx="9905998" cy="4063327"/>
          </a:xfrm>
        </p:spPr>
        <p:txBody>
          <a:bodyPr>
            <a:normAutofit fontScale="85000" lnSpcReduction="20000"/>
          </a:bodyPr>
          <a:lstStyle/>
          <a:p>
            <a:r>
              <a:rPr lang="en-US" dirty="0">
                <a:solidFill>
                  <a:srgbClr val="FFC000"/>
                </a:solidFill>
                <a:effectLst/>
              </a:rPr>
              <a:t>Add/Remove</a:t>
            </a:r>
          </a:p>
          <a:p>
            <a:pPr lvl="1"/>
            <a:r>
              <a:rPr lang="en-US" dirty="0">
                <a:effectLst/>
                <a:latin typeface="AkayaTelivigala" pitchFamily="2" charset="77"/>
                <a:cs typeface="AkayaTelivigala" pitchFamily="2" charset="77"/>
              </a:rPr>
              <a:t>Push(), Pop(), unshift(), shift()</a:t>
            </a:r>
          </a:p>
          <a:p>
            <a:r>
              <a:rPr lang="en-US" dirty="0" err="1">
                <a:solidFill>
                  <a:srgbClr val="FFC000"/>
                </a:solidFill>
                <a:effectLst/>
                <a:latin typeface="AkayaTelivigala" pitchFamily="2" charset="77"/>
                <a:cs typeface="AkayaTelivigala" pitchFamily="2" charset="77"/>
              </a:rPr>
              <a:t>Interating</a:t>
            </a:r>
            <a:endParaRPr lang="en-US" dirty="0">
              <a:solidFill>
                <a:srgbClr val="FFC000"/>
              </a:solidFill>
              <a:effectLst/>
              <a:latin typeface="AkayaTelivigala" pitchFamily="2" charset="77"/>
              <a:cs typeface="AkayaTelivigala" pitchFamily="2" charset="77"/>
            </a:endParaRPr>
          </a:p>
          <a:p>
            <a:pPr lvl="1"/>
            <a:r>
              <a:rPr lang="en-US" dirty="0" err="1">
                <a:effectLst/>
                <a:latin typeface="AkayaTelivigala" pitchFamily="2" charset="77"/>
                <a:cs typeface="AkayaTelivigala" pitchFamily="2" charset="77"/>
              </a:rPr>
              <a:t>forEach</a:t>
            </a:r>
            <a:r>
              <a:rPr lang="en-US" dirty="0">
                <a:effectLst/>
                <a:latin typeface="AkayaTelivigala" pitchFamily="2" charset="77"/>
                <a:cs typeface="AkayaTelivigala" pitchFamily="2" charset="77"/>
              </a:rPr>
              <a:t>(), map(), filter(), reduce()</a:t>
            </a:r>
          </a:p>
          <a:p>
            <a:r>
              <a:rPr lang="en-US" dirty="0">
                <a:solidFill>
                  <a:srgbClr val="FFC000"/>
                </a:solidFill>
                <a:effectLst/>
                <a:latin typeface="AkayaTelivigala" pitchFamily="2" charset="77"/>
                <a:cs typeface="AkayaTelivigala" pitchFamily="2" charset="77"/>
              </a:rPr>
              <a:t>Searching</a:t>
            </a:r>
          </a:p>
          <a:p>
            <a:pPr lvl="1"/>
            <a:r>
              <a:rPr lang="en-US" dirty="0">
                <a:effectLst/>
                <a:latin typeface="AkayaTelivigala" pitchFamily="2" charset="77"/>
                <a:cs typeface="AkayaTelivigala" pitchFamily="2" charset="77"/>
              </a:rPr>
              <a:t>Find(), </a:t>
            </a:r>
            <a:r>
              <a:rPr lang="en-US" dirty="0" err="1">
                <a:effectLst/>
                <a:latin typeface="AkayaTelivigala" pitchFamily="2" charset="77"/>
                <a:cs typeface="AkayaTelivigala" pitchFamily="2" charset="77"/>
              </a:rPr>
              <a:t>findIndex</a:t>
            </a:r>
            <a:r>
              <a:rPr lang="en-US" dirty="0">
                <a:effectLst/>
                <a:latin typeface="AkayaTelivigala" pitchFamily="2" charset="77"/>
                <a:cs typeface="AkayaTelivigala" pitchFamily="2" charset="77"/>
              </a:rPr>
              <a:t>(), includes(), </a:t>
            </a:r>
            <a:r>
              <a:rPr lang="en-US" dirty="0" err="1">
                <a:effectLst/>
                <a:latin typeface="AkayaTelivigala" pitchFamily="2" charset="77"/>
                <a:cs typeface="AkayaTelivigala" pitchFamily="2" charset="77"/>
              </a:rPr>
              <a:t>indexOf</a:t>
            </a:r>
            <a:r>
              <a:rPr lang="en-US" dirty="0">
                <a:effectLst/>
                <a:latin typeface="AkayaTelivigala" pitchFamily="2" charset="77"/>
                <a:cs typeface="AkayaTelivigala" pitchFamily="2" charset="77"/>
              </a:rPr>
              <a:t>()</a:t>
            </a:r>
          </a:p>
          <a:p>
            <a:r>
              <a:rPr lang="en-US" dirty="0">
                <a:solidFill>
                  <a:srgbClr val="FFC000"/>
                </a:solidFill>
                <a:effectLst/>
                <a:latin typeface="AkayaTelivigala" pitchFamily="2" charset="77"/>
                <a:cs typeface="AkayaTelivigala" pitchFamily="2" charset="77"/>
              </a:rPr>
              <a:t>Modifying</a:t>
            </a:r>
          </a:p>
          <a:p>
            <a:pPr lvl="1"/>
            <a:r>
              <a:rPr lang="en-US" dirty="0">
                <a:effectLst/>
                <a:latin typeface="AkayaTelivigala" pitchFamily="2" charset="77"/>
                <a:cs typeface="AkayaTelivigala" pitchFamily="2" charset="77"/>
              </a:rPr>
              <a:t>Slice(), splice(), </a:t>
            </a:r>
            <a:r>
              <a:rPr lang="en-US" dirty="0" err="1">
                <a:effectLst/>
                <a:latin typeface="AkayaTelivigala" pitchFamily="2" charset="77"/>
                <a:cs typeface="AkayaTelivigala" pitchFamily="2" charset="77"/>
              </a:rPr>
              <a:t>concat</a:t>
            </a:r>
            <a:r>
              <a:rPr lang="en-US" dirty="0">
                <a:effectLst/>
                <a:latin typeface="AkayaTelivigala" pitchFamily="2" charset="77"/>
                <a:cs typeface="AkayaTelivigala" pitchFamily="2" charset="77"/>
              </a:rPr>
              <a:t>(), join()</a:t>
            </a:r>
          </a:p>
          <a:p>
            <a:r>
              <a:rPr lang="en-US" dirty="0">
                <a:solidFill>
                  <a:srgbClr val="FFC000"/>
                </a:solidFill>
                <a:effectLst/>
                <a:latin typeface="AkayaTelivigala" pitchFamily="2" charset="77"/>
                <a:cs typeface="AkayaTelivigala" pitchFamily="2" charset="77"/>
              </a:rPr>
              <a:t>Condition checking</a:t>
            </a:r>
          </a:p>
          <a:p>
            <a:pPr lvl="1"/>
            <a:r>
              <a:rPr lang="en-US" dirty="0">
                <a:effectLst/>
                <a:latin typeface="AkayaTelivigala" pitchFamily="2" charset="77"/>
                <a:cs typeface="AkayaTelivigala" pitchFamily="2" charset="77"/>
              </a:rPr>
              <a:t>Every(), some()</a:t>
            </a:r>
          </a:p>
          <a:p>
            <a:r>
              <a:rPr lang="en-US" dirty="0">
                <a:solidFill>
                  <a:srgbClr val="FFC000"/>
                </a:solidFill>
                <a:effectLst/>
                <a:latin typeface="AkayaTelivigala" pitchFamily="2" charset="77"/>
                <a:cs typeface="AkayaTelivigala" pitchFamily="2" charset="77"/>
              </a:rPr>
              <a:t>Sort</a:t>
            </a:r>
          </a:p>
          <a:p>
            <a:pPr lvl="1"/>
            <a:r>
              <a:rPr lang="en-US" dirty="0">
                <a:effectLst/>
                <a:latin typeface="AkayaTelivigala" pitchFamily="2" charset="77"/>
                <a:cs typeface="AkayaTelivigala" pitchFamily="2" charset="77"/>
              </a:rPr>
              <a:t>Sorts the elements of an array alphabetically</a:t>
            </a:r>
          </a:p>
        </p:txBody>
      </p:sp>
    </p:spTree>
    <p:extLst>
      <p:ext uri="{BB962C8B-B14F-4D97-AF65-F5344CB8AC3E}">
        <p14:creationId xmlns:p14="http://schemas.microsoft.com/office/powerpoint/2010/main" val="165990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D8245-5D9B-055C-5DA7-45E2C962E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142D2D-8248-2A4F-FB75-6828DA4483F9}"/>
              </a:ext>
            </a:extLst>
          </p:cNvPr>
          <p:cNvSpPr>
            <a:spLocks noGrp="1"/>
          </p:cNvSpPr>
          <p:nvPr>
            <p:ph type="title"/>
          </p:nvPr>
        </p:nvSpPr>
        <p:spPr>
          <a:xfrm>
            <a:off x="850743" y="397653"/>
            <a:ext cx="9905998" cy="1164699"/>
          </a:xfrm>
        </p:spPr>
        <p:txBody>
          <a:bodyPr/>
          <a:lstStyle/>
          <a:p>
            <a:r>
              <a:rPr lang="en-US">
                <a:solidFill>
                  <a:schemeClr val="accent2">
                    <a:lumMod val="60000"/>
                    <a:lumOff val="40000"/>
                  </a:schemeClr>
                </a:solidFill>
                <a:effectLst/>
                <a:latin typeface="AkayaTelivigala" pitchFamily="2" charset="77"/>
                <a:cs typeface="AkayaTelivigala" pitchFamily="2" charset="77"/>
              </a:rPr>
              <a:t>Object methods:</a:t>
            </a:r>
            <a:endParaRPr lang="en-US" dirty="0">
              <a:solidFill>
                <a:schemeClr val="accent2">
                  <a:lumMod val="60000"/>
                  <a:lumOff val="40000"/>
                </a:schemeClr>
              </a:solidFill>
              <a:effectLst/>
              <a:latin typeface="AkayaTelivigala" pitchFamily="2" charset="77"/>
              <a:cs typeface="AkayaTelivigala" pitchFamily="2" charset="77"/>
            </a:endParaRPr>
          </a:p>
        </p:txBody>
      </p:sp>
      <p:sp>
        <p:nvSpPr>
          <p:cNvPr id="3" name="Content Placeholder 2">
            <a:extLst>
              <a:ext uri="{FF2B5EF4-FFF2-40B4-BE49-F238E27FC236}">
                <a16:creationId xmlns:a16="http://schemas.microsoft.com/office/drawing/2014/main" id="{F5C533F4-41AF-C4AE-BC79-CE78157A4DE1}"/>
              </a:ext>
            </a:extLst>
          </p:cNvPr>
          <p:cNvSpPr>
            <a:spLocks noGrp="1"/>
          </p:cNvSpPr>
          <p:nvPr>
            <p:ph idx="1"/>
          </p:nvPr>
        </p:nvSpPr>
        <p:spPr>
          <a:xfrm>
            <a:off x="781176" y="1147313"/>
            <a:ext cx="10439905" cy="5483601"/>
          </a:xfrm>
          <a:solidFill>
            <a:schemeClr val="bg1"/>
          </a:solidFill>
        </p:spPr>
        <p:txBody>
          <a:bodyPr>
            <a:normAutofit fontScale="32500" lnSpcReduction="20000"/>
          </a:bodyPr>
          <a:lstStyle/>
          <a:p>
            <a:r>
              <a:rPr lang="en-US" sz="3600" dirty="0">
                <a:solidFill>
                  <a:srgbClr val="FFC000"/>
                </a:solidFill>
                <a:effectLst/>
              </a:rPr>
              <a:t>Methods for Retrieving Object Information:</a:t>
            </a:r>
          </a:p>
          <a:p>
            <a:pPr lvl="1"/>
            <a:r>
              <a:rPr lang="en-US" b="1" dirty="0">
                <a:effectLst/>
              </a:rPr>
              <a:t> </a:t>
            </a:r>
            <a:r>
              <a:rPr lang="en-US" sz="3800" b="1" dirty="0" err="1">
                <a:solidFill>
                  <a:srgbClr val="00B0F0"/>
                </a:solidFill>
                <a:effectLst/>
                <a:latin typeface="AkayaTelivigala" pitchFamily="2" charset="77"/>
                <a:cs typeface="AkayaTelivigala" pitchFamily="2" charset="77"/>
              </a:rPr>
              <a:t>Object.keys</a:t>
            </a:r>
            <a:r>
              <a:rPr lang="en-US" sz="3800" b="1" dirty="0">
                <a:solidFill>
                  <a:srgbClr val="00B0F0"/>
                </a:solidFill>
                <a:effectLst/>
                <a:latin typeface="AkayaTelivigala" pitchFamily="2" charset="77"/>
                <a:cs typeface="AkayaTelivigala" pitchFamily="2" charset="77"/>
              </a:rPr>
              <a:t>() </a:t>
            </a:r>
            <a:r>
              <a:rPr lang="en-US" sz="3800" dirty="0">
                <a:effectLst/>
                <a:latin typeface="AkayaTelivigala" pitchFamily="2" charset="77"/>
                <a:cs typeface="AkayaTelivigala" pitchFamily="2" charset="77"/>
              </a:rPr>
              <a:t>– Returns an array containing the names of all enumerable proper ties of the object.</a:t>
            </a:r>
          </a:p>
          <a:p>
            <a:pPr lvl="1"/>
            <a:r>
              <a:rPr lang="en-US" sz="3700" b="1" dirty="0" err="1">
                <a:solidFill>
                  <a:srgbClr val="00B0F0"/>
                </a:solidFill>
                <a:effectLst/>
                <a:latin typeface="AkayaTelivigala" pitchFamily="2" charset="77"/>
                <a:cs typeface="AkayaTelivigala" pitchFamily="2" charset="77"/>
              </a:rPr>
              <a:t>Object.values</a:t>
            </a:r>
            <a:r>
              <a:rPr lang="en-US" sz="3700" b="1" dirty="0">
                <a:solidFill>
                  <a:srgbClr val="00B0F0"/>
                </a:solidFill>
                <a:effectLst/>
                <a:latin typeface="AkayaTelivigala" pitchFamily="2" charset="77"/>
                <a:cs typeface="AkayaTelivigala" pitchFamily="2" charset="77"/>
              </a:rPr>
              <a:t>()</a:t>
            </a:r>
            <a:r>
              <a:rPr lang="en-US" sz="3800" dirty="0">
                <a:effectLst/>
                <a:latin typeface="AkayaTelivigala" pitchFamily="2" charset="77"/>
                <a:cs typeface="AkayaTelivigala" pitchFamily="2" charset="77"/>
              </a:rPr>
              <a:t> – Returns an array containing the values of all enumerable proper ties of the object.</a:t>
            </a:r>
          </a:p>
          <a:p>
            <a:pPr lvl="1"/>
            <a:r>
              <a:rPr lang="en-US" sz="3700" b="1" dirty="0" err="1">
                <a:solidFill>
                  <a:srgbClr val="00B0F0"/>
                </a:solidFill>
                <a:effectLst/>
                <a:latin typeface="AkayaTelivigala" pitchFamily="2" charset="77"/>
                <a:cs typeface="AkayaTelivigala" pitchFamily="2" charset="77"/>
              </a:rPr>
              <a:t>Object.entries</a:t>
            </a:r>
            <a:r>
              <a:rPr lang="en-US" sz="3700" b="1" dirty="0">
                <a:solidFill>
                  <a:srgbClr val="00B0F0"/>
                </a:solidFill>
                <a:effectLst/>
                <a:latin typeface="AkayaTelivigala" pitchFamily="2" charset="77"/>
                <a:cs typeface="AkayaTelivigala" pitchFamily="2" charset="77"/>
              </a:rPr>
              <a:t>()</a:t>
            </a:r>
            <a:r>
              <a:rPr lang="en-US" sz="3800" dirty="0">
                <a:effectLst/>
                <a:latin typeface="AkayaTelivigala" pitchFamily="2" charset="77"/>
                <a:cs typeface="AkayaTelivigala" pitchFamily="2" charset="77"/>
              </a:rPr>
              <a:t> – Returns an array of key-value pair arrays for all enumerable proper ties of the object.</a:t>
            </a:r>
          </a:p>
          <a:p>
            <a:r>
              <a:rPr lang="en-US" sz="3500" dirty="0">
                <a:solidFill>
                  <a:srgbClr val="FFC000"/>
                </a:solidFill>
                <a:effectLst/>
              </a:rPr>
              <a:t>Methods for Working with Object Prototypes:</a:t>
            </a:r>
          </a:p>
          <a:p>
            <a:pPr lvl="1"/>
            <a:r>
              <a:rPr lang="en-US" sz="3700" b="1" dirty="0" err="1">
                <a:solidFill>
                  <a:srgbClr val="00B0F0"/>
                </a:solidFill>
                <a:effectLst/>
                <a:latin typeface="AkayaTelivigala" pitchFamily="2" charset="77"/>
                <a:cs typeface="AkayaTelivigala" pitchFamily="2" charset="77"/>
              </a:rPr>
              <a:t>Object.create</a:t>
            </a:r>
            <a:r>
              <a:rPr lang="en-US" sz="3700" b="1" dirty="0">
                <a:solidFill>
                  <a:srgbClr val="00B0F0"/>
                </a:solidFill>
                <a:effectLst/>
                <a:latin typeface="AkayaTelivigala" pitchFamily="2" charset="77"/>
                <a:cs typeface="AkayaTelivigala" pitchFamily="2" charset="77"/>
              </a:rPr>
              <a:t>()</a:t>
            </a:r>
            <a:r>
              <a:rPr lang="en-US" sz="3700" dirty="0">
                <a:effectLst/>
                <a:latin typeface="AkayaTelivigala" pitchFamily="2" charset="77"/>
                <a:cs typeface="AkayaTelivigala" pitchFamily="2" charset="77"/>
              </a:rPr>
              <a:t> – Creates a new object with the specified prototype and proper ties.</a:t>
            </a:r>
          </a:p>
          <a:p>
            <a:pPr lvl="1"/>
            <a:r>
              <a:rPr lang="en-US" sz="3700" b="1" dirty="0" err="1">
                <a:solidFill>
                  <a:srgbClr val="00B0F0"/>
                </a:solidFill>
                <a:effectLst/>
                <a:latin typeface="AkayaTelivigala" pitchFamily="2" charset="77"/>
                <a:cs typeface="AkayaTelivigala" pitchFamily="2" charset="77"/>
              </a:rPr>
              <a:t>Object.getPrototypeOf</a:t>
            </a:r>
            <a:r>
              <a:rPr lang="en-US" sz="3700" b="1" dirty="0">
                <a:solidFill>
                  <a:srgbClr val="00B0F0"/>
                </a:solidFill>
                <a:effectLst/>
                <a:latin typeface="AkayaTelivigala" pitchFamily="2" charset="77"/>
                <a:cs typeface="AkayaTelivigala" pitchFamily="2" charset="77"/>
              </a:rPr>
              <a:t>() </a:t>
            </a:r>
            <a:r>
              <a:rPr lang="en-US" sz="3700" dirty="0">
                <a:effectLst/>
                <a:latin typeface="AkayaTelivigala" pitchFamily="2" charset="77"/>
                <a:cs typeface="AkayaTelivigala" pitchFamily="2" charset="77"/>
              </a:rPr>
              <a:t>– Returns the prototype of the specified object.</a:t>
            </a:r>
          </a:p>
          <a:p>
            <a:pPr lvl="1"/>
            <a:r>
              <a:rPr lang="en-US" sz="3700" b="1" dirty="0" err="1">
                <a:solidFill>
                  <a:srgbClr val="00B0F0"/>
                </a:solidFill>
                <a:effectLst/>
                <a:latin typeface="AkayaTelivigala" pitchFamily="2" charset="77"/>
                <a:cs typeface="AkayaTelivigala" pitchFamily="2" charset="77"/>
              </a:rPr>
              <a:t>Object.setPrototypeOf</a:t>
            </a:r>
            <a:r>
              <a:rPr lang="en-US" sz="3700" b="1" dirty="0">
                <a:solidFill>
                  <a:srgbClr val="00B0F0"/>
                </a:solidFill>
                <a:effectLst/>
                <a:latin typeface="AkayaTelivigala" pitchFamily="2" charset="77"/>
                <a:cs typeface="AkayaTelivigala" pitchFamily="2" charset="77"/>
              </a:rPr>
              <a:t>() </a:t>
            </a:r>
            <a:r>
              <a:rPr lang="en-US" sz="3700" dirty="0">
                <a:effectLst/>
                <a:latin typeface="AkayaTelivigala" pitchFamily="2" charset="77"/>
                <a:cs typeface="AkayaTelivigala" pitchFamily="2" charset="77"/>
              </a:rPr>
              <a:t>– Sets the prototype (i.e., the internal [[Prototype]] proper ty) of the specified object.</a:t>
            </a:r>
          </a:p>
          <a:p>
            <a:r>
              <a:rPr lang="en-US" sz="3500" dirty="0">
                <a:solidFill>
                  <a:srgbClr val="FFC000"/>
                </a:solidFill>
                <a:effectLst/>
              </a:rPr>
              <a:t>Methods for Defining Object Proper ties:</a:t>
            </a:r>
          </a:p>
          <a:p>
            <a:pPr lvl="1"/>
            <a:r>
              <a:rPr lang="en-US" sz="3700" b="1" dirty="0" err="1">
                <a:solidFill>
                  <a:srgbClr val="00B0F0"/>
                </a:solidFill>
                <a:effectLst/>
                <a:latin typeface="AkayaTelivigala" pitchFamily="2" charset="77"/>
                <a:cs typeface="AkayaTelivigala" pitchFamily="2" charset="77"/>
              </a:rPr>
              <a:t>Object.defineProperty</a:t>
            </a:r>
            <a:r>
              <a:rPr lang="en-US" sz="3700" b="1" dirty="0">
                <a:solidFill>
                  <a:srgbClr val="00B0F0"/>
                </a:solidFill>
                <a:effectLst/>
                <a:latin typeface="AkayaTelivigala" pitchFamily="2" charset="77"/>
                <a:cs typeface="AkayaTelivigala" pitchFamily="2" charset="77"/>
              </a:rPr>
              <a:t>() </a:t>
            </a:r>
            <a:r>
              <a:rPr lang="en-US" sz="3700" dirty="0">
                <a:effectLst/>
                <a:latin typeface="AkayaTelivigala" pitchFamily="2" charset="77"/>
                <a:cs typeface="AkayaTelivigala" pitchFamily="2" charset="77"/>
              </a:rPr>
              <a:t>– Defines or modifies a proper ty directly on an object.</a:t>
            </a:r>
          </a:p>
          <a:p>
            <a:pPr lvl="1"/>
            <a:r>
              <a:rPr lang="en-US" sz="3700" b="1" dirty="0" err="1">
                <a:solidFill>
                  <a:srgbClr val="00B0F0"/>
                </a:solidFill>
                <a:effectLst/>
                <a:latin typeface="AkayaTelivigala" pitchFamily="2" charset="77"/>
                <a:cs typeface="AkayaTelivigala" pitchFamily="2" charset="77"/>
              </a:rPr>
              <a:t>Object.defineProperties</a:t>
            </a:r>
            <a:r>
              <a:rPr lang="en-US" sz="3700" b="1" dirty="0">
                <a:solidFill>
                  <a:srgbClr val="00B0F0"/>
                </a:solidFill>
                <a:effectLst/>
                <a:latin typeface="AkayaTelivigala" pitchFamily="2" charset="77"/>
                <a:cs typeface="AkayaTelivigala" pitchFamily="2" charset="77"/>
              </a:rPr>
              <a:t>() </a:t>
            </a:r>
            <a:r>
              <a:rPr lang="en-US" sz="3700" dirty="0">
                <a:effectLst/>
                <a:latin typeface="AkayaTelivigala" pitchFamily="2" charset="77"/>
                <a:cs typeface="AkayaTelivigala" pitchFamily="2" charset="77"/>
              </a:rPr>
              <a:t>– Defines or modifies multiple proper ties on an object.</a:t>
            </a:r>
          </a:p>
          <a:p>
            <a:pPr lvl="1"/>
            <a:r>
              <a:rPr lang="en-US" sz="3700" b="1" dirty="0" err="1">
                <a:solidFill>
                  <a:srgbClr val="00B0F0"/>
                </a:solidFill>
                <a:effectLst/>
                <a:latin typeface="AkayaTelivigala" pitchFamily="2" charset="77"/>
                <a:cs typeface="AkayaTelivigala" pitchFamily="2" charset="77"/>
              </a:rPr>
              <a:t>Object.getOwnPropertyDescriptor</a:t>
            </a:r>
            <a:r>
              <a:rPr lang="en-US" sz="3700" b="1" dirty="0">
                <a:solidFill>
                  <a:srgbClr val="00B0F0"/>
                </a:solidFill>
                <a:effectLst/>
                <a:latin typeface="AkayaTelivigala" pitchFamily="2" charset="77"/>
                <a:cs typeface="AkayaTelivigala" pitchFamily="2" charset="77"/>
              </a:rPr>
              <a:t>() </a:t>
            </a:r>
            <a:r>
              <a:rPr lang="en-US" sz="3700" dirty="0">
                <a:effectLst/>
                <a:latin typeface="AkayaTelivigala" pitchFamily="2" charset="77"/>
                <a:cs typeface="AkayaTelivigala" pitchFamily="2" charset="77"/>
              </a:rPr>
              <a:t>– Returns the proper ty descriptor for a specific proper ty.</a:t>
            </a:r>
          </a:p>
          <a:p>
            <a:pPr lvl="1"/>
            <a:r>
              <a:rPr lang="en-US" sz="3700" b="1" dirty="0" err="1">
                <a:solidFill>
                  <a:srgbClr val="00B0F0"/>
                </a:solidFill>
                <a:effectLst/>
                <a:latin typeface="AkayaTelivigala" pitchFamily="2" charset="77"/>
                <a:cs typeface="AkayaTelivigala" pitchFamily="2" charset="77"/>
              </a:rPr>
              <a:t>Object.getOwnPropertyDescriptors</a:t>
            </a:r>
            <a:r>
              <a:rPr lang="en-US" sz="3700" b="1" dirty="0">
                <a:solidFill>
                  <a:srgbClr val="00B0F0"/>
                </a:solidFill>
                <a:effectLst/>
                <a:latin typeface="AkayaTelivigala" pitchFamily="2" charset="77"/>
                <a:cs typeface="AkayaTelivigala" pitchFamily="2" charset="77"/>
              </a:rPr>
              <a:t>() </a:t>
            </a:r>
            <a:r>
              <a:rPr lang="en-US" sz="3700" dirty="0">
                <a:effectLst/>
                <a:latin typeface="AkayaTelivigala" pitchFamily="2" charset="77"/>
                <a:cs typeface="AkayaTelivigala" pitchFamily="2" charset="77"/>
              </a:rPr>
              <a:t>– Returns all proper ty descriptors for an object.</a:t>
            </a:r>
          </a:p>
          <a:p>
            <a:r>
              <a:rPr lang="en-US" sz="3500" dirty="0">
                <a:solidFill>
                  <a:srgbClr val="FFC000"/>
                </a:solidFill>
                <a:effectLst/>
              </a:rPr>
              <a:t>Methods for Working with Object Proper ties:</a:t>
            </a:r>
          </a:p>
          <a:p>
            <a:pPr lvl="1"/>
            <a:r>
              <a:rPr lang="en-US" sz="3700" b="1" dirty="0" err="1">
                <a:solidFill>
                  <a:srgbClr val="00B0F0"/>
                </a:solidFill>
                <a:effectLst/>
                <a:latin typeface="AkayaTelivigala" pitchFamily="2" charset="77"/>
                <a:cs typeface="AkayaTelivigala" pitchFamily="2" charset="77"/>
              </a:rPr>
              <a:t>Object.hasOwn</a:t>
            </a:r>
            <a:r>
              <a:rPr lang="en-US" sz="3700" b="1" dirty="0">
                <a:solidFill>
                  <a:srgbClr val="00B0F0"/>
                </a:solidFill>
                <a:effectLst/>
                <a:latin typeface="AkayaTelivigala" pitchFamily="2" charset="77"/>
                <a:cs typeface="AkayaTelivigala" pitchFamily="2" charset="77"/>
              </a:rPr>
              <a:t>() </a:t>
            </a:r>
            <a:r>
              <a:rPr lang="en-US" sz="3600" dirty="0">
                <a:effectLst/>
                <a:latin typeface="AkayaTelivigala" pitchFamily="2" charset="77"/>
                <a:cs typeface="AkayaTelivigala" pitchFamily="2" charset="77"/>
              </a:rPr>
              <a:t>– Checks if a proper ty exists directly on the object (not inherited).</a:t>
            </a:r>
          </a:p>
          <a:p>
            <a:pPr lvl="1"/>
            <a:r>
              <a:rPr lang="en-US" sz="3700" b="1" dirty="0" err="1">
                <a:solidFill>
                  <a:srgbClr val="00B0F0"/>
                </a:solidFill>
                <a:effectLst/>
                <a:latin typeface="AkayaTelivigala" pitchFamily="2" charset="77"/>
                <a:cs typeface="AkayaTelivigala" pitchFamily="2" charset="77"/>
              </a:rPr>
              <a:t>Object.propertyIsEnumerable</a:t>
            </a:r>
            <a:r>
              <a:rPr lang="en-US" sz="3700" b="1" dirty="0">
                <a:solidFill>
                  <a:srgbClr val="00B0F0"/>
                </a:solidFill>
                <a:effectLst/>
                <a:latin typeface="AkayaTelivigala" pitchFamily="2" charset="77"/>
                <a:cs typeface="AkayaTelivigala" pitchFamily="2" charset="77"/>
              </a:rPr>
              <a:t>() </a:t>
            </a:r>
            <a:r>
              <a:rPr lang="en-US" sz="3600" dirty="0">
                <a:effectLst/>
                <a:latin typeface="AkayaTelivigala" pitchFamily="2" charset="77"/>
                <a:cs typeface="AkayaTelivigala" pitchFamily="2" charset="77"/>
              </a:rPr>
              <a:t>– Returns true if the specified proper ty is enumerable using for...in .</a:t>
            </a:r>
          </a:p>
          <a:p>
            <a:pPr lvl="1"/>
            <a:r>
              <a:rPr lang="en-US" sz="3700" b="1" dirty="0" err="1">
                <a:solidFill>
                  <a:srgbClr val="00B0F0"/>
                </a:solidFill>
                <a:effectLst/>
                <a:latin typeface="AkayaTelivigala" pitchFamily="2" charset="77"/>
                <a:cs typeface="AkayaTelivigala" pitchFamily="2" charset="77"/>
              </a:rPr>
              <a:t>Object.is</a:t>
            </a:r>
            <a:r>
              <a:rPr lang="en-US" sz="3700" b="1" dirty="0">
                <a:solidFill>
                  <a:srgbClr val="00B0F0"/>
                </a:solidFill>
                <a:effectLst/>
                <a:latin typeface="AkayaTelivigala" pitchFamily="2" charset="77"/>
                <a:cs typeface="AkayaTelivigala" pitchFamily="2" charset="77"/>
              </a:rPr>
              <a:t>() </a:t>
            </a:r>
            <a:r>
              <a:rPr lang="en-US" sz="3600" dirty="0">
                <a:effectLst/>
                <a:latin typeface="AkayaTelivigala" pitchFamily="2" charset="77"/>
                <a:cs typeface="AkayaTelivigala" pitchFamily="2" charset="77"/>
              </a:rPr>
              <a:t>– Determines whether two values are the same.</a:t>
            </a:r>
          </a:p>
          <a:p>
            <a:r>
              <a:rPr lang="en-US" sz="3500" dirty="0">
                <a:solidFill>
                  <a:srgbClr val="FFC000"/>
                </a:solidFill>
                <a:effectLst/>
              </a:rPr>
              <a:t>Methods for C re a ting and Cloning Objects:</a:t>
            </a:r>
          </a:p>
          <a:p>
            <a:pPr lvl="1"/>
            <a:r>
              <a:rPr lang="en-US" sz="3700" b="1" dirty="0" err="1">
                <a:solidFill>
                  <a:srgbClr val="00B0F0"/>
                </a:solidFill>
                <a:effectLst/>
                <a:latin typeface="AkayaTelivigala" pitchFamily="2" charset="77"/>
                <a:cs typeface="AkayaTelivigala" pitchFamily="2" charset="77"/>
              </a:rPr>
              <a:t>Object.assign</a:t>
            </a:r>
            <a:r>
              <a:rPr lang="en-US" sz="3700" b="1" dirty="0">
                <a:solidFill>
                  <a:srgbClr val="00B0F0"/>
                </a:solidFill>
                <a:effectLst/>
                <a:latin typeface="AkayaTelivigala" pitchFamily="2" charset="77"/>
                <a:cs typeface="AkayaTelivigala" pitchFamily="2" charset="77"/>
              </a:rPr>
              <a:t>() </a:t>
            </a:r>
            <a:r>
              <a:rPr lang="en-US" sz="3600" dirty="0">
                <a:effectLst/>
                <a:latin typeface="AkayaTelivigala" pitchFamily="2" charset="77"/>
                <a:cs typeface="AkayaTelivigala" pitchFamily="2" charset="77"/>
              </a:rPr>
              <a:t>– Copies enumerable proper ties from one or more source objects to a target object.</a:t>
            </a:r>
          </a:p>
          <a:p>
            <a:pPr lvl="1"/>
            <a:r>
              <a:rPr lang="en-US" sz="3700" b="1" dirty="0" err="1">
                <a:solidFill>
                  <a:srgbClr val="00B0F0"/>
                </a:solidFill>
                <a:effectLst/>
                <a:latin typeface="AkayaTelivigala" pitchFamily="2" charset="77"/>
                <a:cs typeface="AkayaTelivigala" pitchFamily="2" charset="77"/>
              </a:rPr>
              <a:t>Object.freez</a:t>
            </a:r>
            <a:r>
              <a:rPr lang="en-US" sz="3700" b="1" dirty="0">
                <a:solidFill>
                  <a:srgbClr val="00B0F0"/>
                </a:solidFill>
                <a:effectLst/>
                <a:latin typeface="AkayaTelivigala" pitchFamily="2" charset="77"/>
                <a:cs typeface="AkayaTelivigala" pitchFamily="2" charset="77"/>
              </a:rPr>
              <a:t> () </a:t>
            </a:r>
            <a:r>
              <a:rPr lang="en-US" sz="3600" dirty="0">
                <a:effectLst/>
                <a:latin typeface="AkayaTelivigala" pitchFamily="2" charset="77"/>
                <a:cs typeface="AkayaTelivigala" pitchFamily="2" charset="77"/>
              </a:rPr>
              <a:t>– Freez es the object so proper ties can ’ t be changed or deleted.</a:t>
            </a:r>
          </a:p>
          <a:p>
            <a:pPr lvl="1"/>
            <a:r>
              <a:rPr lang="en-US" sz="3700" b="1" dirty="0" err="1">
                <a:solidFill>
                  <a:srgbClr val="00B0F0"/>
                </a:solidFill>
                <a:effectLst/>
                <a:latin typeface="AkayaTelivigala" pitchFamily="2" charset="77"/>
                <a:cs typeface="AkayaTelivigala" pitchFamily="2" charset="77"/>
              </a:rPr>
              <a:t>Object.seal</a:t>
            </a:r>
            <a:r>
              <a:rPr lang="en-US" sz="3700" b="1" dirty="0">
                <a:solidFill>
                  <a:srgbClr val="00B0F0"/>
                </a:solidFill>
                <a:effectLst/>
                <a:latin typeface="AkayaTelivigala" pitchFamily="2" charset="77"/>
                <a:cs typeface="AkayaTelivigala" pitchFamily="2" charset="77"/>
              </a:rPr>
              <a:t>() </a:t>
            </a:r>
            <a:r>
              <a:rPr lang="en-US" sz="3600" dirty="0">
                <a:effectLst/>
                <a:latin typeface="AkayaTelivigala" pitchFamily="2" charset="77"/>
                <a:cs typeface="AkayaTelivigala" pitchFamily="2" charset="77"/>
              </a:rPr>
              <a:t>– Seals the object, preventing new proper ties and making existing ones non- configurable.</a:t>
            </a:r>
          </a:p>
        </p:txBody>
      </p:sp>
    </p:spTree>
    <p:extLst>
      <p:ext uri="{BB962C8B-B14F-4D97-AF65-F5344CB8AC3E}">
        <p14:creationId xmlns:p14="http://schemas.microsoft.com/office/powerpoint/2010/main" val="2181237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BD4A4-1BDE-ABE9-06BC-9B9C591135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AE361-3328-28CE-2875-5AB9670FC9CF}"/>
              </a:ext>
            </a:extLst>
          </p:cNvPr>
          <p:cNvSpPr>
            <a:spLocks noGrp="1"/>
          </p:cNvSpPr>
          <p:nvPr>
            <p:ph type="title"/>
          </p:nvPr>
        </p:nvSpPr>
        <p:spPr>
          <a:xfrm>
            <a:off x="0" y="1"/>
            <a:ext cx="12220492" cy="1264640"/>
          </a:xfrm>
        </p:spPr>
        <p:txBody>
          <a:bodyPr/>
          <a:lstStyle/>
          <a:p>
            <a:r>
              <a:rPr lang="en-US" dirty="0">
                <a:solidFill>
                  <a:schemeClr val="accent2">
                    <a:lumMod val="60000"/>
                    <a:lumOff val="40000"/>
                  </a:schemeClr>
                </a:solidFill>
                <a:effectLst/>
                <a:latin typeface="AkayaTelivigala" pitchFamily="2" charset="77"/>
                <a:cs typeface="AkayaTelivigala" pitchFamily="2" charset="77"/>
              </a:rPr>
              <a:t>String methods:</a:t>
            </a:r>
          </a:p>
        </p:txBody>
      </p:sp>
      <p:sp>
        <p:nvSpPr>
          <p:cNvPr id="3" name="Content Placeholder 2">
            <a:extLst>
              <a:ext uri="{FF2B5EF4-FFF2-40B4-BE49-F238E27FC236}">
                <a16:creationId xmlns:a16="http://schemas.microsoft.com/office/drawing/2014/main" id="{DBB0B9F7-E500-FDF7-A4C8-49CDCA8C9EF9}"/>
              </a:ext>
            </a:extLst>
          </p:cNvPr>
          <p:cNvSpPr>
            <a:spLocks noGrp="1"/>
          </p:cNvSpPr>
          <p:nvPr>
            <p:ph idx="1"/>
          </p:nvPr>
        </p:nvSpPr>
        <p:spPr>
          <a:xfrm>
            <a:off x="0" y="867469"/>
            <a:ext cx="8001317" cy="5123062"/>
          </a:xfrm>
          <a:solidFill>
            <a:schemeClr val="bg1"/>
          </a:solidFill>
        </p:spPr>
        <p:txBody>
          <a:bodyPr>
            <a:normAutofit fontScale="25000" lnSpcReduction="20000"/>
          </a:bodyPr>
          <a:lstStyle/>
          <a:p>
            <a:pPr marL="0" indent="0">
              <a:buNone/>
            </a:pPr>
            <a:r>
              <a:rPr lang="en-US" sz="4800" b="1" dirty="0">
                <a:solidFill>
                  <a:srgbClr val="FFC000"/>
                </a:solidFill>
                <a:effectLst/>
              </a:rPr>
              <a:t>Methods for Searching and Extracting Substrings:</a:t>
            </a:r>
          </a:p>
          <a:p>
            <a:r>
              <a:rPr lang="en-US" sz="4800" b="1" dirty="0" err="1">
                <a:solidFill>
                  <a:srgbClr val="00B0F0"/>
                </a:solidFill>
                <a:effectLst/>
                <a:latin typeface="AkayaTelivigala" pitchFamily="2" charset="77"/>
                <a:cs typeface="AkayaTelivigala" pitchFamily="2" charset="77"/>
              </a:rPr>
              <a:t>charAt</a:t>
            </a:r>
            <a:r>
              <a:rPr lang="en-US" sz="4800" b="1" dirty="0">
                <a:solidFill>
                  <a:srgbClr val="00B0F0"/>
                </a:solidFill>
                <a:effectLst/>
                <a:latin typeface="AkayaTelivigala" pitchFamily="2" charset="77"/>
                <a:cs typeface="AkayaTelivigala" pitchFamily="2" charset="77"/>
              </a:rPr>
              <a:t>() </a:t>
            </a:r>
            <a:r>
              <a:rPr lang="en-US" sz="4800" dirty="0">
                <a:effectLst/>
              </a:rPr>
              <a:t>– </a:t>
            </a:r>
            <a:r>
              <a:rPr lang="en-US" sz="4800" dirty="0">
                <a:effectLst/>
                <a:latin typeface="AkayaTelivigala" pitchFamily="2" charset="77"/>
                <a:cs typeface="AkayaTelivigala" pitchFamily="2" charset="77"/>
              </a:rPr>
              <a:t>Returns the character at a specified index</a:t>
            </a:r>
            <a:r>
              <a:rPr lang="en-US" sz="4800" dirty="0">
                <a:effectLst/>
              </a:rPr>
              <a:t>.</a:t>
            </a:r>
          </a:p>
          <a:p>
            <a:r>
              <a:rPr lang="en-US" sz="4800" b="1" dirty="0">
                <a:solidFill>
                  <a:srgbClr val="00B0F0"/>
                </a:solidFill>
                <a:effectLst/>
                <a:latin typeface="AkayaTelivigala" pitchFamily="2" charset="77"/>
                <a:cs typeface="AkayaTelivigala" pitchFamily="2" charset="77"/>
              </a:rPr>
              <a:t>char </a:t>
            </a:r>
            <a:r>
              <a:rPr lang="en-US" sz="4800" b="1" dirty="0" err="1">
                <a:solidFill>
                  <a:srgbClr val="00B0F0"/>
                </a:solidFill>
                <a:effectLst/>
                <a:latin typeface="AkayaTelivigala" pitchFamily="2" charset="77"/>
                <a:cs typeface="AkayaTelivigala" pitchFamily="2" charset="77"/>
              </a:rPr>
              <a:t>CodeAt</a:t>
            </a:r>
            <a:r>
              <a:rPr lang="en-US" sz="4800" b="1" dirty="0">
                <a:solidFill>
                  <a:srgbClr val="00B0F0"/>
                </a:solidFill>
                <a:effectLst/>
                <a:latin typeface="AkayaTelivigala" pitchFamily="2" charset="77"/>
                <a:cs typeface="AkayaTelivigala" pitchFamily="2" charset="77"/>
              </a:rPr>
              <a:t>() </a:t>
            </a:r>
            <a:r>
              <a:rPr lang="en-US" sz="4800" dirty="0">
                <a:effectLst/>
              </a:rPr>
              <a:t>– </a:t>
            </a:r>
            <a:r>
              <a:rPr lang="en-US" sz="4800" dirty="0">
                <a:effectLst/>
                <a:latin typeface="AkayaTelivigala" pitchFamily="2" charset="77"/>
                <a:cs typeface="AkayaTelivigala" pitchFamily="2" charset="77"/>
              </a:rPr>
              <a:t>Returns the Unicode value of the character at a specified index.</a:t>
            </a:r>
          </a:p>
          <a:p>
            <a:r>
              <a:rPr lang="en-US" sz="4800" b="1" dirty="0" err="1">
                <a:solidFill>
                  <a:srgbClr val="00B0F0"/>
                </a:solidFill>
                <a:effectLst/>
                <a:latin typeface="AkayaTelivigala" pitchFamily="2" charset="77"/>
                <a:cs typeface="AkayaTelivigala" pitchFamily="2" charset="77"/>
              </a:rPr>
              <a:t>concat</a:t>
            </a:r>
            <a:r>
              <a:rPr lang="en-US" sz="4800" b="1" dirty="0">
                <a:solidFill>
                  <a:srgbClr val="00B0F0"/>
                </a:solidFill>
                <a:effectLst/>
                <a:latin typeface="AkayaTelivigala" pitchFamily="2" charset="77"/>
                <a:cs typeface="AkayaTelivigala" pitchFamily="2" charset="77"/>
              </a:rPr>
              <a:t>() </a:t>
            </a:r>
            <a:r>
              <a:rPr lang="en-US" sz="4800" dirty="0">
                <a:effectLst/>
              </a:rPr>
              <a:t>– </a:t>
            </a:r>
            <a:r>
              <a:rPr lang="en-US" sz="4800" dirty="0">
                <a:effectLst/>
                <a:latin typeface="AkayaTelivigala" pitchFamily="2" charset="77"/>
                <a:cs typeface="AkayaTelivigala" pitchFamily="2" charset="77"/>
              </a:rPr>
              <a:t>Combines the specified strings into one.</a:t>
            </a:r>
          </a:p>
          <a:p>
            <a:r>
              <a:rPr lang="en-US" sz="4800" b="1" dirty="0">
                <a:solidFill>
                  <a:srgbClr val="00B0F0"/>
                </a:solidFill>
                <a:effectLst/>
                <a:latin typeface="AkayaTelivigala" pitchFamily="2" charset="77"/>
                <a:cs typeface="AkayaTelivigala" pitchFamily="2" charset="77"/>
              </a:rPr>
              <a:t>includes(</a:t>
            </a:r>
            <a:r>
              <a:rPr lang="en-US" sz="4800" dirty="0">
                <a:effectLst/>
              </a:rPr>
              <a:t>) – </a:t>
            </a:r>
            <a:r>
              <a:rPr lang="en-US" sz="4800" dirty="0">
                <a:effectLst/>
                <a:latin typeface="AkayaTelivigala" pitchFamily="2" charset="77"/>
                <a:cs typeface="AkayaTelivigala" pitchFamily="2" charset="77"/>
              </a:rPr>
              <a:t>Checks if one string is found within another.</a:t>
            </a:r>
          </a:p>
          <a:p>
            <a:r>
              <a:rPr lang="en-US" sz="4800" b="1" dirty="0" err="1">
                <a:solidFill>
                  <a:srgbClr val="00B0F0"/>
                </a:solidFill>
                <a:effectLst/>
                <a:latin typeface="AkayaTelivigala" pitchFamily="2" charset="77"/>
                <a:cs typeface="AkayaTelivigala" pitchFamily="2" charset="77"/>
              </a:rPr>
              <a:t>indexOf</a:t>
            </a:r>
            <a:r>
              <a:rPr lang="en-US" sz="4800" b="1" dirty="0">
                <a:solidFill>
                  <a:srgbClr val="00B0F0"/>
                </a:solidFill>
                <a:effectLst/>
                <a:latin typeface="AkayaTelivigala" pitchFamily="2" charset="77"/>
                <a:cs typeface="AkayaTelivigala" pitchFamily="2" charset="77"/>
              </a:rPr>
              <a:t>(</a:t>
            </a:r>
            <a:r>
              <a:rPr lang="en-US" sz="4800" dirty="0">
                <a:effectLst/>
              </a:rPr>
              <a:t>) – </a:t>
            </a:r>
            <a:r>
              <a:rPr lang="en-US" sz="4800" dirty="0">
                <a:effectLst/>
                <a:latin typeface="AkayaTelivigala" pitchFamily="2" charset="77"/>
                <a:cs typeface="AkayaTelivigala" pitchFamily="2" charset="77"/>
              </a:rPr>
              <a:t>Returns the index of the first occurrence of a specified value or -1 if not found.</a:t>
            </a:r>
          </a:p>
          <a:p>
            <a:r>
              <a:rPr lang="en-US" sz="4800" b="1" dirty="0" err="1">
                <a:solidFill>
                  <a:srgbClr val="00B0F0"/>
                </a:solidFill>
                <a:effectLst/>
                <a:latin typeface="AkayaTelivigala" pitchFamily="2" charset="77"/>
                <a:cs typeface="AkayaTelivigala" pitchFamily="2" charset="77"/>
              </a:rPr>
              <a:t>lastIndexOf</a:t>
            </a:r>
            <a:r>
              <a:rPr lang="en-US" sz="4800" b="1" dirty="0">
                <a:solidFill>
                  <a:srgbClr val="00B0F0"/>
                </a:solidFill>
                <a:effectLst/>
                <a:latin typeface="AkayaTelivigala" pitchFamily="2" charset="77"/>
                <a:cs typeface="AkayaTelivigala" pitchFamily="2" charset="77"/>
              </a:rPr>
              <a:t>()</a:t>
            </a:r>
            <a:r>
              <a:rPr lang="en-US" sz="4800" dirty="0">
                <a:effectLst/>
              </a:rPr>
              <a:t> </a:t>
            </a:r>
            <a:r>
              <a:rPr lang="en-US" sz="4800" dirty="0">
                <a:effectLst/>
                <a:latin typeface="AkayaTelivigala" pitchFamily="2" charset="77"/>
                <a:cs typeface="AkayaTelivigala" pitchFamily="2" charset="77"/>
              </a:rPr>
              <a:t>– Returns the index of the last occurrence of a specified value or -1 if not found.</a:t>
            </a:r>
          </a:p>
          <a:p>
            <a:r>
              <a:rPr lang="en-US" sz="4800" b="1" dirty="0" err="1">
                <a:solidFill>
                  <a:srgbClr val="00B0F0"/>
                </a:solidFill>
                <a:effectLst/>
                <a:latin typeface="AkayaTelivigala" pitchFamily="2" charset="77"/>
                <a:cs typeface="AkayaTelivigala" pitchFamily="2" charset="77"/>
              </a:rPr>
              <a:t>localeCompare</a:t>
            </a:r>
            <a:r>
              <a:rPr lang="en-US" sz="4800" b="1" dirty="0">
                <a:solidFill>
                  <a:srgbClr val="00B0F0"/>
                </a:solidFill>
                <a:effectLst/>
                <a:latin typeface="AkayaTelivigala" pitchFamily="2" charset="77"/>
                <a:cs typeface="AkayaTelivigala" pitchFamily="2" charset="77"/>
              </a:rPr>
              <a:t>() </a:t>
            </a:r>
            <a:r>
              <a:rPr lang="en-US" sz="4800" dirty="0">
                <a:effectLst/>
              </a:rPr>
              <a:t>– </a:t>
            </a:r>
            <a:r>
              <a:rPr lang="en-US" sz="4800" dirty="0">
                <a:effectLst/>
                <a:latin typeface="AkayaTelivigala" pitchFamily="2" charset="77"/>
                <a:cs typeface="AkayaTelivigala" pitchFamily="2" charset="77"/>
              </a:rPr>
              <a:t>Compares two strings according to the current locale and returns a number indicating their order.</a:t>
            </a:r>
          </a:p>
          <a:p>
            <a:r>
              <a:rPr lang="en-US" sz="4800" b="1" dirty="0">
                <a:solidFill>
                  <a:srgbClr val="00B0F0"/>
                </a:solidFill>
                <a:effectLst/>
                <a:latin typeface="AkayaTelivigala" pitchFamily="2" charset="77"/>
                <a:cs typeface="AkayaTelivigala" pitchFamily="2" charset="77"/>
              </a:rPr>
              <a:t>match() </a:t>
            </a:r>
            <a:r>
              <a:rPr lang="en-US" sz="4800" dirty="0">
                <a:effectLst/>
              </a:rPr>
              <a:t>– </a:t>
            </a:r>
            <a:r>
              <a:rPr lang="en-US" sz="4800" dirty="0">
                <a:effectLst/>
                <a:latin typeface="AkayaTelivigala" pitchFamily="2" charset="77"/>
                <a:cs typeface="AkayaTelivigala" pitchFamily="2" charset="77"/>
              </a:rPr>
              <a:t>Retrieves the result of matching a string against a regular expression.</a:t>
            </a:r>
          </a:p>
          <a:p>
            <a:r>
              <a:rPr lang="en-US" sz="4800" b="1" dirty="0" err="1">
                <a:solidFill>
                  <a:srgbClr val="00B0F0"/>
                </a:solidFill>
                <a:effectLst/>
                <a:latin typeface="AkayaTelivigala" pitchFamily="2" charset="77"/>
                <a:cs typeface="AkayaTelivigala" pitchFamily="2" charset="77"/>
              </a:rPr>
              <a:t>matchAll</a:t>
            </a:r>
            <a:r>
              <a:rPr lang="en-US" sz="4800" b="1" dirty="0">
                <a:solidFill>
                  <a:srgbClr val="00B0F0"/>
                </a:solidFill>
                <a:effectLst/>
                <a:latin typeface="AkayaTelivigala" pitchFamily="2" charset="77"/>
                <a:cs typeface="AkayaTelivigala" pitchFamily="2" charset="77"/>
              </a:rPr>
              <a:t>() </a:t>
            </a:r>
            <a:r>
              <a:rPr lang="en-US" sz="4800" dirty="0">
                <a:effectLst/>
              </a:rPr>
              <a:t>– </a:t>
            </a:r>
            <a:r>
              <a:rPr lang="en-US" sz="4800" dirty="0">
                <a:effectLst/>
                <a:latin typeface="AkayaTelivigala" pitchFamily="2" charset="77"/>
                <a:cs typeface="AkayaTelivigala" pitchFamily="2" charset="77"/>
              </a:rPr>
              <a:t>Returns an iterator of all results matching a regular expression, including capture groups.</a:t>
            </a:r>
          </a:p>
          <a:p>
            <a:r>
              <a:rPr lang="en-US" sz="4800" b="1" dirty="0">
                <a:solidFill>
                  <a:srgbClr val="00B0F0"/>
                </a:solidFill>
                <a:effectLst/>
                <a:latin typeface="AkayaTelivigala" pitchFamily="2" charset="77"/>
                <a:cs typeface="AkayaTelivigala" pitchFamily="2" charset="77"/>
              </a:rPr>
              <a:t>search(</a:t>
            </a:r>
            <a:r>
              <a:rPr lang="en-US" sz="4800" dirty="0">
                <a:effectLst/>
              </a:rPr>
              <a:t>) </a:t>
            </a:r>
            <a:r>
              <a:rPr lang="en-US" sz="4800" dirty="0">
                <a:effectLst/>
                <a:latin typeface="AkayaTelivigala" pitchFamily="2" charset="77"/>
                <a:cs typeface="AkayaTelivigala" pitchFamily="2" charset="77"/>
              </a:rPr>
              <a:t>– Executes a search for a match between a regular expression and the string .</a:t>
            </a:r>
          </a:p>
          <a:p>
            <a:r>
              <a:rPr lang="en-US" sz="4800" b="1" dirty="0">
                <a:solidFill>
                  <a:srgbClr val="00B0F0"/>
                </a:solidFill>
                <a:effectLst/>
                <a:latin typeface="AkayaTelivigala" pitchFamily="2" charset="77"/>
                <a:cs typeface="AkayaTelivigala" pitchFamily="2" charset="77"/>
              </a:rPr>
              <a:t>slice() </a:t>
            </a:r>
            <a:r>
              <a:rPr lang="en-US" sz="4800" dirty="0">
                <a:effectLst/>
              </a:rPr>
              <a:t>– </a:t>
            </a:r>
            <a:r>
              <a:rPr lang="en-US" sz="4800" dirty="0">
                <a:effectLst/>
                <a:latin typeface="AkayaTelivigala" pitchFamily="2" charset="77"/>
                <a:cs typeface="AkayaTelivigala" pitchFamily="2" charset="77"/>
              </a:rPr>
              <a:t>Extracts a section of the string and returns it as a new string .</a:t>
            </a:r>
          </a:p>
          <a:p>
            <a:r>
              <a:rPr lang="en-US" sz="4800" b="1" dirty="0">
                <a:solidFill>
                  <a:srgbClr val="00B0F0"/>
                </a:solidFill>
                <a:effectLst/>
                <a:latin typeface="AkayaTelivigala" pitchFamily="2" charset="77"/>
                <a:cs typeface="AkayaTelivigala" pitchFamily="2" charset="77"/>
              </a:rPr>
              <a:t>split() </a:t>
            </a:r>
            <a:r>
              <a:rPr lang="en-US" sz="4800" dirty="0">
                <a:effectLst/>
              </a:rPr>
              <a:t>– </a:t>
            </a:r>
            <a:r>
              <a:rPr lang="en-US" sz="4800" dirty="0">
                <a:effectLst/>
                <a:latin typeface="AkayaTelivigala" pitchFamily="2" charset="77"/>
                <a:cs typeface="AkayaTelivigala" pitchFamily="2" charset="77"/>
              </a:rPr>
              <a:t>Splits a string into an array of substrings using a specified separator.</a:t>
            </a:r>
          </a:p>
          <a:p>
            <a:r>
              <a:rPr lang="en-US" sz="4800" b="1" dirty="0">
                <a:solidFill>
                  <a:srgbClr val="00B0F0"/>
                </a:solidFill>
                <a:effectLst/>
                <a:latin typeface="AkayaTelivigala" pitchFamily="2" charset="77"/>
                <a:cs typeface="AkayaTelivigala" pitchFamily="2" charset="77"/>
              </a:rPr>
              <a:t>substring()</a:t>
            </a:r>
            <a:r>
              <a:rPr lang="en-US" sz="4800" dirty="0">
                <a:effectLst/>
              </a:rPr>
              <a:t> – </a:t>
            </a:r>
            <a:r>
              <a:rPr lang="en-US" sz="4800" dirty="0">
                <a:effectLst/>
                <a:latin typeface="AkayaTelivigala" pitchFamily="2" charset="77"/>
                <a:cs typeface="AkayaTelivigala" pitchFamily="2" charset="77"/>
              </a:rPr>
              <a:t>Returns a substring between two indexes or from a star t index to the end.</a:t>
            </a:r>
          </a:p>
          <a:p>
            <a:r>
              <a:rPr lang="en-US" sz="4800" b="1" dirty="0" err="1">
                <a:solidFill>
                  <a:srgbClr val="00B0F0"/>
                </a:solidFill>
                <a:effectLst/>
                <a:latin typeface="AkayaTelivigala" pitchFamily="2" charset="77"/>
                <a:cs typeface="AkayaTelivigala" pitchFamily="2" charset="77"/>
              </a:rPr>
              <a:t>substr</a:t>
            </a:r>
            <a:r>
              <a:rPr lang="en-US" sz="4800" b="1" dirty="0">
                <a:solidFill>
                  <a:srgbClr val="00B0F0"/>
                </a:solidFill>
                <a:effectLst/>
                <a:latin typeface="AkayaTelivigala" pitchFamily="2" charset="77"/>
                <a:cs typeface="AkayaTelivigala" pitchFamily="2" charset="77"/>
              </a:rPr>
              <a:t>()</a:t>
            </a:r>
            <a:r>
              <a:rPr lang="en-US" sz="4800" dirty="0">
                <a:effectLst/>
              </a:rPr>
              <a:t> – </a:t>
            </a:r>
            <a:r>
              <a:rPr lang="en-US" sz="4800" dirty="0">
                <a:effectLst/>
                <a:latin typeface="AkayaTelivigala" pitchFamily="2" charset="77"/>
                <a:cs typeface="AkayaTelivigala" pitchFamily="2" charset="77"/>
              </a:rPr>
              <a:t>Returns a substring star ting at a specified index with a specified length.</a:t>
            </a:r>
          </a:p>
          <a:p>
            <a:endParaRPr lang="en-US" dirty="0">
              <a:effectLst/>
            </a:endParaRPr>
          </a:p>
        </p:txBody>
      </p:sp>
      <p:sp>
        <p:nvSpPr>
          <p:cNvPr id="7" name="TextBox 6">
            <a:extLst>
              <a:ext uri="{FF2B5EF4-FFF2-40B4-BE49-F238E27FC236}">
                <a16:creationId xmlns:a16="http://schemas.microsoft.com/office/drawing/2014/main" id="{C0798F0C-941D-A1CC-653F-98DC211FBA92}"/>
              </a:ext>
            </a:extLst>
          </p:cNvPr>
          <p:cNvSpPr txBox="1"/>
          <p:nvPr/>
        </p:nvSpPr>
        <p:spPr>
          <a:xfrm>
            <a:off x="6294533" y="0"/>
            <a:ext cx="5897467" cy="3231654"/>
          </a:xfrm>
          <a:prstGeom prst="rect">
            <a:avLst/>
          </a:prstGeom>
          <a:solidFill>
            <a:schemeClr val="bg1"/>
          </a:solidFill>
        </p:spPr>
        <p:txBody>
          <a:bodyPr wrap="square">
            <a:spAutoFit/>
          </a:bodyPr>
          <a:lstStyle/>
          <a:p>
            <a:r>
              <a:rPr lang="en-US" sz="1200" dirty="0">
                <a:solidFill>
                  <a:srgbClr val="FFC000"/>
                </a:solidFill>
                <a:effectLst/>
              </a:rPr>
              <a:t>Methods for Modif ying Strings:</a:t>
            </a:r>
          </a:p>
          <a:p>
            <a:r>
              <a:rPr lang="en-US" dirty="0">
                <a:effectLst/>
              </a:rPr>
              <a:t>• </a:t>
            </a:r>
            <a:r>
              <a:rPr lang="en-US" sz="1200" b="1" cap="small" dirty="0" err="1">
                <a:solidFill>
                  <a:srgbClr val="00B0F0"/>
                </a:solidFill>
                <a:latin typeface="AkayaTelivigala" pitchFamily="2" charset="77"/>
                <a:cs typeface="AkayaTelivigala" pitchFamily="2" charset="77"/>
              </a:rPr>
              <a:t>toLowerCase</a:t>
            </a:r>
            <a:r>
              <a:rPr lang="en-US" sz="1200" b="1" cap="small" dirty="0">
                <a:solidFill>
                  <a:srgbClr val="00B0F0"/>
                </a:solidFill>
                <a:latin typeface="AkayaTelivigala" pitchFamily="2" charset="77"/>
                <a:cs typeface="AkayaTelivigala" pitchFamily="2" charset="77"/>
              </a:rPr>
              <a:t>() </a:t>
            </a:r>
            <a:r>
              <a:rPr lang="en-US" dirty="0">
                <a:effectLst/>
              </a:rPr>
              <a:t>– </a:t>
            </a:r>
            <a:r>
              <a:rPr lang="en-US" sz="1200" cap="small" dirty="0">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Converts the string to lowercase.</a:t>
            </a:r>
          </a:p>
          <a:p>
            <a:r>
              <a:rPr lang="en-US" dirty="0">
                <a:effectLst/>
              </a:rPr>
              <a:t>• </a:t>
            </a:r>
            <a:r>
              <a:rPr lang="en-US" sz="1200" b="1" cap="small" dirty="0" err="1">
                <a:solidFill>
                  <a:srgbClr val="00B0F0"/>
                </a:solidFill>
                <a:latin typeface="AkayaTelivigala" pitchFamily="2" charset="77"/>
                <a:cs typeface="AkayaTelivigala" pitchFamily="2" charset="77"/>
              </a:rPr>
              <a:t>toUpperCase</a:t>
            </a:r>
            <a:r>
              <a:rPr lang="en-US" sz="1200" b="1" cap="small" dirty="0">
                <a:solidFill>
                  <a:srgbClr val="00B0F0"/>
                </a:solidFill>
                <a:latin typeface="AkayaTelivigala" pitchFamily="2" charset="77"/>
                <a:cs typeface="AkayaTelivigala" pitchFamily="2" charset="77"/>
              </a:rPr>
              <a:t>()</a:t>
            </a:r>
            <a:r>
              <a:rPr lang="en-US" dirty="0">
                <a:effectLst/>
              </a:rPr>
              <a:t> – </a:t>
            </a:r>
            <a:r>
              <a:rPr lang="en-US" sz="1200" cap="small" dirty="0">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Converts the string to uppercase.</a:t>
            </a:r>
          </a:p>
          <a:p>
            <a:r>
              <a:rPr lang="en-US" dirty="0">
                <a:effectLst/>
              </a:rPr>
              <a:t>• </a:t>
            </a:r>
            <a:r>
              <a:rPr lang="en-US" sz="1200" b="1" cap="small" dirty="0">
                <a:solidFill>
                  <a:srgbClr val="00B0F0"/>
                </a:solidFill>
                <a:latin typeface="AkayaTelivigala" pitchFamily="2" charset="77"/>
                <a:cs typeface="AkayaTelivigala" pitchFamily="2" charset="77"/>
              </a:rPr>
              <a:t>trim() </a:t>
            </a:r>
            <a:r>
              <a:rPr lang="en-US" dirty="0">
                <a:effectLst/>
              </a:rPr>
              <a:t>– </a:t>
            </a:r>
            <a:r>
              <a:rPr lang="en-US" sz="1200" cap="small" dirty="0">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Removes whitespace from both ends of the string .</a:t>
            </a:r>
          </a:p>
          <a:p>
            <a:r>
              <a:rPr lang="en-US" dirty="0">
                <a:effectLst/>
              </a:rPr>
              <a:t>• </a:t>
            </a:r>
            <a:r>
              <a:rPr lang="en-US" sz="1200" b="1" cap="small" dirty="0" err="1">
                <a:solidFill>
                  <a:srgbClr val="00B0F0"/>
                </a:solidFill>
                <a:latin typeface="AkayaTelivigala" pitchFamily="2" charset="77"/>
                <a:cs typeface="AkayaTelivigala" pitchFamily="2" charset="77"/>
              </a:rPr>
              <a:t>trimStart</a:t>
            </a:r>
            <a:r>
              <a:rPr lang="en-US" sz="1200" b="1" cap="small" dirty="0">
                <a:solidFill>
                  <a:srgbClr val="00B0F0"/>
                </a:solidFill>
                <a:latin typeface="AkayaTelivigala" pitchFamily="2" charset="77"/>
                <a:cs typeface="AkayaTelivigala" pitchFamily="2" charset="77"/>
              </a:rPr>
              <a:t>() / </a:t>
            </a:r>
            <a:r>
              <a:rPr lang="en-US" sz="1200" b="1" cap="small" dirty="0" err="1">
                <a:solidFill>
                  <a:srgbClr val="00B0F0"/>
                </a:solidFill>
                <a:latin typeface="AkayaTelivigala" pitchFamily="2" charset="77"/>
                <a:cs typeface="AkayaTelivigala" pitchFamily="2" charset="77"/>
              </a:rPr>
              <a:t>trimLeft</a:t>
            </a:r>
            <a:r>
              <a:rPr lang="en-US" sz="1200" b="1" cap="small" dirty="0">
                <a:solidFill>
                  <a:srgbClr val="00B0F0"/>
                </a:solidFill>
                <a:latin typeface="AkayaTelivigala" pitchFamily="2" charset="77"/>
                <a:cs typeface="AkayaTelivigala" pitchFamily="2" charset="77"/>
              </a:rPr>
              <a:t>()</a:t>
            </a:r>
            <a:r>
              <a:rPr lang="en-US" dirty="0">
                <a:effectLst/>
              </a:rPr>
              <a:t> – </a:t>
            </a:r>
            <a:r>
              <a:rPr lang="en-US" sz="1200" cap="small" dirty="0">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Removes whitespace from the beginning of the string .</a:t>
            </a:r>
          </a:p>
          <a:p>
            <a:r>
              <a:rPr lang="en-US" dirty="0">
                <a:effectLst/>
              </a:rPr>
              <a:t>• </a:t>
            </a:r>
            <a:r>
              <a:rPr lang="en-US" sz="1200" b="1" cap="small" dirty="0" err="1">
                <a:solidFill>
                  <a:srgbClr val="00B0F0"/>
                </a:solidFill>
                <a:latin typeface="AkayaTelivigala" pitchFamily="2" charset="77"/>
                <a:cs typeface="AkayaTelivigala" pitchFamily="2" charset="77"/>
              </a:rPr>
              <a:t>trimEnd</a:t>
            </a:r>
            <a:r>
              <a:rPr lang="en-US" sz="1200" b="1" cap="small" dirty="0">
                <a:solidFill>
                  <a:srgbClr val="00B0F0"/>
                </a:solidFill>
                <a:latin typeface="AkayaTelivigala" pitchFamily="2" charset="77"/>
                <a:cs typeface="AkayaTelivigala" pitchFamily="2" charset="77"/>
              </a:rPr>
              <a:t>() / </a:t>
            </a:r>
            <a:r>
              <a:rPr lang="en-US" sz="1200" b="1" cap="small" dirty="0" err="1">
                <a:solidFill>
                  <a:srgbClr val="00B0F0"/>
                </a:solidFill>
                <a:latin typeface="AkayaTelivigala" pitchFamily="2" charset="77"/>
                <a:cs typeface="AkayaTelivigala" pitchFamily="2" charset="77"/>
              </a:rPr>
              <a:t>trimRight</a:t>
            </a:r>
            <a:r>
              <a:rPr lang="en-US" sz="1200" b="1" cap="small" dirty="0">
                <a:solidFill>
                  <a:srgbClr val="00B0F0"/>
                </a:solidFill>
                <a:latin typeface="AkayaTelivigala" pitchFamily="2" charset="77"/>
                <a:cs typeface="AkayaTelivigala" pitchFamily="2" charset="77"/>
              </a:rPr>
              <a:t>() </a:t>
            </a:r>
            <a:r>
              <a:rPr lang="en-US" dirty="0">
                <a:effectLst/>
              </a:rPr>
              <a:t>– </a:t>
            </a:r>
            <a:r>
              <a:rPr lang="en-US" sz="1200" cap="small" dirty="0">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Removes whitespace from the end of the string </a:t>
            </a:r>
            <a:r>
              <a:rPr lang="en-US" dirty="0">
                <a:effectLst/>
              </a:rPr>
              <a:t>.</a:t>
            </a:r>
          </a:p>
          <a:p>
            <a:r>
              <a:rPr lang="en-US" dirty="0">
                <a:effectLst/>
              </a:rPr>
              <a:t>• </a:t>
            </a:r>
            <a:r>
              <a:rPr lang="en-US" sz="1200" b="1" cap="small" dirty="0" err="1">
                <a:solidFill>
                  <a:srgbClr val="00B0F0"/>
                </a:solidFill>
                <a:latin typeface="AkayaTelivigala" pitchFamily="2" charset="77"/>
                <a:cs typeface="AkayaTelivigala" pitchFamily="2" charset="77"/>
              </a:rPr>
              <a:t>padStart</a:t>
            </a:r>
            <a:r>
              <a:rPr lang="en-US" sz="1200" b="1" cap="small" dirty="0">
                <a:solidFill>
                  <a:srgbClr val="00B0F0"/>
                </a:solidFill>
                <a:latin typeface="AkayaTelivigala" pitchFamily="2" charset="77"/>
                <a:cs typeface="AkayaTelivigala" pitchFamily="2" charset="77"/>
              </a:rPr>
              <a:t>() </a:t>
            </a:r>
            <a:r>
              <a:rPr lang="en-US" sz="1200" cap="small" dirty="0">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 Pads the beginning of the string to the specified length.</a:t>
            </a:r>
          </a:p>
          <a:p>
            <a:r>
              <a:rPr lang="en-US" dirty="0">
                <a:effectLst/>
              </a:rPr>
              <a:t>• </a:t>
            </a:r>
            <a:r>
              <a:rPr lang="en-US" sz="1200" b="1" cap="small" dirty="0" err="1">
                <a:solidFill>
                  <a:srgbClr val="00B0F0"/>
                </a:solidFill>
                <a:latin typeface="AkayaTelivigala" pitchFamily="2" charset="77"/>
                <a:cs typeface="AkayaTelivigala" pitchFamily="2" charset="77"/>
              </a:rPr>
              <a:t>padEnd</a:t>
            </a:r>
            <a:r>
              <a:rPr lang="en-US" sz="1200" b="1" cap="small" dirty="0">
                <a:solidFill>
                  <a:srgbClr val="00B0F0"/>
                </a:solidFill>
                <a:latin typeface="AkayaTelivigala" pitchFamily="2" charset="77"/>
                <a:cs typeface="AkayaTelivigala" pitchFamily="2" charset="77"/>
              </a:rPr>
              <a:t>() </a:t>
            </a:r>
            <a:r>
              <a:rPr lang="en-US" sz="1200" cap="small" dirty="0">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 Pads the end of the string to the specified length.</a:t>
            </a:r>
          </a:p>
          <a:p>
            <a:r>
              <a:rPr lang="en-US" dirty="0">
                <a:effectLst/>
              </a:rPr>
              <a:t>• </a:t>
            </a:r>
            <a:r>
              <a:rPr lang="en-US" sz="1200" b="1" cap="small" dirty="0">
                <a:solidFill>
                  <a:srgbClr val="00B0F0"/>
                </a:solidFill>
                <a:latin typeface="AkayaTelivigala" pitchFamily="2" charset="77"/>
                <a:cs typeface="AkayaTelivigala" pitchFamily="2" charset="77"/>
              </a:rPr>
              <a:t>repeat() </a:t>
            </a:r>
            <a:r>
              <a:rPr lang="en-US" sz="1200" cap="small" dirty="0">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 Returns a new string with a specified number of copies</a:t>
            </a:r>
            <a:r>
              <a:rPr lang="en-US" dirty="0">
                <a:effectLst/>
              </a:rPr>
              <a:t>.</a:t>
            </a:r>
          </a:p>
          <a:p>
            <a:r>
              <a:rPr lang="en-US" dirty="0">
                <a:effectLst/>
              </a:rPr>
              <a:t>• </a:t>
            </a:r>
            <a:r>
              <a:rPr lang="en-US" sz="1200" b="1" cap="small" dirty="0">
                <a:solidFill>
                  <a:srgbClr val="00B0F0"/>
                </a:solidFill>
                <a:latin typeface="AkayaTelivigala" pitchFamily="2" charset="77"/>
                <a:cs typeface="AkayaTelivigala" pitchFamily="2" charset="77"/>
              </a:rPr>
              <a:t>replace() </a:t>
            </a:r>
            <a:r>
              <a:rPr lang="en-US" sz="1200" cap="small" dirty="0">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 Replaces a substring or pattern match with a new value.</a:t>
            </a:r>
          </a:p>
          <a:p>
            <a:r>
              <a:rPr lang="en-US" dirty="0">
                <a:effectLst/>
              </a:rPr>
              <a:t>• </a:t>
            </a:r>
            <a:r>
              <a:rPr lang="en-US" sz="1200" b="1" cap="small" dirty="0" err="1">
                <a:solidFill>
                  <a:srgbClr val="00B0F0"/>
                </a:solidFill>
                <a:latin typeface="AkayaTelivigala" pitchFamily="2" charset="77"/>
                <a:cs typeface="AkayaTelivigala" pitchFamily="2" charset="77"/>
              </a:rPr>
              <a:t>replaceAll</a:t>
            </a:r>
            <a:r>
              <a:rPr lang="en-US" sz="1200" b="1" cap="small" dirty="0">
                <a:solidFill>
                  <a:srgbClr val="00B0F0"/>
                </a:solidFill>
                <a:latin typeface="AkayaTelivigala" pitchFamily="2" charset="77"/>
                <a:cs typeface="AkayaTelivigala" pitchFamily="2" charset="77"/>
              </a:rPr>
              <a:t>() </a:t>
            </a:r>
            <a:r>
              <a:rPr lang="en-US" sz="1200" cap="small" dirty="0">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 Replaces all instances of a substring or pattern match with a new value.</a:t>
            </a:r>
          </a:p>
        </p:txBody>
      </p:sp>
    </p:spTree>
    <p:extLst>
      <p:ext uri="{BB962C8B-B14F-4D97-AF65-F5344CB8AC3E}">
        <p14:creationId xmlns:p14="http://schemas.microsoft.com/office/powerpoint/2010/main" val="4226436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65D5C-02E7-6728-5624-E9BDCFB6A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8A0AF3-C289-2CC7-3421-4294BD3B6714}"/>
              </a:ext>
            </a:extLst>
          </p:cNvPr>
          <p:cNvSpPr>
            <a:spLocks noGrp="1"/>
          </p:cNvSpPr>
          <p:nvPr>
            <p:ph type="title"/>
          </p:nvPr>
        </p:nvSpPr>
        <p:spPr>
          <a:xfrm>
            <a:off x="0" y="0"/>
            <a:ext cx="9905998" cy="1164699"/>
          </a:xfrm>
        </p:spPr>
        <p:txBody>
          <a:bodyPr/>
          <a:lstStyle/>
          <a:p>
            <a:r>
              <a:rPr lang="en-US" dirty="0">
                <a:solidFill>
                  <a:schemeClr val="accent2">
                    <a:lumMod val="60000"/>
                    <a:lumOff val="40000"/>
                  </a:schemeClr>
                </a:solidFill>
                <a:effectLst/>
                <a:latin typeface="AkayaTelivigala" pitchFamily="2" charset="77"/>
                <a:cs typeface="AkayaTelivigala" pitchFamily="2" charset="77"/>
              </a:rPr>
              <a:t>Number methods:</a:t>
            </a:r>
          </a:p>
        </p:txBody>
      </p:sp>
      <p:sp>
        <p:nvSpPr>
          <p:cNvPr id="3" name="Content Placeholder 2">
            <a:extLst>
              <a:ext uri="{FF2B5EF4-FFF2-40B4-BE49-F238E27FC236}">
                <a16:creationId xmlns:a16="http://schemas.microsoft.com/office/drawing/2014/main" id="{1570674D-3666-6EF6-4C00-A679990B6AEB}"/>
              </a:ext>
            </a:extLst>
          </p:cNvPr>
          <p:cNvSpPr>
            <a:spLocks noGrp="1"/>
          </p:cNvSpPr>
          <p:nvPr>
            <p:ph idx="1"/>
          </p:nvPr>
        </p:nvSpPr>
        <p:spPr>
          <a:xfrm>
            <a:off x="95375" y="847452"/>
            <a:ext cx="6119157" cy="2581548"/>
          </a:xfrm>
        </p:spPr>
        <p:txBody>
          <a:bodyPr>
            <a:normAutofit/>
          </a:bodyPr>
          <a:lstStyle/>
          <a:p>
            <a:pPr marL="0" indent="0">
              <a:buNone/>
            </a:pPr>
            <a:r>
              <a:rPr lang="en-US" dirty="0">
                <a:solidFill>
                  <a:srgbClr val="FFC000"/>
                </a:solidFill>
                <a:effectLst/>
              </a:rPr>
              <a:t>Methods of the Number Object:</a:t>
            </a:r>
          </a:p>
          <a:p>
            <a:r>
              <a:rPr lang="en-US" sz="1200" b="1" dirty="0" err="1">
                <a:solidFill>
                  <a:srgbClr val="00B0F0"/>
                </a:solidFill>
                <a:effectLst/>
                <a:latin typeface="AkayaTelivigala" pitchFamily="2" charset="77"/>
                <a:cs typeface="AkayaTelivigala" pitchFamily="2" charset="77"/>
              </a:rPr>
              <a:t>Number.isFinite</a:t>
            </a:r>
            <a:r>
              <a:rPr lang="en-US" sz="1200" b="1" dirty="0">
                <a:solidFill>
                  <a:srgbClr val="00B0F0"/>
                </a:solidFill>
                <a:effectLst/>
                <a:latin typeface="AkayaTelivigala" pitchFamily="2" charset="77"/>
                <a:cs typeface="AkayaTelivigala" pitchFamily="2" charset="77"/>
              </a:rPr>
              <a:t>() </a:t>
            </a:r>
            <a:r>
              <a:rPr lang="en-US" sz="1200" dirty="0">
                <a:effectLst/>
              </a:rPr>
              <a:t>– </a:t>
            </a:r>
            <a:r>
              <a:rPr lang="en-US" sz="1200" dirty="0">
                <a:effectLst/>
                <a:latin typeface="AkayaTelivigala" pitchFamily="2" charset="77"/>
                <a:cs typeface="AkayaTelivigala" pitchFamily="2" charset="77"/>
              </a:rPr>
              <a:t>Determines if the passed value is a finite number.</a:t>
            </a:r>
          </a:p>
          <a:p>
            <a:r>
              <a:rPr lang="en-US" sz="1200" b="1" dirty="0" err="1">
                <a:solidFill>
                  <a:srgbClr val="00B0F0"/>
                </a:solidFill>
                <a:effectLst/>
                <a:latin typeface="AkayaTelivigala" pitchFamily="2" charset="77"/>
                <a:cs typeface="AkayaTelivigala" pitchFamily="2" charset="77"/>
              </a:rPr>
              <a:t>Number.isInteger</a:t>
            </a:r>
            <a:r>
              <a:rPr lang="en-US" sz="1200" b="1" dirty="0">
                <a:solidFill>
                  <a:srgbClr val="00B0F0"/>
                </a:solidFill>
                <a:effectLst/>
                <a:latin typeface="AkayaTelivigala" pitchFamily="2" charset="77"/>
                <a:cs typeface="AkayaTelivigala" pitchFamily="2" charset="77"/>
              </a:rPr>
              <a:t>() </a:t>
            </a:r>
            <a:r>
              <a:rPr lang="en-US" sz="1200" dirty="0">
                <a:effectLst/>
              </a:rPr>
              <a:t>– </a:t>
            </a:r>
            <a:r>
              <a:rPr lang="en-US" sz="1200" dirty="0">
                <a:effectLst/>
                <a:latin typeface="AkayaTelivigala" pitchFamily="2" charset="77"/>
                <a:cs typeface="AkayaTelivigala" pitchFamily="2" charset="77"/>
              </a:rPr>
              <a:t>Determines if the passed value is an integer.</a:t>
            </a:r>
          </a:p>
          <a:p>
            <a:r>
              <a:rPr lang="en-US" sz="1200" b="1" dirty="0" err="1">
                <a:solidFill>
                  <a:srgbClr val="00B0F0"/>
                </a:solidFill>
                <a:effectLst/>
                <a:latin typeface="AkayaTelivigala" pitchFamily="2" charset="77"/>
                <a:cs typeface="AkayaTelivigala" pitchFamily="2" charset="77"/>
              </a:rPr>
              <a:t>Number.isNaN</a:t>
            </a:r>
            <a:r>
              <a:rPr lang="en-US" sz="1200" b="1" dirty="0">
                <a:solidFill>
                  <a:srgbClr val="00B0F0"/>
                </a:solidFill>
                <a:effectLst/>
                <a:latin typeface="AkayaTelivigala" pitchFamily="2" charset="77"/>
                <a:cs typeface="AkayaTelivigala" pitchFamily="2" charset="77"/>
              </a:rPr>
              <a:t>() </a:t>
            </a:r>
            <a:r>
              <a:rPr lang="en-US" sz="1200" dirty="0">
                <a:effectLst/>
              </a:rPr>
              <a:t>– </a:t>
            </a:r>
            <a:r>
              <a:rPr lang="en-US" sz="1200" dirty="0">
                <a:effectLst/>
                <a:latin typeface="AkayaTelivigala" pitchFamily="2" charset="77"/>
                <a:cs typeface="AkayaTelivigala" pitchFamily="2" charset="77"/>
              </a:rPr>
              <a:t>Determines if the passed value is </a:t>
            </a:r>
            <a:r>
              <a:rPr lang="en-US" sz="1200" dirty="0" err="1">
                <a:effectLst/>
                <a:latin typeface="AkayaTelivigala" pitchFamily="2" charset="77"/>
                <a:cs typeface="AkayaTelivigala" pitchFamily="2" charset="77"/>
              </a:rPr>
              <a:t>NaN</a:t>
            </a:r>
            <a:r>
              <a:rPr lang="en-US" sz="1200" dirty="0">
                <a:effectLst/>
                <a:latin typeface="AkayaTelivigala" pitchFamily="2" charset="77"/>
                <a:cs typeface="AkayaTelivigala" pitchFamily="2" charset="77"/>
              </a:rPr>
              <a:t> (Not-a-Number).</a:t>
            </a:r>
          </a:p>
          <a:p>
            <a:r>
              <a:rPr lang="en-US" sz="1200" b="1" dirty="0" err="1">
                <a:solidFill>
                  <a:srgbClr val="00B0F0"/>
                </a:solidFill>
                <a:effectLst/>
                <a:latin typeface="AkayaTelivigala" pitchFamily="2" charset="77"/>
                <a:cs typeface="AkayaTelivigala" pitchFamily="2" charset="77"/>
              </a:rPr>
              <a:t>Number.isSafeInteger</a:t>
            </a:r>
            <a:r>
              <a:rPr lang="en-US" sz="1200" b="1" dirty="0">
                <a:solidFill>
                  <a:srgbClr val="00B0F0"/>
                </a:solidFill>
                <a:effectLst/>
                <a:latin typeface="AkayaTelivigala" pitchFamily="2" charset="77"/>
                <a:cs typeface="AkayaTelivigala" pitchFamily="2" charset="77"/>
              </a:rPr>
              <a:t>() </a:t>
            </a:r>
            <a:r>
              <a:rPr lang="en-US" sz="1200" dirty="0">
                <a:effectLst/>
              </a:rPr>
              <a:t>– </a:t>
            </a:r>
            <a:r>
              <a:rPr lang="en-US" sz="1200" dirty="0">
                <a:effectLst/>
                <a:latin typeface="AkayaTelivigala" pitchFamily="2" charset="77"/>
                <a:cs typeface="AkayaTelivigala" pitchFamily="2" charset="77"/>
              </a:rPr>
              <a:t>Checks if the passed value is a safe integer (within the safe integer range).</a:t>
            </a:r>
          </a:p>
          <a:p>
            <a:r>
              <a:rPr lang="en-US" sz="1200" b="1" dirty="0" err="1">
                <a:solidFill>
                  <a:srgbClr val="00B0F0"/>
                </a:solidFill>
                <a:effectLst/>
                <a:latin typeface="AkayaTelivigala" pitchFamily="2" charset="77"/>
                <a:cs typeface="AkayaTelivigala" pitchFamily="2" charset="77"/>
              </a:rPr>
              <a:t>Number.parseFloat</a:t>
            </a:r>
            <a:r>
              <a:rPr lang="en-US" sz="1200" b="1" dirty="0">
                <a:solidFill>
                  <a:srgbClr val="00B0F0"/>
                </a:solidFill>
                <a:effectLst/>
                <a:latin typeface="AkayaTelivigala" pitchFamily="2" charset="77"/>
                <a:cs typeface="AkayaTelivigala" pitchFamily="2" charset="77"/>
              </a:rPr>
              <a:t>() </a:t>
            </a:r>
            <a:r>
              <a:rPr lang="en-US" sz="1200" dirty="0">
                <a:effectLst/>
              </a:rPr>
              <a:t>– </a:t>
            </a:r>
            <a:r>
              <a:rPr lang="en-US" sz="1200" dirty="0">
                <a:effectLst/>
                <a:latin typeface="AkayaTelivigala" pitchFamily="2" charset="77"/>
                <a:cs typeface="AkayaTelivigala" pitchFamily="2" charset="77"/>
              </a:rPr>
              <a:t>Conver </a:t>
            </a:r>
            <a:r>
              <a:rPr lang="en-US" sz="1200" dirty="0" err="1">
                <a:effectLst/>
                <a:latin typeface="AkayaTelivigala" pitchFamily="2" charset="77"/>
                <a:cs typeface="AkayaTelivigala" pitchFamily="2" charset="77"/>
              </a:rPr>
              <a:t>ts</a:t>
            </a:r>
            <a:r>
              <a:rPr lang="en-US" sz="1200" dirty="0">
                <a:effectLst/>
                <a:latin typeface="AkayaTelivigala" pitchFamily="2" charset="77"/>
                <a:cs typeface="AkayaTelivigala" pitchFamily="2" charset="77"/>
              </a:rPr>
              <a:t> a string to a floating-point number.</a:t>
            </a:r>
          </a:p>
          <a:p>
            <a:r>
              <a:rPr lang="en-US" sz="1200" b="1" dirty="0" err="1">
                <a:solidFill>
                  <a:srgbClr val="00B0F0"/>
                </a:solidFill>
                <a:effectLst/>
                <a:latin typeface="AkayaTelivigala" pitchFamily="2" charset="77"/>
                <a:cs typeface="AkayaTelivigala" pitchFamily="2" charset="77"/>
              </a:rPr>
              <a:t>Number.parseInt</a:t>
            </a:r>
            <a:r>
              <a:rPr lang="en-US" sz="1200" b="1" dirty="0">
                <a:solidFill>
                  <a:srgbClr val="00B0F0"/>
                </a:solidFill>
                <a:effectLst/>
                <a:latin typeface="AkayaTelivigala" pitchFamily="2" charset="77"/>
                <a:cs typeface="AkayaTelivigala" pitchFamily="2" charset="77"/>
              </a:rPr>
              <a:t>() </a:t>
            </a:r>
            <a:r>
              <a:rPr lang="en-US" sz="1200" dirty="0">
                <a:effectLst/>
              </a:rPr>
              <a:t>– </a:t>
            </a:r>
            <a:r>
              <a:rPr lang="en-US" sz="1200" dirty="0">
                <a:effectLst/>
                <a:latin typeface="AkayaTelivigala" pitchFamily="2" charset="77"/>
                <a:cs typeface="AkayaTelivigala" pitchFamily="2" charset="77"/>
              </a:rPr>
              <a:t>Conver </a:t>
            </a:r>
            <a:r>
              <a:rPr lang="en-US" sz="1200" dirty="0" err="1">
                <a:effectLst/>
                <a:latin typeface="AkayaTelivigala" pitchFamily="2" charset="77"/>
                <a:cs typeface="AkayaTelivigala" pitchFamily="2" charset="77"/>
              </a:rPr>
              <a:t>ts</a:t>
            </a:r>
            <a:r>
              <a:rPr lang="en-US" sz="1200" dirty="0">
                <a:effectLst/>
                <a:latin typeface="AkayaTelivigala" pitchFamily="2" charset="77"/>
                <a:cs typeface="AkayaTelivigala" pitchFamily="2" charset="77"/>
              </a:rPr>
              <a:t> a string to an integer using the specified radix.</a:t>
            </a:r>
          </a:p>
        </p:txBody>
      </p:sp>
      <p:sp>
        <p:nvSpPr>
          <p:cNvPr id="4" name="Content Placeholder 2">
            <a:extLst>
              <a:ext uri="{FF2B5EF4-FFF2-40B4-BE49-F238E27FC236}">
                <a16:creationId xmlns:a16="http://schemas.microsoft.com/office/drawing/2014/main" id="{891CEC00-0736-A746-7C56-ED1971ECFEA9}"/>
              </a:ext>
            </a:extLst>
          </p:cNvPr>
          <p:cNvSpPr txBox="1">
            <a:spLocks/>
          </p:cNvSpPr>
          <p:nvPr/>
        </p:nvSpPr>
        <p:spPr>
          <a:xfrm>
            <a:off x="5977468" y="309818"/>
            <a:ext cx="6119157" cy="3656815"/>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en-US" sz="2400" dirty="0">
                <a:solidFill>
                  <a:srgbClr val="FFC000"/>
                </a:solidFill>
                <a:effectLst/>
              </a:rPr>
              <a:t>Number prototype Methods:</a:t>
            </a:r>
          </a:p>
          <a:p>
            <a:r>
              <a:rPr lang="en-US" sz="1300" b="1" dirty="0" err="1">
                <a:solidFill>
                  <a:srgbClr val="00B0F0"/>
                </a:solidFill>
                <a:effectLst/>
                <a:latin typeface="AkayaTelivigala" pitchFamily="2" charset="77"/>
                <a:cs typeface="AkayaTelivigala" pitchFamily="2" charset="77"/>
              </a:rPr>
              <a:t>toExponential</a:t>
            </a:r>
            <a:r>
              <a:rPr lang="en-US" sz="1300" b="1" dirty="0">
                <a:solidFill>
                  <a:srgbClr val="00B0F0"/>
                </a:solidFill>
                <a:effectLst/>
                <a:latin typeface="AkayaTelivigala" pitchFamily="2" charset="77"/>
                <a:cs typeface="AkayaTelivigala" pitchFamily="2" charset="77"/>
              </a:rPr>
              <a:t>() </a:t>
            </a:r>
            <a:r>
              <a:rPr lang="en-US" sz="1300" dirty="0">
                <a:effectLst/>
              </a:rPr>
              <a:t>– </a:t>
            </a:r>
            <a:r>
              <a:rPr lang="en-US" sz="1300" dirty="0">
                <a:effectLst/>
                <a:latin typeface="AkayaTelivigala" pitchFamily="2" charset="77"/>
                <a:cs typeface="AkayaTelivigala" pitchFamily="2" charset="77"/>
              </a:rPr>
              <a:t>Returns a string representing the number in exponential notation.</a:t>
            </a:r>
          </a:p>
          <a:p>
            <a:r>
              <a:rPr lang="en-US" sz="1300" b="1" dirty="0" err="1">
                <a:solidFill>
                  <a:srgbClr val="00B0F0"/>
                </a:solidFill>
                <a:effectLst/>
                <a:latin typeface="AkayaTelivigala" pitchFamily="2" charset="77"/>
                <a:cs typeface="AkayaTelivigala" pitchFamily="2" charset="77"/>
              </a:rPr>
              <a:t>toFixed</a:t>
            </a:r>
            <a:r>
              <a:rPr lang="en-US" sz="1300" b="1" dirty="0">
                <a:solidFill>
                  <a:srgbClr val="00B0F0"/>
                </a:solidFill>
                <a:effectLst/>
                <a:latin typeface="AkayaTelivigala" pitchFamily="2" charset="77"/>
                <a:cs typeface="AkayaTelivigala" pitchFamily="2" charset="77"/>
              </a:rPr>
              <a:t>() </a:t>
            </a:r>
            <a:r>
              <a:rPr lang="en-US" sz="1300" dirty="0">
                <a:effectLst/>
              </a:rPr>
              <a:t>– </a:t>
            </a:r>
            <a:r>
              <a:rPr lang="en-US" sz="1300" dirty="0">
                <a:effectLst/>
                <a:latin typeface="AkayaTelivigala" pitchFamily="2" charset="77"/>
                <a:cs typeface="AkayaTelivigala" pitchFamily="2" charset="77"/>
              </a:rPr>
              <a:t>Returns a string with the number rounded to a fixed number of decimal places.</a:t>
            </a:r>
          </a:p>
          <a:p>
            <a:r>
              <a:rPr lang="en-US" sz="1300" b="1" dirty="0" err="1">
                <a:solidFill>
                  <a:srgbClr val="00B0F0"/>
                </a:solidFill>
                <a:effectLst/>
                <a:latin typeface="AkayaTelivigala" pitchFamily="2" charset="77"/>
                <a:cs typeface="AkayaTelivigala" pitchFamily="2" charset="77"/>
              </a:rPr>
              <a:t>toLocaleString</a:t>
            </a:r>
            <a:r>
              <a:rPr lang="en-US" sz="1300" b="1" dirty="0">
                <a:solidFill>
                  <a:srgbClr val="00B0F0"/>
                </a:solidFill>
                <a:effectLst/>
                <a:latin typeface="AkayaTelivigala" pitchFamily="2" charset="77"/>
                <a:cs typeface="AkayaTelivigala" pitchFamily="2" charset="77"/>
              </a:rPr>
              <a:t>() </a:t>
            </a:r>
            <a:r>
              <a:rPr lang="en-US" sz="1300" dirty="0">
                <a:effectLst/>
              </a:rPr>
              <a:t>– </a:t>
            </a:r>
            <a:r>
              <a:rPr lang="en-US" sz="1300" dirty="0">
                <a:effectLst/>
                <a:latin typeface="AkayaTelivigala" pitchFamily="2" charset="77"/>
                <a:cs typeface="AkayaTelivigala" pitchFamily="2" charset="77"/>
              </a:rPr>
              <a:t>Returns a string with the number formatted according to locale.</a:t>
            </a:r>
          </a:p>
          <a:p>
            <a:r>
              <a:rPr lang="en-US" sz="1300" b="1" dirty="0" err="1">
                <a:solidFill>
                  <a:srgbClr val="00B0F0"/>
                </a:solidFill>
                <a:effectLst/>
                <a:latin typeface="AkayaTelivigala" pitchFamily="2" charset="77"/>
                <a:cs typeface="AkayaTelivigala" pitchFamily="2" charset="77"/>
              </a:rPr>
              <a:t>toPrecision</a:t>
            </a:r>
            <a:r>
              <a:rPr lang="en-US" sz="1300" b="1" dirty="0">
                <a:solidFill>
                  <a:srgbClr val="00B0F0"/>
                </a:solidFill>
                <a:effectLst/>
                <a:latin typeface="AkayaTelivigala" pitchFamily="2" charset="77"/>
                <a:cs typeface="AkayaTelivigala" pitchFamily="2" charset="77"/>
              </a:rPr>
              <a:t>() </a:t>
            </a:r>
            <a:r>
              <a:rPr lang="en-US" sz="1300" dirty="0">
                <a:effectLst/>
              </a:rPr>
              <a:t>– </a:t>
            </a:r>
            <a:r>
              <a:rPr lang="en-US" sz="1300" dirty="0">
                <a:effectLst/>
                <a:latin typeface="AkayaTelivigala" pitchFamily="2" charset="77"/>
                <a:cs typeface="AkayaTelivigala" pitchFamily="2" charset="77"/>
              </a:rPr>
              <a:t>Returns a string with a number formatted to a specified precision.</a:t>
            </a:r>
          </a:p>
          <a:p>
            <a:r>
              <a:rPr lang="en-US" sz="1300" b="1" dirty="0" err="1">
                <a:solidFill>
                  <a:srgbClr val="00B0F0"/>
                </a:solidFill>
                <a:effectLst/>
                <a:latin typeface="AkayaTelivigala" pitchFamily="2" charset="77"/>
                <a:cs typeface="AkayaTelivigala" pitchFamily="2" charset="77"/>
              </a:rPr>
              <a:t>toString</a:t>
            </a:r>
            <a:r>
              <a:rPr lang="en-US" sz="1300" b="1" dirty="0">
                <a:solidFill>
                  <a:srgbClr val="00B0F0"/>
                </a:solidFill>
                <a:effectLst/>
                <a:latin typeface="AkayaTelivigala" pitchFamily="2" charset="77"/>
                <a:cs typeface="AkayaTelivigala" pitchFamily="2" charset="77"/>
              </a:rPr>
              <a:t>() </a:t>
            </a:r>
            <a:r>
              <a:rPr lang="en-US" sz="1300" dirty="0">
                <a:effectLst/>
              </a:rPr>
              <a:t>– </a:t>
            </a:r>
            <a:r>
              <a:rPr lang="en-US" sz="1300" dirty="0">
                <a:effectLst/>
                <a:latin typeface="AkayaTelivigala" pitchFamily="2" charset="77"/>
                <a:cs typeface="AkayaTelivigala" pitchFamily="2" charset="77"/>
              </a:rPr>
              <a:t>Returns a string representing the number in the specified base.</a:t>
            </a:r>
          </a:p>
          <a:p>
            <a:r>
              <a:rPr lang="en-US" sz="1300" b="1" dirty="0" err="1">
                <a:solidFill>
                  <a:srgbClr val="00B0F0"/>
                </a:solidFill>
                <a:effectLst/>
                <a:latin typeface="AkayaTelivigala" pitchFamily="2" charset="77"/>
                <a:cs typeface="AkayaTelivigala" pitchFamily="2" charset="77"/>
              </a:rPr>
              <a:t>valueOf</a:t>
            </a:r>
            <a:r>
              <a:rPr lang="en-US" sz="1300" b="1" dirty="0">
                <a:solidFill>
                  <a:srgbClr val="00B0F0"/>
                </a:solidFill>
                <a:effectLst/>
                <a:latin typeface="AkayaTelivigala" pitchFamily="2" charset="77"/>
                <a:cs typeface="AkayaTelivigala" pitchFamily="2" charset="77"/>
              </a:rPr>
              <a:t>() </a:t>
            </a:r>
            <a:r>
              <a:rPr lang="en-US" sz="1300" dirty="0">
                <a:effectLst/>
              </a:rPr>
              <a:t>– </a:t>
            </a:r>
            <a:r>
              <a:rPr lang="en-US" sz="1300" dirty="0">
                <a:effectLst/>
                <a:latin typeface="AkayaTelivigala" pitchFamily="2" charset="77"/>
                <a:cs typeface="AkayaTelivigala" pitchFamily="2" charset="77"/>
              </a:rPr>
              <a:t>Returns the primitive value of a Number object.</a:t>
            </a:r>
          </a:p>
        </p:txBody>
      </p:sp>
      <p:sp>
        <p:nvSpPr>
          <p:cNvPr id="5" name="Content Placeholder 2">
            <a:extLst>
              <a:ext uri="{FF2B5EF4-FFF2-40B4-BE49-F238E27FC236}">
                <a16:creationId xmlns:a16="http://schemas.microsoft.com/office/drawing/2014/main" id="{30C8ECF2-0EAD-01BC-E4F8-4AEA79812682}"/>
              </a:ext>
            </a:extLst>
          </p:cNvPr>
          <p:cNvSpPr txBox="1">
            <a:spLocks/>
          </p:cNvSpPr>
          <p:nvPr/>
        </p:nvSpPr>
        <p:spPr>
          <a:xfrm>
            <a:off x="95375" y="4075916"/>
            <a:ext cx="6119157" cy="2472266"/>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en-US" dirty="0">
                <a:solidFill>
                  <a:srgbClr val="FFC000"/>
                </a:solidFill>
                <a:effectLst/>
              </a:rPr>
              <a:t>Global Number Methods:</a:t>
            </a:r>
          </a:p>
          <a:p>
            <a:r>
              <a:rPr lang="en-US" sz="1200" b="1" dirty="0" err="1">
                <a:solidFill>
                  <a:srgbClr val="00B0F0"/>
                </a:solidFill>
                <a:effectLst/>
                <a:latin typeface="AkayaTelivigala" pitchFamily="2" charset="77"/>
                <a:cs typeface="AkayaTelivigala" pitchFamily="2" charset="77"/>
              </a:rPr>
              <a:t>isNaN</a:t>
            </a:r>
            <a:r>
              <a:rPr lang="en-US" sz="1200" b="1" dirty="0">
                <a:solidFill>
                  <a:srgbClr val="00B0F0"/>
                </a:solidFill>
                <a:effectLst/>
                <a:latin typeface="AkayaTelivigala" pitchFamily="2" charset="77"/>
                <a:cs typeface="AkayaTelivigala" pitchFamily="2" charset="77"/>
              </a:rPr>
              <a:t>() </a:t>
            </a:r>
            <a:r>
              <a:rPr lang="en-US" sz="1200" dirty="0">
                <a:effectLst/>
              </a:rPr>
              <a:t>– </a:t>
            </a:r>
            <a:r>
              <a:rPr lang="en-US" sz="1200" dirty="0">
                <a:effectLst/>
                <a:latin typeface="AkayaTelivigala" pitchFamily="2" charset="77"/>
                <a:cs typeface="AkayaTelivigala" pitchFamily="2" charset="77"/>
              </a:rPr>
              <a:t>Determines if the value is </a:t>
            </a:r>
            <a:r>
              <a:rPr lang="en-US" sz="1200" dirty="0" err="1">
                <a:effectLst/>
                <a:latin typeface="AkayaTelivigala" pitchFamily="2" charset="77"/>
                <a:cs typeface="AkayaTelivigala" pitchFamily="2" charset="77"/>
              </a:rPr>
              <a:t>NaN</a:t>
            </a:r>
            <a:r>
              <a:rPr lang="en-US" sz="1200" dirty="0">
                <a:effectLst/>
                <a:latin typeface="AkayaTelivigala" pitchFamily="2" charset="77"/>
                <a:cs typeface="AkayaTelivigala" pitchFamily="2" charset="77"/>
              </a:rPr>
              <a:t>.</a:t>
            </a:r>
          </a:p>
          <a:p>
            <a:r>
              <a:rPr lang="en-US" sz="1200" b="1" dirty="0" err="1">
                <a:solidFill>
                  <a:srgbClr val="00B0F0"/>
                </a:solidFill>
                <a:effectLst/>
                <a:latin typeface="AkayaTelivigala" pitchFamily="2" charset="77"/>
                <a:cs typeface="AkayaTelivigala" pitchFamily="2" charset="77"/>
              </a:rPr>
              <a:t>isFinite</a:t>
            </a:r>
            <a:r>
              <a:rPr lang="en-US" sz="1200" b="1" dirty="0">
                <a:solidFill>
                  <a:srgbClr val="00B0F0"/>
                </a:solidFill>
                <a:effectLst/>
                <a:latin typeface="AkayaTelivigala" pitchFamily="2" charset="77"/>
                <a:cs typeface="AkayaTelivigala" pitchFamily="2" charset="77"/>
              </a:rPr>
              <a:t>(</a:t>
            </a:r>
            <a:r>
              <a:rPr lang="en-US" sz="1200" dirty="0">
                <a:effectLst/>
              </a:rPr>
              <a:t>) – </a:t>
            </a:r>
            <a:r>
              <a:rPr lang="en-US" sz="1200" dirty="0">
                <a:effectLst/>
                <a:latin typeface="AkayaTelivigala" pitchFamily="2" charset="77"/>
                <a:cs typeface="AkayaTelivigala" pitchFamily="2" charset="77"/>
              </a:rPr>
              <a:t>Determines if the value is a finite number.</a:t>
            </a:r>
          </a:p>
          <a:p>
            <a:r>
              <a:rPr lang="en-US" sz="1200" b="1" dirty="0" err="1">
                <a:solidFill>
                  <a:srgbClr val="00B0F0"/>
                </a:solidFill>
                <a:effectLst/>
                <a:latin typeface="AkayaTelivigala" pitchFamily="2" charset="77"/>
                <a:cs typeface="AkayaTelivigala" pitchFamily="2" charset="77"/>
              </a:rPr>
              <a:t>parseInt</a:t>
            </a:r>
            <a:r>
              <a:rPr lang="en-US" sz="1200" b="1" dirty="0">
                <a:solidFill>
                  <a:srgbClr val="00B0F0"/>
                </a:solidFill>
                <a:effectLst/>
                <a:latin typeface="AkayaTelivigala" pitchFamily="2" charset="77"/>
                <a:cs typeface="AkayaTelivigala" pitchFamily="2" charset="77"/>
              </a:rPr>
              <a:t>() </a:t>
            </a:r>
            <a:r>
              <a:rPr lang="en-US" sz="1200" dirty="0">
                <a:effectLst/>
              </a:rPr>
              <a:t>– </a:t>
            </a:r>
            <a:r>
              <a:rPr lang="en-US" sz="1200" dirty="0">
                <a:effectLst/>
                <a:latin typeface="AkayaTelivigala" pitchFamily="2" charset="77"/>
                <a:cs typeface="AkayaTelivigala" pitchFamily="2" charset="77"/>
              </a:rPr>
              <a:t>Parses a string and returns an integer using the specified radix.</a:t>
            </a:r>
          </a:p>
          <a:p>
            <a:r>
              <a:rPr lang="en-US" sz="1200" b="1" dirty="0" err="1">
                <a:solidFill>
                  <a:srgbClr val="00B0F0"/>
                </a:solidFill>
                <a:effectLst/>
                <a:latin typeface="AkayaTelivigala" pitchFamily="2" charset="77"/>
                <a:cs typeface="AkayaTelivigala" pitchFamily="2" charset="77"/>
              </a:rPr>
              <a:t>parseFloat</a:t>
            </a:r>
            <a:r>
              <a:rPr lang="en-US" sz="1200" b="1" dirty="0">
                <a:solidFill>
                  <a:srgbClr val="00B0F0"/>
                </a:solidFill>
                <a:effectLst/>
                <a:latin typeface="AkayaTelivigala" pitchFamily="2" charset="77"/>
                <a:cs typeface="AkayaTelivigala" pitchFamily="2" charset="77"/>
              </a:rPr>
              <a:t>() </a:t>
            </a:r>
            <a:r>
              <a:rPr lang="en-US" sz="1200" dirty="0">
                <a:effectLst/>
              </a:rPr>
              <a:t>– </a:t>
            </a:r>
            <a:r>
              <a:rPr lang="en-US" sz="1200" dirty="0">
                <a:effectLst/>
                <a:latin typeface="AkayaTelivigala" pitchFamily="2" charset="77"/>
                <a:cs typeface="AkayaTelivigala" pitchFamily="2" charset="77"/>
              </a:rPr>
              <a:t>Parses a string and returns a floating-point number.</a:t>
            </a:r>
          </a:p>
        </p:txBody>
      </p:sp>
      <p:sp>
        <p:nvSpPr>
          <p:cNvPr id="6" name="Content Placeholder 2">
            <a:extLst>
              <a:ext uri="{FF2B5EF4-FFF2-40B4-BE49-F238E27FC236}">
                <a16:creationId xmlns:a16="http://schemas.microsoft.com/office/drawing/2014/main" id="{351F6DF1-0B7A-62FD-D763-7C622CC8B76A}"/>
              </a:ext>
            </a:extLst>
          </p:cNvPr>
          <p:cNvSpPr txBox="1">
            <a:spLocks/>
          </p:cNvSpPr>
          <p:nvPr/>
        </p:nvSpPr>
        <p:spPr>
          <a:xfrm>
            <a:off x="5838019" y="3966633"/>
            <a:ext cx="6119157" cy="2472266"/>
          </a:xfrm>
          <a:prstGeom prst="rect">
            <a:avLst/>
          </a:prstGeom>
        </p:spPr>
        <p:txBody>
          <a:bodyPr vert="horz" lIns="91440" tIns="45720" rIns="91440" bIns="45720" rtlCol="0" anchor="ctr">
            <a:normAutofit fontScale="47500" lnSpcReduction="2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en-US" sz="4200" dirty="0">
                <a:solidFill>
                  <a:srgbClr val="FFC000"/>
                </a:solidFill>
                <a:effectLst/>
              </a:rPr>
              <a:t>Proper ties of the Number Object:</a:t>
            </a:r>
          </a:p>
          <a:p>
            <a:r>
              <a:rPr lang="en-US" sz="2500" b="1" dirty="0" err="1">
                <a:solidFill>
                  <a:srgbClr val="00B0F0"/>
                </a:solidFill>
                <a:effectLst/>
                <a:latin typeface="AkayaTelivigala" pitchFamily="2" charset="77"/>
                <a:cs typeface="AkayaTelivigala" pitchFamily="2" charset="77"/>
              </a:rPr>
              <a:t>Number.EPSILON</a:t>
            </a:r>
            <a:r>
              <a:rPr lang="en-US" sz="2500" b="1" dirty="0">
                <a:solidFill>
                  <a:srgbClr val="00B0F0"/>
                </a:solidFill>
                <a:effectLst/>
                <a:latin typeface="AkayaTelivigala" pitchFamily="2" charset="77"/>
                <a:cs typeface="AkayaTelivigala" pitchFamily="2" charset="77"/>
              </a:rPr>
              <a:t> </a:t>
            </a:r>
            <a:r>
              <a:rPr lang="en-US" sz="2500" dirty="0">
                <a:effectLst/>
              </a:rPr>
              <a:t>– </a:t>
            </a:r>
            <a:r>
              <a:rPr lang="en-US" sz="2500" dirty="0">
                <a:effectLst/>
                <a:latin typeface="AkayaTelivigala" pitchFamily="2" charset="77"/>
                <a:cs typeface="AkayaTelivigala" pitchFamily="2" charset="77"/>
              </a:rPr>
              <a:t>The smallest interval between two representable numbers</a:t>
            </a:r>
            <a:r>
              <a:rPr lang="en-US" sz="2500" dirty="0">
                <a:effectLst/>
              </a:rPr>
              <a:t>.</a:t>
            </a:r>
          </a:p>
          <a:p>
            <a:r>
              <a:rPr lang="en-US" sz="2500" b="1" dirty="0">
                <a:solidFill>
                  <a:srgbClr val="00B0F0"/>
                </a:solidFill>
                <a:effectLst/>
                <a:latin typeface="AkayaTelivigala" pitchFamily="2" charset="77"/>
                <a:cs typeface="AkayaTelivigala" pitchFamily="2" charset="77"/>
              </a:rPr>
              <a:t>Number. MAX _ SAFE_ INTEGER </a:t>
            </a:r>
            <a:r>
              <a:rPr lang="en-US" sz="2500" dirty="0">
                <a:effectLst/>
              </a:rPr>
              <a:t>– </a:t>
            </a:r>
            <a:r>
              <a:rPr lang="en-US" sz="2500" dirty="0">
                <a:effectLst/>
                <a:latin typeface="AkayaTelivigala" pitchFamily="2" charset="77"/>
                <a:cs typeface="AkayaTelivigala" pitchFamily="2" charset="77"/>
              </a:rPr>
              <a:t>The maximum safe integer in JavaScript</a:t>
            </a:r>
            <a:r>
              <a:rPr lang="en-US" sz="2500" dirty="0">
                <a:effectLst/>
              </a:rPr>
              <a:t>.</a:t>
            </a:r>
          </a:p>
          <a:p>
            <a:r>
              <a:rPr lang="en-US" sz="2500" b="1" dirty="0">
                <a:solidFill>
                  <a:srgbClr val="00B0F0"/>
                </a:solidFill>
                <a:effectLst/>
                <a:latin typeface="AkayaTelivigala" pitchFamily="2" charset="77"/>
                <a:cs typeface="AkayaTelivigala" pitchFamily="2" charset="77"/>
              </a:rPr>
              <a:t>Number. MAX _VALUE </a:t>
            </a:r>
            <a:r>
              <a:rPr lang="en-US" sz="2500" dirty="0">
                <a:effectLst/>
              </a:rPr>
              <a:t>– </a:t>
            </a:r>
            <a:r>
              <a:rPr lang="en-US" sz="2500" dirty="0">
                <a:effectLst/>
                <a:latin typeface="AkayaTelivigala" pitchFamily="2" charset="77"/>
                <a:cs typeface="AkayaTelivigala" pitchFamily="2" charset="77"/>
              </a:rPr>
              <a:t>The largest representable number in JavaScript.</a:t>
            </a:r>
          </a:p>
          <a:p>
            <a:r>
              <a:rPr lang="en-US" sz="2500" b="1" dirty="0">
                <a:solidFill>
                  <a:srgbClr val="00B0F0"/>
                </a:solidFill>
                <a:effectLst/>
                <a:latin typeface="AkayaTelivigala" pitchFamily="2" charset="77"/>
                <a:cs typeface="AkayaTelivigala" pitchFamily="2" charset="77"/>
              </a:rPr>
              <a:t>Number. MIN_ SAFE_ INTEGER </a:t>
            </a:r>
            <a:r>
              <a:rPr lang="en-US" sz="2500" dirty="0">
                <a:effectLst/>
              </a:rPr>
              <a:t>– </a:t>
            </a:r>
            <a:r>
              <a:rPr lang="en-US" sz="2500" dirty="0">
                <a:effectLst/>
                <a:latin typeface="AkayaTelivigala" pitchFamily="2" charset="77"/>
                <a:cs typeface="AkayaTelivigala" pitchFamily="2" charset="77"/>
              </a:rPr>
              <a:t>The minimum safe integer in JavaScript.</a:t>
            </a:r>
          </a:p>
          <a:p>
            <a:r>
              <a:rPr lang="en-US" sz="2500" b="1" dirty="0">
                <a:solidFill>
                  <a:srgbClr val="00B0F0"/>
                </a:solidFill>
                <a:effectLst/>
                <a:latin typeface="AkayaTelivigala" pitchFamily="2" charset="77"/>
                <a:cs typeface="AkayaTelivigala" pitchFamily="2" charset="77"/>
              </a:rPr>
              <a:t>Number. MIN _VALUE </a:t>
            </a:r>
            <a:r>
              <a:rPr lang="en-US" sz="2500" dirty="0">
                <a:effectLst/>
              </a:rPr>
              <a:t>– </a:t>
            </a:r>
            <a:r>
              <a:rPr lang="en-US" sz="2500" dirty="0">
                <a:effectLst/>
                <a:latin typeface="AkayaTelivigala" pitchFamily="2" charset="77"/>
                <a:cs typeface="AkayaTelivigala" pitchFamily="2" charset="77"/>
              </a:rPr>
              <a:t>The smallest positive number in JavaScript.</a:t>
            </a:r>
          </a:p>
          <a:p>
            <a:r>
              <a:rPr lang="en-US" sz="2500" b="1" dirty="0" err="1">
                <a:solidFill>
                  <a:srgbClr val="00B0F0"/>
                </a:solidFill>
                <a:effectLst/>
                <a:latin typeface="AkayaTelivigala" pitchFamily="2" charset="77"/>
                <a:cs typeface="AkayaTelivigala" pitchFamily="2" charset="77"/>
              </a:rPr>
              <a:t>Number.NaN</a:t>
            </a:r>
            <a:r>
              <a:rPr lang="en-US" sz="2500" b="1" dirty="0">
                <a:solidFill>
                  <a:srgbClr val="00B0F0"/>
                </a:solidFill>
                <a:effectLst/>
                <a:latin typeface="AkayaTelivigala" pitchFamily="2" charset="77"/>
                <a:cs typeface="AkayaTelivigala" pitchFamily="2" charset="77"/>
              </a:rPr>
              <a:t> </a:t>
            </a:r>
            <a:r>
              <a:rPr lang="en-US" sz="2500" dirty="0">
                <a:effectLst/>
              </a:rPr>
              <a:t>– </a:t>
            </a:r>
            <a:r>
              <a:rPr lang="en-US" sz="2500" dirty="0">
                <a:effectLst/>
                <a:latin typeface="AkayaTelivigala" pitchFamily="2" charset="77"/>
                <a:cs typeface="AkayaTelivigala" pitchFamily="2" charset="77"/>
              </a:rPr>
              <a:t>Represents the Not-a-Number value.</a:t>
            </a:r>
          </a:p>
          <a:p>
            <a:r>
              <a:rPr lang="en-US" sz="2500" b="1" dirty="0" err="1">
                <a:solidFill>
                  <a:srgbClr val="00B0F0"/>
                </a:solidFill>
                <a:effectLst/>
                <a:latin typeface="AkayaTelivigala" pitchFamily="2" charset="77"/>
                <a:cs typeface="AkayaTelivigala" pitchFamily="2" charset="77"/>
              </a:rPr>
              <a:t>Number.NEGATIVE</a:t>
            </a:r>
            <a:r>
              <a:rPr lang="en-US" sz="2500" b="1" dirty="0">
                <a:solidFill>
                  <a:srgbClr val="00B0F0"/>
                </a:solidFill>
                <a:effectLst/>
                <a:latin typeface="AkayaTelivigala" pitchFamily="2" charset="77"/>
                <a:cs typeface="AkayaTelivigala" pitchFamily="2" charset="77"/>
              </a:rPr>
              <a:t> _ INFINITY </a:t>
            </a:r>
            <a:r>
              <a:rPr lang="en-US" sz="2500" dirty="0">
                <a:effectLst/>
              </a:rPr>
              <a:t>– </a:t>
            </a:r>
            <a:r>
              <a:rPr lang="en-US" sz="2500" dirty="0">
                <a:effectLst/>
                <a:latin typeface="AkayaTelivigala" pitchFamily="2" charset="77"/>
                <a:cs typeface="AkayaTelivigala" pitchFamily="2" charset="77"/>
              </a:rPr>
              <a:t>Represents negative infinity .</a:t>
            </a:r>
          </a:p>
          <a:p>
            <a:r>
              <a:rPr lang="en-US" sz="2500" b="1" dirty="0" err="1">
                <a:solidFill>
                  <a:srgbClr val="00B0F0"/>
                </a:solidFill>
                <a:effectLst/>
                <a:latin typeface="AkayaTelivigala" pitchFamily="2" charset="77"/>
                <a:cs typeface="AkayaTelivigala" pitchFamily="2" charset="77"/>
              </a:rPr>
              <a:t>Number.POSITIVE</a:t>
            </a:r>
            <a:r>
              <a:rPr lang="en-US" sz="2500" b="1" dirty="0">
                <a:solidFill>
                  <a:srgbClr val="00B0F0"/>
                </a:solidFill>
                <a:effectLst/>
                <a:latin typeface="AkayaTelivigala" pitchFamily="2" charset="77"/>
                <a:cs typeface="AkayaTelivigala" pitchFamily="2" charset="77"/>
              </a:rPr>
              <a:t> _ INFINITY </a:t>
            </a:r>
            <a:r>
              <a:rPr lang="en-US" sz="2500" dirty="0">
                <a:effectLst/>
              </a:rPr>
              <a:t>– </a:t>
            </a:r>
            <a:r>
              <a:rPr lang="en-US" sz="2500" dirty="0">
                <a:effectLst/>
                <a:latin typeface="AkayaTelivigala" pitchFamily="2" charset="77"/>
                <a:cs typeface="AkayaTelivigala" pitchFamily="2" charset="77"/>
              </a:rPr>
              <a:t>Represents positive infinity .</a:t>
            </a:r>
          </a:p>
        </p:txBody>
      </p:sp>
    </p:spTree>
    <p:extLst>
      <p:ext uri="{BB962C8B-B14F-4D97-AF65-F5344CB8AC3E}">
        <p14:creationId xmlns:p14="http://schemas.microsoft.com/office/powerpoint/2010/main" val="2819222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D6E7BD6-1039-F499-7956-2C093728B8A1}"/>
              </a:ext>
            </a:extLst>
          </p:cNvPr>
          <p:cNvSpPr>
            <a:spLocks noGrp="1"/>
          </p:cNvSpPr>
          <p:nvPr>
            <p:ph type="title"/>
          </p:nvPr>
        </p:nvSpPr>
        <p:spPr>
          <a:xfrm>
            <a:off x="142345" y="127000"/>
            <a:ext cx="11939587" cy="1532467"/>
          </a:xfrm>
        </p:spPr>
        <p:txBody>
          <a:bodyPr/>
          <a:lstStyle/>
          <a:p>
            <a:r>
              <a:rPr lang="en-US" dirty="0">
                <a:solidFill>
                  <a:schemeClr val="accent2">
                    <a:lumMod val="60000"/>
                    <a:lumOff val="40000"/>
                  </a:schemeClr>
                </a:solidFill>
                <a:effectLst/>
                <a:latin typeface="AkayaTelivigala" pitchFamily="2" charset="77"/>
                <a:cs typeface="AkayaTelivigala" pitchFamily="2" charset="77"/>
              </a:rPr>
              <a:t>Some More topics…</a:t>
            </a:r>
            <a:br>
              <a:rPr lang="en-US" dirty="0">
                <a:solidFill>
                  <a:schemeClr val="accent2">
                    <a:lumMod val="60000"/>
                    <a:lumOff val="40000"/>
                  </a:schemeClr>
                </a:solidFill>
                <a:effectLst/>
                <a:latin typeface="AkayaTelivigala" pitchFamily="2" charset="77"/>
                <a:cs typeface="AkayaTelivigala" pitchFamily="2" charset="77"/>
              </a:rPr>
            </a:br>
            <a:endParaRPr lang="en-US" dirty="0">
              <a:solidFill>
                <a:schemeClr val="accent2">
                  <a:lumMod val="60000"/>
                  <a:lumOff val="40000"/>
                </a:schemeClr>
              </a:solidFill>
              <a:effectLst/>
              <a:latin typeface="AkayaTelivigala" pitchFamily="2" charset="77"/>
              <a:cs typeface="AkayaTelivigala" pitchFamily="2" charset="77"/>
            </a:endParaRPr>
          </a:p>
        </p:txBody>
      </p:sp>
      <p:sp>
        <p:nvSpPr>
          <p:cNvPr id="6" name="Content Placeholder 2">
            <a:extLst>
              <a:ext uri="{FF2B5EF4-FFF2-40B4-BE49-F238E27FC236}">
                <a16:creationId xmlns:a16="http://schemas.microsoft.com/office/drawing/2014/main" id="{6C3CF15F-7191-3F60-6268-26E62F65B638}"/>
              </a:ext>
            </a:extLst>
          </p:cNvPr>
          <p:cNvSpPr>
            <a:spLocks noGrp="1"/>
          </p:cNvSpPr>
          <p:nvPr>
            <p:ph idx="1"/>
          </p:nvPr>
        </p:nvSpPr>
        <p:spPr>
          <a:xfrm>
            <a:off x="277813" y="893233"/>
            <a:ext cx="11592454" cy="2010834"/>
          </a:xfrm>
        </p:spPr>
        <p:txBody>
          <a:bodyPr>
            <a:normAutofit/>
          </a:bodyPr>
          <a:lstStyle/>
          <a:p>
            <a:r>
              <a:rPr lang="en-US" dirty="0" err="1">
                <a:solidFill>
                  <a:srgbClr val="FFC000"/>
                </a:solidFill>
                <a:effectLst/>
                <a:latin typeface="AkayaTelivigala" pitchFamily="2" charset="77"/>
                <a:cs typeface="AkayaTelivigala" pitchFamily="2" charset="77"/>
              </a:rPr>
              <a:t>Destructure</a:t>
            </a:r>
            <a:endParaRPr lang="en-US" dirty="0">
              <a:solidFill>
                <a:srgbClr val="FFC000"/>
              </a:solidFill>
              <a:effectLst/>
              <a:latin typeface="AkayaTelivigala" pitchFamily="2" charset="77"/>
              <a:cs typeface="AkayaTelivigala" pitchFamily="2" charset="77"/>
            </a:endParaRPr>
          </a:p>
          <a:p>
            <a:r>
              <a:rPr lang="en-US" dirty="0" err="1">
                <a:solidFill>
                  <a:srgbClr val="FFC000"/>
                </a:solidFill>
                <a:effectLst/>
                <a:latin typeface="AkayaTelivigala" pitchFamily="2" charset="77"/>
                <a:cs typeface="AkayaTelivigala" pitchFamily="2" charset="77"/>
              </a:rPr>
              <a:t>Asynchronicity</a:t>
            </a:r>
            <a:endParaRPr lang="en-US" dirty="0">
              <a:solidFill>
                <a:srgbClr val="FFC000"/>
              </a:solidFill>
              <a:effectLst/>
              <a:latin typeface="AkayaTelivigala" pitchFamily="2" charset="77"/>
              <a:cs typeface="AkayaTelivigala" pitchFamily="2" charset="77"/>
            </a:endParaRPr>
          </a:p>
          <a:p>
            <a:r>
              <a:rPr lang="en-US" dirty="0">
                <a:solidFill>
                  <a:srgbClr val="FFC000"/>
                </a:solidFill>
                <a:effectLst/>
                <a:latin typeface="AkayaTelivigala" pitchFamily="2" charset="77"/>
                <a:cs typeface="AkayaTelivigala" pitchFamily="2" charset="77"/>
              </a:rPr>
              <a:t>Closures</a:t>
            </a:r>
          </a:p>
        </p:txBody>
      </p:sp>
    </p:spTree>
    <p:extLst>
      <p:ext uri="{BB962C8B-B14F-4D97-AF65-F5344CB8AC3E}">
        <p14:creationId xmlns:p14="http://schemas.microsoft.com/office/powerpoint/2010/main" val="1412084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09577-D1EC-036B-2B91-84A71E3755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8893A-EB4A-17D5-F779-25CDAF2F9A17}"/>
              </a:ext>
            </a:extLst>
          </p:cNvPr>
          <p:cNvSpPr>
            <a:spLocks noGrp="1"/>
          </p:cNvSpPr>
          <p:nvPr>
            <p:ph type="title"/>
          </p:nvPr>
        </p:nvSpPr>
        <p:spPr>
          <a:xfrm>
            <a:off x="3036004" y="2846651"/>
            <a:ext cx="6119992" cy="1164699"/>
          </a:xfrm>
        </p:spPr>
        <p:txBody>
          <a:bodyPr/>
          <a:lstStyle/>
          <a:p>
            <a:pPr algn="ctr"/>
            <a:r>
              <a:rPr lang="en-US" dirty="0">
                <a:solidFill>
                  <a:srgbClr val="FFC000"/>
                </a:solidFill>
                <a:effectLst/>
                <a:latin typeface="AkayaTelivigala" pitchFamily="2" charset="77"/>
                <a:cs typeface="AkayaTelivigala" pitchFamily="2" charset="77"/>
              </a:rPr>
              <a:t>Creating a new React Project</a:t>
            </a:r>
          </a:p>
        </p:txBody>
      </p:sp>
    </p:spTree>
    <p:extLst>
      <p:ext uri="{BB962C8B-B14F-4D97-AF65-F5344CB8AC3E}">
        <p14:creationId xmlns:p14="http://schemas.microsoft.com/office/powerpoint/2010/main" val="4220752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998E1-D0C0-743F-EA90-F392589AC3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BCC21-D6A6-83EA-295A-FF019D943B8B}"/>
              </a:ext>
            </a:extLst>
          </p:cNvPr>
          <p:cNvSpPr>
            <a:spLocks noGrp="1"/>
          </p:cNvSpPr>
          <p:nvPr>
            <p:ph type="title"/>
          </p:nvPr>
        </p:nvSpPr>
        <p:spPr>
          <a:xfrm>
            <a:off x="180070" y="450937"/>
            <a:ext cx="4980654" cy="6288066"/>
          </a:xfrm>
        </p:spPr>
        <p:txBody>
          <a:bodyPr>
            <a:normAutofit/>
          </a:bodyPr>
          <a:lstStyle/>
          <a:p>
            <a:r>
              <a:rPr lang="en-US" dirty="0">
                <a:solidFill>
                  <a:srgbClr val="FFC000"/>
                </a:solidFill>
                <a:effectLst/>
                <a:latin typeface="AkayaTelivigala" pitchFamily="2" charset="77"/>
                <a:cs typeface="AkayaTelivigala" pitchFamily="2" charset="77"/>
              </a:rPr>
              <a:t>Vite</a:t>
            </a:r>
            <a:br>
              <a:rPr lang="en-US" dirty="0">
                <a:solidFill>
                  <a:srgbClr val="FFC000"/>
                </a:solidFill>
                <a:effectLst/>
                <a:latin typeface="AkayaTelivigala" pitchFamily="2" charset="77"/>
                <a:cs typeface="AkayaTelivigala" pitchFamily="2" charset="77"/>
              </a:rPr>
            </a:br>
            <a:r>
              <a:rPr lang="en-US" dirty="0">
                <a:solidFill>
                  <a:srgbClr val="FFC000"/>
                </a:solidFill>
                <a:effectLst/>
                <a:latin typeface="AkayaTelivigala" pitchFamily="2" charset="77"/>
                <a:cs typeface="AkayaTelivigala" pitchFamily="2" charset="77"/>
              </a:rPr>
              <a:t>— </a:t>
            </a:r>
            <a:r>
              <a:rPr lang="en-US" sz="16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It is a modern build tool for JavaScript projects. Its main goal is to provide fast and efficient development, especially for modern frameworks such as Vue, React, Svelte, and others.</a:t>
            </a:r>
            <a:br>
              <a:rPr lang="en-US" sz="16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endParaRPr lang="en-US" sz="16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endParaRPr>
          </a:p>
        </p:txBody>
      </p:sp>
      <p:sp>
        <p:nvSpPr>
          <p:cNvPr id="3" name="Title 1">
            <a:extLst>
              <a:ext uri="{FF2B5EF4-FFF2-40B4-BE49-F238E27FC236}">
                <a16:creationId xmlns:a16="http://schemas.microsoft.com/office/drawing/2014/main" id="{030E1FF5-83CA-DE0E-C260-71ABC2732B7C}"/>
              </a:ext>
            </a:extLst>
          </p:cNvPr>
          <p:cNvSpPr txBox="1">
            <a:spLocks/>
          </p:cNvSpPr>
          <p:nvPr/>
        </p:nvSpPr>
        <p:spPr>
          <a:xfrm>
            <a:off x="5887763" y="338203"/>
            <a:ext cx="4980654" cy="6288066"/>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solidFill>
                  <a:srgbClr val="FFC000"/>
                </a:solidFill>
                <a:effectLst/>
                <a:latin typeface="AkayaTelivigala" pitchFamily="2" charset="77"/>
                <a:cs typeface="AkayaTelivigala" pitchFamily="2" charset="77"/>
              </a:rPr>
              <a:t>How to create a new Vite Project</a:t>
            </a:r>
          </a:p>
          <a:p>
            <a:pPr marL="457200" indent="-457200">
              <a:buFont typeface="Arial" panose="020B0604020202020204" pitchFamily="34" charset="0"/>
              <a:buChar char="•"/>
            </a:pPr>
            <a:r>
              <a:rPr lang="en-US" sz="24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Open a directory</a:t>
            </a:r>
            <a:endParaRPr lang="en-US" sz="2400" cap="small" dirty="0">
              <a:solidFill>
                <a:srgbClr val="FFC000"/>
              </a:solidFill>
              <a:effectLst/>
              <a:latin typeface="AkayaTelivigala" pitchFamily="2" charset="77"/>
              <a:ea typeface="+mn-ea"/>
              <a:cs typeface="AkayaTelivigala" pitchFamily="2" charset="77"/>
            </a:endParaRPr>
          </a:p>
          <a:p>
            <a:pPr marL="457200" indent="-457200">
              <a:buFont typeface="Arial" panose="020B0604020202020204" pitchFamily="34" charset="0"/>
              <a:buChar char="•"/>
            </a:pPr>
            <a:r>
              <a:rPr lang="en-US" sz="24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Run Command</a:t>
            </a:r>
            <a:br>
              <a:rPr lang="en-US" sz="24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r>
              <a:rPr lang="en-US" sz="2400" i="1" dirty="0" err="1">
                <a:solidFill>
                  <a:srgbClr val="FFC000"/>
                </a:solidFill>
                <a:effectLst/>
                <a:latin typeface="AkayaTelivigala" pitchFamily="2" charset="77"/>
                <a:cs typeface="AkayaTelivigala" pitchFamily="2" charset="77"/>
              </a:rPr>
              <a:t>npm</a:t>
            </a:r>
            <a:r>
              <a:rPr lang="en-US" sz="2400" i="1" dirty="0">
                <a:solidFill>
                  <a:srgbClr val="FFC000"/>
                </a:solidFill>
                <a:effectLst/>
                <a:latin typeface="AkayaTelivigala" pitchFamily="2" charset="77"/>
                <a:cs typeface="AkayaTelivigala" pitchFamily="2" charset="77"/>
              </a:rPr>
              <a:t> create </a:t>
            </a:r>
            <a:r>
              <a:rPr lang="en-US" sz="2400" i="1" dirty="0" err="1">
                <a:solidFill>
                  <a:srgbClr val="FFC000"/>
                </a:solidFill>
                <a:effectLst/>
                <a:latin typeface="AkayaTelivigala" pitchFamily="2" charset="77"/>
                <a:cs typeface="AkayaTelivigala" pitchFamily="2" charset="77"/>
              </a:rPr>
              <a:t>vite</a:t>
            </a:r>
            <a:endParaRPr lang="en-US" i="1" dirty="0">
              <a:solidFill>
                <a:srgbClr val="FFC000"/>
              </a:solidFill>
              <a:effectLst/>
              <a:latin typeface="AkayaTelivigala" pitchFamily="2" charset="77"/>
              <a:cs typeface="AkayaTelivigala" pitchFamily="2" charset="77"/>
            </a:endParaRPr>
          </a:p>
          <a:p>
            <a:pPr marL="457200" indent="-457200">
              <a:buFont typeface="Arial" panose="020B0604020202020204" pitchFamily="34" charset="0"/>
              <a:buChar char="•"/>
            </a:pPr>
            <a:r>
              <a:rPr lang="en-US" sz="24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Install package</a:t>
            </a:r>
          </a:p>
          <a:p>
            <a:pPr marL="457200" indent="-457200">
              <a:buFont typeface="Arial" panose="020B0604020202020204" pitchFamily="34" charset="0"/>
              <a:buChar char="•"/>
            </a:pPr>
            <a:r>
              <a:rPr lang="en-US" sz="24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Configure </a:t>
            </a:r>
            <a:r>
              <a:rPr lang="en-US" sz="2400" cap="small" dirty="0" err="1">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Eslint</a:t>
            </a:r>
            <a:endParaRPr lang="en-US" sz="24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endParaRPr>
          </a:p>
          <a:p>
            <a:pPr marL="457200" indent="-457200">
              <a:buFont typeface="Arial" panose="020B0604020202020204" pitchFamily="34" charset="0"/>
              <a:buChar char="•"/>
            </a:pPr>
            <a:r>
              <a:rPr lang="en-US" sz="24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Clean Up</a:t>
            </a:r>
          </a:p>
          <a:p>
            <a:pPr marL="457200" indent="-457200">
              <a:buFont typeface="Arial" panose="020B0604020202020204" pitchFamily="34" charset="0"/>
              <a:buChar char="•"/>
            </a:pPr>
            <a:r>
              <a:rPr lang="en-US" sz="24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Start the project</a:t>
            </a:r>
            <a:br>
              <a:rPr lang="en-US" sz="24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r>
              <a:rPr lang="en-US" sz="2400" i="1" dirty="0" err="1">
                <a:solidFill>
                  <a:srgbClr val="FFC000"/>
                </a:solidFill>
                <a:effectLst/>
                <a:latin typeface="AkayaTelivigala" pitchFamily="2" charset="77"/>
                <a:cs typeface="AkayaTelivigala" pitchFamily="2" charset="77"/>
              </a:rPr>
              <a:t>npm</a:t>
            </a:r>
            <a:r>
              <a:rPr lang="en-US" sz="2400" i="1" dirty="0">
                <a:solidFill>
                  <a:srgbClr val="FFC000"/>
                </a:solidFill>
                <a:effectLst/>
                <a:latin typeface="AkayaTelivigala" pitchFamily="2" charset="77"/>
                <a:cs typeface="AkayaTelivigala" pitchFamily="2" charset="77"/>
              </a:rPr>
              <a:t> run dev</a:t>
            </a:r>
          </a:p>
          <a:p>
            <a:pPr marL="457200" indent="-457200">
              <a:buFont typeface="Arial" panose="020B0604020202020204" pitchFamily="34" charset="0"/>
              <a:buChar char="•"/>
            </a:pPr>
            <a:r>
              <a:rPr lang="en-US" sz="24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Stop the project</a:t>
            </a:r>
          </a:p>
        </p:txBody>
      </p:sp>
    </p:spTree>
    <p:extLst>
      <p:ext uri="{BB962C8B-B14F-4D97-AF65-F5344CB8AC3E}">
        <p14:creationId xmlns:p14="http://schemas.microsoft.com/office/powerpoint/2010/main" val="2982566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72074-DFE3-381A-8583-AA4A2531D2DB}"/>
              </a:ext>
            </a:extLst>
          </p:cNvPr>
          <p:cNvSpPr>
            <a:spLocks noGrp="1"/>
          </p:cNvSpPr>
          <p:nvPr>
            <p:ph type="title"/>
          </p:nvPr>
        </p:nvSpPr>
        <p:spPr>
          <a:xfrm>
            <a:off x="974179" y="714375"/>
            <a:ext cx="3332955" cy="5076826"/>
          </a:xfrm>
        </p:spPr>
        <p:txBody>
          <a:bodyPr anchor="ctr">
            <a:normAutofit/>
          </a:bodyPr>
          <a:lstStyle/>
          <a:p>
            <a:r>
              <a:rPr lang="en-US" sz="3100" cap="small" dirty="0" err="1">
                <a:solidFill>
                  <a:srgbClr val="FFC000"/>
                </a:solidFill>
                <a:effectLst/>
                <a:latin typeface="Calibri" panose="020F0502020204030204" pitchFamily="34" charset="0"/>
                <a:ea typeface="+mn-ea"/>
                <a:cs typeface="Calibri" panose="020F0502020204030204" pitchFamily="34" charset="0"/>
              </a:rPr>
              <a:t>React.createElement</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 It’s the function that React uses to create elements.</a:t>
            </a: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endPar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endParaRPr>
          </a:p>
        </p:txBody>
      </p:sp>
      <p:sp>
        <p:nvSpPr>
          <p:cNvPr id="3" name="Content Placeholder 2">
            <a:extLst>
              <a:ext uri="{FF2B5EF4-FFF2-40B4-BE49-F238E27FC236}">
                <a16:creationId xmlns:a16="http://schemas.microsoft.com/office/drawing/2014/main" id="{6AF07C18-7FD9-6E87-C10E-7394F4DC3119}"/>
              </a:ext>
            </a:extLst>
          </p:cNvPr>
          <p:cNvSpPr>
            <a:spLocks noGrp="1"/>
          </p:cNvSpPr>
          <p:nvPr>
            <p:ph idx="1"/>
          </p:nvPr>
        </p:nvSpPr>
        <p:spPr>
          <a:xfrm>
            <a:off x="4973046" y="714375"/>
            <a:ext cx="6253751" cy="5076825"/>
          </a:xfrm>
        </p:spPr>
        <p:txBody>
          <a:bodyPr>
            <a:normAutofit/>
          </a:bodyPr>
          <a:lstStyle/>
          <a:p>
            <a:r>
              <a:rPr lang="en-US" sz="1400" b="1" dirty="0" err="1">
                <a:solidFill>
                  <a:srgbClr val="FFC000"/>
                </a:solidFill>
                <a:effectLst/>
              </a:rPr>
              <a:t>React.createElement</a:t>
            </a:r>
            <a:r>
              <a:rPr lang="en-US" sz="1400" b="1" dirty="0">
                <a:solidFill>
                  <a:srgbClr val="FFC000"/>
                </a:solidFill>
                <a:effectLst/>
              </a:rPr>
              <a:t> --</a:t>
            </a:r>
            <a:r>
              <a:rPr lang="en-US" dirty="0">
                <a:solidFill>
                  <a:schemeClr val="tx1"/>
                </a:solidFill>
                <a:effectLst/>
                <a:latin typeface="AkayaTelivigala" pitchFamily="2" charset="77"/>
                <a:cs typeface="AkayaTelivigala" pitchFamily="2" charset="77"/>
              </a:rPr>
              <a:t>This function is the foundation of the entire React element concept, and it's what React uses to build and update the virtual DOM.</a:t>
            </a:r>
          </a:p>
          <a:p>
            <a:r>
              <a:rPr lang="en-US" dirty="0">
                <a:solidFill>
                  <a:schemeClr val="tx1"/>
                </a:solidFill>
                <a:effectLst/>
                <a:latin typeface="AkayaTelivigala" pitchFamily="2" charset="77"/>
                <a:cs typeface="AkayaTelivigala" pitchFamily="2" charset="77"/>
              </a:rPr>
              <a:t>Without JSX , you could write a component like this:</a:t>
            </a:r>
          </a:p>
          <a:p>
            <a:endParaRPr lang="en-US" dirty="0">
              <a:solidFill>
                <a:schemeClr val="tx1"/>
              </a:solidFill>
              <a:effectLst/>
              <a:latin typeface="AkayaTelivigala" pitchFamily="2" charset="77"/>
              <a:cs typeface="AkayaTelivigala" pitchFamily="2" charset="77"/>
            </a:endParaRPr>
          </a:p>
          <a:p>
            <a:endParaRPr lang="en-US" dirty="0">
              <a:solidFill>
                <a:schemeClr val="tx1"/>
              </a:solidFill>
              <a:effectLst/>
              <a:latin typeface="AkayaTelivigala" pitchFamily="2" charset="77"/>
              <a:cs typeface="AkayaTelivigala" pitchFamily="2" charset="77"/>
            </a:endParaRPr>
          </a:p>
          <a:p>
            <a:endParaRPr lang="en-US" dirty="0">
              <a:solidFill>
                <a:schemeClr val="tx1"/>
              </a:solidFill>
              <a:effectLst/>
              <a:latin typeface="AkayaTelivigala" pitchFamily="2" charset="77"/>
              <a:cs typeface="AkayaTelivigala" pitchFamily="2" charset="77"/>
            </a:endParaRPr>
          </a:p>
          <a:p>
            <a:r>
              <a:rPr lang="en-US" dirty="0">
                <a:solidFill>
                  <a:schemeClr val="tx1"/>
                </a:solidFill>
                <a:effectLst/>
                <a:latin typeface="AkayaTelivigala" pitchFamily="2" charset="77"/>
                <a:cs typeface="AkayaTelivigala" pitchFamily="2" charset="77"/>
              </a:rPr>
              <a:t>This is equivalent to the following JSX:</a:t>
            </a:r>
            <a:br>
              <a:rPr lang="en-US" dirty="0">
                <a:solidFill>
                  <a:schemeClr val="tx1"/>
                </a:solidFill>
                <a:effectLst/>
                <a:latin typeface="AkayaTelivigala" pitchFamily="2" charset="77"/>
                <a:cs typeface="AkayaTelivigala" pitchFamily="2" charset="77"/>
              </a:rPr>
            </a:br>
            <a:br>
              <a:rPr lang="en-US" dirty="0">
                <a:solidFill>
                  <a:schemeClr val="tx1"/>
                </a:solidFill>
                <a:effectLst/>
                <a:latin typeface="AkayaTelivigala" pitchFamily="2" charset="77"/>
                <a:cs typeface="AkayaTelivigala" pitchFamily="2" charset="77"/>
              </a:rPr>
            </a:br>
            <a:endParaRPr lang="en-US" dirty="0">
              <a:solidFill>
                <a:schemeClr val="tx1"/>
              </a:solidFill>
            </a:endParaRPr>
          </a:p>
        </p:txBody>
      </p:sp>
      <p:pic>
        <p:nvPicPr>
          <p:cNvPr id="5" name="Picture 4">
            <a:extLst>
              <a:ext uri="{FF2B5EF4-FFF2-40B4-BE49-F238E27FC236}">
                <a16:creationId xmlns:a16="http://schemas.microsoft.com/office/drawing/2014/main" id="{CA62BE00-0316-C9D1-4651-886779543FD2}"/>
              </a:ext>
            </a:extLst>
          </p:cNvPr>
          <p:cNvPicPr>
            <a:picLocks noChangeAspect="1"/>
          </p:cNvPicPr>
          <p:nvPr/>
        </p:nvPicPr>
        <p:blipFill>
          <a:blip r:embed="rId4"/>
          <a:stretch>
            <a:fillRect/>
          </a:stretch>
        </p:blipFill>
        <p:spPr>
          <a:xfrm>
            <a:off x="5294135" y="2756572"/>
            <a:ext cx="5109255" cy="1172347"/>
          </a:xfrm>
          <a:prstGeom prst="rect">
            <a:avLst/>
          </a:prstGeom>
        </p:spPr>
      </p:pic>
      <p:pic>
        <p:nvPicPr>
          <p:cNvPr id="7" name="Picture 6">
            <a:extLst>
              <a:ext uri="{FF2B5EF4-FFF2-40B4-BE49-F238E27FC236}">
                <a16:creationId xmlns:a16="http://schemas.microsoft.com/office/drawing/2014/main" id="{D0E6C2CB-18E4-2B07-AB46-B8BEE7B94E20}"/>
              </a:ext>
            </a:extLst>
          </p:cNvPr>
          <p:cNvPicPr>
            <a:picLocks noChangeAspect="1"/>
          </p:cNvPicPr>
          <p:nvPr/>
        </p:nvPicPr>
        <p:blipFill>
          <a:blip r:embed="rId5"/>
          <a:stretch>
            <a:fillRect/>
          </a:stretch>
        </p:blipFill>
        <p:spPr>
          <a:xfrm>
            <a:off x="5326055" y="4714875"/>
            <a:ext cx="2773866" cy="1428750"/>
          </a:xfrm>
          <a:prstGeom prst="rect">
            <a:avLst/>
          </a:prstGeom>
        </p:spPr>
      </p:pic>
    </p:spTree>
    <p:extLst>
      <p:ext uri="{BB962C8B-B14F-4D97-AF65-F5344CB8AC3E}">
        <p14:creationId xmlns:p14="http://schemas.microsoft.com/office/powerpoint/2010/main" val="1278651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a:extLst>
            <a:ext uri="{FF2B5EF4-FFF2-40B4-BE49-F238E27FC236}">
              <a16:creationId xmlns:a16="http://schemas.microsoft.com/office/drawing/2014/main" id="{0A9372BC-A910-6A5F-773B-20C80EB1A9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1EBB6-75C1-A1BA-A4BD-7BF19B67EDC9}"/>
              </a:ext>
            </a:extLst>
          </p:cNvPr>
          <p:cNvSpPr>
            <a:spLocks noGrp="1"/>
          </p:cNvSpPr>
          <p:nvPr>
            <p:ph type="title"/>
          </p:nvPr>
        </p:nvSpPr>
        <p:spPr>
          <a:xfrm>
            <a:off x="974179" y="714375"/>
            <a:ext cx="3332955" cy="5076826"/>
          </a:xfrm>
        </p:spPr>
        <p:txBody>
          <a:bodyPr anchor="ctr">
            <a:normAutofit/>
          </a:bodyPr>
          <a:lstStyle/>
          <a:p>
            <a:r>
              <a:rPr lang="en-US" sz="3100" cap="small" dirty="0" err="1">
                <a:solidFill>
                  <a:srgbClr val="FFC000"/>
                </a:solidFill>
                <a:effectLst/>
                <a:latin typeface="Calibri" panose="020F0502020204030204" pitchFamily="34" charset="0"/>
                <a:ea typeface="+mn-ea"/>
                <a:cs typeface="Calibri" panose="020F0502020204030204" pitchFamily="34" charset="0"/>
              </a:rPr>
              <a:t>React.createElement</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 More on how it works</a:t>
            </a:r>
          </a:p>
        </p:txBody>
      </p:sp>
      <p:sp>
        <p:nvSpPr>
          <p:cNvPr id="3" name="Content Placeholder 2">
            <a:extLst>
              <a:ext uri="{FF2B5EF4-FFF2-40B4-BE49-F238E27FC236}">
                <a16:creationId xmlns:a16="http://schemas.microsoft.com/office/drawing/2014/main" id="{670F8CA5-D43F-A0E0-38C3-F31F3B70ED35}"/>
              </a:ext>
            </a:extLst>
          </p:cNvPr>
          <p:cNvSpPr>
            <a:spLocks noGrp="1"/>
          </p:cNvSpPr>
          <p:nvPr>
            <p:ph idx="1"/>
          </p:nvPr>
        </p:nvSpPr>
        <p:spPr>
          <a:xfrm>
            <a:off x="4973046" y="714375"/>
            <a:ext cx="6253751" cy="5915025"/>
          </a:xfrm>
        </p:spPr>
        <p:txBody>
          <a:bodyPr>
            <a:normAutofit fontScale="92500" lnSpcReduction="20000"/>
          </a:bodyPr>
          <a:lstStyle/>
          <a:p>
            <a:pPr marL="0" indent="0">
              <a:buNone/>
            </a:pPr>
            <a:r>
              <a:rPr lang="en-US" sz="1900" b="1" dirty="0">
                <a:solidFill>
                  <a:srgbClr val="FFC000"/>
                </a:solidFill>
                <a:effectLst/>
              </a:rPr>
              <a:t>Syntax of </a:t>
            </a:r>
            <a:r>
              <a:rPr lang="en-US" sz="1900" b="1" dirty="0" err="1">
                <a:solidFill>
                  <a:srgbClr val="FFC000"/>
                </a:solidFill>
                <a:effectLst/>
              </a:rPr>
              <a:t>React.createElement</a:t>
            </a:r>
            <a:endParaRPr lang="en-US" sz="1900" b="1" dirty="0">
              <a:solidFill>
                <a:srgbClr val="FFC000"/>
              </a:solidFill>
              <a:effectLst/>
            </a:endParaRPr>
          </a:p>
          <a:p>
            <a:endParaRPr lang="en-US" sz="1900" b="1" dirty="0">
              <a:solidFill>
                <a:srgbClr val="FFC000"/>
              </a:solidFill>
              <a:effectLst/>
              <a:latin typeface="AkayaTelivigala" pitchFamily="2" charset="77"/>
              <a:cs typeface="AkayaTelivigala" pitchFamily="2" charset="77"/>
            </a:endParaRPr>
          </a:p>
          <a:p>
            <a:endParaRPr lang="en-US" sz="1400" b="1" dirty="0">
              <a:solidFill>
                <a:srgbClr val="FFC000"/>
              </a:solidFill>
              <a:effectLst/>
              <a:latin typeface="AkayaTelivigala" pitchFamily="2" charset="77"/>
              <a:cs typeface="AkayaTelivigala" pitchFamily="2" charset="77"/>
            </a:endParaRPr>
          </a:p>
          <a:p>
            <a:pPr marL="0" indent="0">
              <a:buNone/>
            </a:pPr>
            <a:endParaRPr lang="en-US" dirty="0">
              <a:solidFill>
                <a:schemeClr val="tx1"/>
              </a:solidFill>
              <a:effectLst/>
              <a:latin typeface="AkayaTelivigala" pitchFamily="2" charset="77"/>
              <a:cs typeface="AkayaTelivigala" pitchFamily="2" charset="77"/>
            </a:endParaRPr>
          </a:p>
          <a:p>
            <a:pPr marL="0" indent="0">
              <a:buNone/>
            </a:pPr>
            <a:r>
              <a:rPr lang="en-US" dirty="0">
                <a:solidFill>
                  <a:schemeClr val="tx1"/>
                </a:solidFill>
                <a:effectLst/>
                <a:latin typeface="AkayaTelivigala" pitchFamily="2" charset="77"/>
                <a:cs typeface="AkayaTelivigala" pitchFamily="2" charset="77"/>
              </a:rPr>
              <a:t>Arguments:</a:t>
            </a:r>
          </a:p>
          <a:p>
            <a:pPr marL="457200" indent="-457200">
              <a:buFont typeface="+mj-lt"/>
              <a:buAutoNum type="arabicPeriod"/>
            </a:pPr>
            <a:r>
              <a:rPr lang="en-US" dirty="0">
                <a:solidFill>
                  <a:schemeClr val="tx1"/>
                </a:solidFill>
                <a:effectLst/>
                <a:latin typeface="AkayaTelivigala" pitchFamily="2" charset="77"/>
                <a:cs typeface="AkayaTelivigala" pitchFamily="2" charset="77"/>
              </a:rPr>
              <a:t>Type: </a:t>
            </a:r>
          </a:p>
          <a:p>
            <a:pPr marL="914400" lvl="1" indent="-457200">
              <a:buFont typeface="+mj-lt"/>
              <a:buAutoNum type="arabicPeriod"/>
            </a:pPr>
            <a:r>
              <a:rPr lang="en-US" dirty="0">
                <a:solidFill>
                  <a:schemeClr val="tx1"/>
                </a:solidFill>
                <a:effectLst/>
                <a:latin typeface="AkayaTelivigala" pitchFamily="2" charset="77"/>
                <a:cs typeface="AkayaTelivigala" pitchFamily="2" charset="77"/>
              </a:rPr>
              <a:t>the type of element to create</a:t>
            </a:r>
          </a:p>
          <a:p>
            <a:pPr marL="914400" lvl="1" indent="-457200">
              <a:buFont typeface="+mj-lt"/>
              <a:buAutoNum type="arabicPeriod"/>
            </a:pPr>
            <a:r>
              <a:rPr lang="en-US" dirty="0">
                <a:solidFill>
                  <a:schemeClr val="tx1"/>
                </a:solidFill>
                <a:effectLst/>
                <a:latin typeface="AkayaTelivigala" pitchFamily="2" charset="77"/>
                <a:cs typeface="AkayaTelivigala" pitchFamily="2" charset="77"/>
              </a:rPr>
              <a:t>A string representing an HTML tag.</a:t>
            </a:r>
          </a:p>
          <a:p>
            <a:pPr marL="914400" lvl="1" indent="-457200">
              <a:buFont typeface="+mj-lt"/>
              <a:buAutoNum type="arabicPeriod"/>
            </a:pPr>
            <a:r>
              <a:rPr lang="en-US" dirty="0">
                <a:solidFill>
                  <a:schemeClr val="tx1"/>
                </a:solidFill>
                <a:effectLst/>
                <a:latin typeface="AkayaTelivigala" pitchFamily="2" charset="77"/>
                <a:cs typeface="AkayaTelivigala" pitchFamily="2" charset="77"/>
              </a:rPr>
              <a:t>A function or class  for a react component</a:t>
            </a:r>
          </a:p>
          <a:p>
            <a:pPr marL="457200" indent="-457200">
              <a:buFont typeface="+mj-lt"/>
              <a:buAutoNum type="arabicPeriod"/>
            </a:pPr>
            <a:r>
              <a:rPr lang="en-US" dirty="0">
                <a:solidFill>
                  <a:schemeClr val="tx1"/>
                </a:solidFill>
                <a:effectLst/>
                <a:latin typeface="AkayaTelivigala" pitchFamily="2" charset="77"/>
                <a:cs typeface="AkayaTelivigala" pitchFamily="2" charset="77"/>
              </a:rPr>
              <a:t>Props</a:t>
            </a:r>
          </a:p>
          <a:p>
            <a:pPr marL="914400" lvl="1" indent="-457200">
              <a:buFont typeface="+mj-lt"/>
              <a:buAutoNum type="arabicPeriod"/>
            </a:pPr>
            <a:r>
              <a:rPr lang="en-US" dirty="0">
                <a:solidFill>
                  <a:schemeClr val="tx1"/>
                </a:solidFill>
                <a:effectLst/>
                <a:latin typeface="AkayaTelivigala" pitchFamily="2" charset="77"/>
                <a:cs typeface="AkayaTelivigala" pitchFamily="2" charset="77"/>
              </a:rPr>
              <a:t>An object containing all the element’s attribute, if there are none, null can be passed.</a:t>
            </a:r>
          </a:p>
          <a:p>
            <a:pPr marL="457200" indent="-457200">
              <a:buFont typeface="+mj-lt"/>
              <a:buAutoNum type="arabicPeriod"/>
            </a:pPr>
            <a:r>
              <a:rPr lang="en-US" dirty="0">
                <a:solidFill>
                  <a:schemeClr val="tx1"/>
                </a:solidFill>
                <a:effectLst/>
                <a:latin typeface="AkayaTelivigala" pitchFamily="2" charset="77"/>
                <a:cs typeface="AkayaTelivigala" pitchFamily="2" charset="77"/>
              </a:rPr>
              <a:t>Children</a:t>
            </a:r>
          </a:p>
          <a:p>
            <a:pPr marL="914400" lvl="1" indent="-457200">
              <a:buFont typeface="+mj-lt"/>
              <a:buAutoNum type="arabicPeriod"/>
            </a:pPr>
            <a:r>
              <a:rPr lang="en-US" dirty="0">
                <a:solidFill>
                  <a:schemeClr val="tx1"/>
                </a:solidFill>
                <a:effectLst/>
                <a:latin typeface="AkayaTelivigala" pitchFamily="2" charset="77"/>
                <a:cs typeface="AkayaTelivigala" pitchFamily="2" charset="77"/>
              </a:rPr>
              <a:t>The </a:t>
            </a:r>
            <a:r>
              <a:rPr lang="en-US" dirty="0" err="1">
                <a:solidFill>
                  <a:schemeClr val="tx1"/>
                </a:solidFill>
                <a:effectLst/>
                <a:latin typeface="AkayaTelivigala" pitchFamily="2" charset="77"/>
                <a:cs typeface="AkayaTelivigala" pitchFamily="2" charset="77"/>
              </a:rPr>
              <a:t>childern</a:t>
            </a:r>
            <a:r>
              <a:rPr lang="en-US" dirty="0">
                <a:solidFill>
                  <a:schemeClr val="tx1"/>
                </a:solidFill>
                <a:effectLst/>
                <a:latin typeface="AkayaTelivigala" pitchFamily="2" charset="77"/>
                <a:cs typeface="AkayaTelivigala" pitchFamily="2" charset="77"/>
              </a:rPr>
              <a:t> of the element, can be</a:t>
            </a:r>
          </a:p>
          <a:p>
            <a:pPr marL="1371600" lvl="2" indent="-457200">
              <a:buFont typeface="+mj-lt"/>
              <a:buAutoNum type="arabicPeriod"/>
            </a:pPr>
            <a:r>
              <a:rPr lang="en-US" dirty="0">
                <a:solidFill>
                  <a:schemeClr val="tx1"/>
                </a:solidFill>
                <a:effectLst/>
                <a:latin typeface="AkayaTelivigala" pitchFamily="2" charset="77"/>
                <a:cs typeface="AkayaTelivigala" pitchFamily="2" charset="77"/>
              </a:rPr>
              <a:t>Text</a:t>
            </a:r>
          </a:p>
          <a:p>
            <a:pPr marL="1371600" lvl="2" indent="-457200">
              <a:buFont typeface="+mj-lt"/>
              <a:buAutoNum type="arabicPeriod"/>
            </a:pPr>
            <a:r>
              <a:rPr lang="en-US" dirty="0">
                <a:solidFill>
                  <a:schemeClr val="tx1"/>
                </a:solidFill>
                <a:effectLst/>
                <a:latin typeface="AkayaTelivigala" pitchFamily="2" charset="77"/>
                <a:cs typeface="AkayaTelivigala" pitchFamily="2" charset="77"/>
              </a:rPr>
              <a:t>Other React component</a:t>
            </a:r>
          </a:p>
          <a:p>
            <a:pPr marL="1371600" lvl="2" indent="-457200">
              <a:buFont typeface="+mj-lt"/>
              <a:buAutoNum type="arabicPeriod"/>
            </a:pPr>
            <a:r>
              <a:rPr lang="en-US" dirty="0">
                <a:solidFill>
                  <a:schemeClr val="tx1"/>
                </a:solidFill>
                <a:effectLst/>
                <a:latin typeface="AkayaTelivigala" pitchFamily="2" charset="77"/>
                <a:cs typeface="AkayaTelivigala" pitchFamily="2" charset="77"/>
              </a:rPr>
              <a:t>An array of element</a:t>
            </a:r>
            <a:br>
              <a:rPr lang="en-US" dirty="0">
                <a:solidFill>
                  <a:schemeClr val="tx1"/>
                </a:solidFill>
                <a:effectLst/>
                <a:latin typeface="AkayaTelivigala" pitchFamily="2" charset="77"/>
                <a:cs typeface="AkayaTelivigala" pitchFamily="2" charset="77"/>
              </a:rPr>
            </a:br>
            <a:endParaRPr lang="en-US" dirty="0">
              <a:solidFill>
                <a:schemeClr val="tx1"/>
              </a:solidFill>
            </a:endParaRPr>
          </a:p>
        </p:txBody>
      </p:sp>
      <p:pic>
        <p:nvPicPr>
          <p:cNvPr id="4" name="Picture 3">
            <a:extLst>
              <a:ext uri="{FF2B5EF4-FFF2-40B4-BE49-F238E27FC236}">
                <a16:creationId xmlns:a16="http://schemas.microsoft.com/office/drawing/2014/main" id="{E55D53C8-A970-9808-F7D6-16D442FD31AB}"/>
              </a:ext>
            </a:extLst>
          </p:cNvPr>
          <p:cNvPicPr>
            <a:picLocks noChangeAspect="1"/>
          </p:cNvPicPr>
          <p:nvPr/>
        </p:nvPicPr>
        <p:blipFill>
          <a:blip r:embed="rId4"/>
          <a:stretch>
            <a:fillRect/>
          </a:stretch>
        </p:blipFill>
        <p:spPr>
          <a:xfrm>
            <a:off x="5049854" y="1216338"/>
            <a:ext cx="6725646" cy="695756"/>
          </a:xfrm>
          <a:prstGeom prst="rect">
            <a:avLst/>
          </a:prstGeom>
        </p:spPr>
      </p:pic>
    </p:spTree>
    <p:extLst>
      <p:ext uri="{BB962C8B-B14F-4D97-AF65-F5344CB8AC3E}">
        <p14:creationId xmlns:p14="http://schemas.microsoft.com/office/powerpoint/2010/main" val="7154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FA45D-9769-956E-CF9D-BE51D4A24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4C2DB-D3C4-162E-9619-7BB3D425DB41}"/>
              </a:ext>
            </a:extLst>
          </p:cNvPr>
          <p:cNvSpPr>
            <a:spLocks noGrp="1"/>
          </p:cNvSpPr>
          <p:nvPr>
            <p:ph type="title"/>
          </p:nvPr>
        </p:nvSpPr>
        <p:spPr>
          <a:xfrm>
            <a:off x="3036004" y="2846651"/>
            <a:ext cx="6119992" cy="1164699"/>
          </a:xfrm>
        </p:spPr>
        <p:txBody>
          <a:bodyPr/>
          <a:lstStyle/>
          <a:p>
            <a:pPr algn="ctr"/>
            <a:r>
              <a:rPr lang="en-US" dirty="0">
                <a:solidFill>
                  <a:srgbClr val="FFC000"/>
                </a:solidFill>
                <a:effectLst/>
                <a:latin typeface="AkayaTelivigala" pitchFamily="2" charset="77"/>
                <a:cs typeface="AkayaTelivigala" pitchFamily="2" charset="77"/>
              </a:rPr>
              <a:t>JSX</a:t>
            </a:r>
            <a:br>
              <a:rPr lang="en-US" dirty="0">
                <a:solidFill>
                  <a:srgbClr val="FFC000"/>
                </a:solidFill>
                <a:effectLst/>
                <a:latin typeface="AkayaTelivigala" pitchFamily="2" charset="77"/>
                <a:cs typeface="AkayaTelivigala" pitchFamily="2" charset="77"/>
              </a:rPr>
            </a:br>
            <a:r>
              <a:rPr lang="en-US" dirty="0">
                <a:solidFill>
                  <a:srgbClr val="FFC000"/>
                </a:solidFill>
                <a:effectLst/>
                <a:latin typeface="AkayaTelivigala" pitchFamily="2" charset="77"/>
                <a:cs typeface="AkayaTelivigala" pitchFamily="2" charset="77"/>
              </a:rPr>
              <a:t>-- JavaScript XML</a:t>
            </a:r>
          </a:p>
        </p:txBody>
      </p:sp>
    </p:spTree>
    <p:extLst>
      <p:ext uri="{BB962C8B-B14F-4D97-AF65-F5344CB8AC3E}">
        <p14:creationId xmlns:p14="http://schemas.microsoft.com/office/powerpoint/2010/main" val="3199816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60FA1-3956-4FD0-E7E2-408F378480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4FDA4-E389-FAAF-0A5E-56D17F9AF753}"/>
              </a:ext>
            </a:extLst>
          </p:cNvPr>
          <p:cNvSpPr>
            <a:spLocks noGrp="1"/>
          </p:cNvSpPr>
          <p:nvPr>
            <p:ph type="title"/>
          </p:nvPr>
        </p:nvSpPr>
        <p:spPr>
          <a:xfrm>
            <a:off x="974179" y="714375"/>
            <a:ext cx="3332955" cy="5076826"/>
          </a:xfrm>
        </p:spPr>
        <p:txBody>
          <a:bodyPr anchor="ctr">
            <a:normAutofit/>
          </a:bodyPr>
          <a:lstStyle/>
          <a:p>
            <a:r>
              <a:rPr lang="en-US" sz="3100" cap="small" dirty="0">
                <a:solidFill>
                  <a:srgbClr val="FFC000"/>
                </a:solidFill>
                <a:effectLst/>
                <a:latin typeface="Calibri" panose="020F0502020204030204" pitchFamily="34" charset="0"/>
                <a:ea typeface="+mn-ea"/>
                <a:cs typeface="Calibri" panose="020F0502020204030204" pitchFamily="34" charset="0"/>
              </a:rPr>
              <a:t>JSX – It is a language extension. </a:t>
            </a:r>
            <a:r>
              <a:rPr lang="en-US" sz="3100" cap="small" dirty="0" err="1">
                <a:solidFill>
                  <a:srgbClr val="FFC000"/>
                </a:solidFill>
                <a:effectLst/>
                <a:latin typeface="Calibri" panose="020F0502020204030204" pitchFamily="34" charset="0"/>
                <a:ea typeface="+mn-ea"/>
                <a:cs typeface="Calibri" panose="020F0502020204030204" pitchFamily="34" charset="0"/>
              </a:rPr>
              <a:t>Javascript</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 Which allows you to write elements that look like HTML or XML directly in your React code</a:t>
            </a: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Or, JSX is a syntax that lets you write HTML, CSS and JS all in one place.</a:t>
            </a: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endPar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endParaRPr>
          </a:p>
        </p:txBody>
      </p:sp>
      <p:sp>
        <p:nvSpPr>
          <p:cNvPr id="3" name="Content Placeholder 2">
            <a:extLst>
              <a:ext uri="{FF2B5EF4-FFF2-40B4-BE49-F238E27FC236}">
                <a16:creationId xmlns:a16="http://schemas.microsoft.com/office/drawing/2014/main" id="{70F3D9EE-2388-8E46-CF84-AFFA7426E264}"/>
              </a:ext>
            </a:extLst>
          </p:cNvPr>
          <p:cNvSpPr>
            <a:spLocks noGrp="1"/>
          </p:cNvSpPr>
          <p:nvPr>
            <p:ph idx="1"/>
          </p:nvPr>
        </p:nvSpPr>
        <p:spPr>
          <a:xfrm>
            <a:off x="4973046" y="714375"/>
            <a:ext cx="6253751" cy="5076825"/>
          </a:xfrm>
        </p:spPr>
        <p:txBody>
          <a:bodyPr>
            <a:normAutofit/>
          </a:bodyPr>
          <a:lstStyle/>
          <a:p>
            <a:r>
              <a:rPr lang="en-US" dirty="0">
                <a:solidFill>
                  <a:schemeClr val="tx1"/>
                </a:solidFill>
                <a:effectLst/>
                <a:latin typeface="AkayaTelivigala" pitchFamily="2" charset="77"/>
                <a:cs typeface="AkayaTelivigala" pitchFamily="2" charset="77"/>
              </a:rPr>
              <a:t>JSX syntax without JS.</a:t>
            </a:r>
          </a:p>
          <a:p>
            <a:pPr marL="0" indent="0">
              <a:buNone/>
            </a:pPr>
            <a:endParaRPr lang="en-US" dirty="0">
              <a:solidFill>
                <a:schemeClr val="tx1"/>
              </a:solidFill>
              <a:effectLst/>
              <a:latin typeface="AkayaTelivigala" pitchFamily="2" charset="77"/>
              <a:cs typeface="AkayaTelivigala" pitchFamily="2" charset="77"/>
            </a:endParaRPr>
          </a:p>
          <a:p>
            <a:r>
              <a:rPr lang="en-US" dirty="0">
                <a:solidFill>
                  <a:schemeClr val="tx1"/>
                </a:solidFill>
                <a:effectLst/>
                <a:latin typeface="AkayaTelivigala" pitchFamily="2" charset="77"/>
                <a:cs typeface="AkayaTelivigala" pitchFamily="2" charset="77"/>
              </a:rPr>
              <a:t>JSX syntax with JS:</a:t>
            </a:r>
          </a:p>
          <a:p>
            <a:endParaRPr lang="en-US" dirty="0">
              <a:solidFill>
                <a:schemeClr val="tx1"/>
              </a:solidFill>
              <a:effectLst/>
              <a:latin typeface="AkayaTelivigala" pitchFamily="2" charset="77"/>
              <a:cs typeface="AkayaTelivigala" pitchFamily="2" charset="77"/>
            </a:endParaRPr>
          </a:p>
          <a:p>
            <a:endParaRPr lang="en-US" dirty="0">
              <a:solidFill>
                <a:schemeClr val="tx1"/>
              </a:solidFill>
              <a:effectLst/>
              <a:latin typeface="AkayaTelivigala" pitchFamily="2" charset="77"/>
              <a:cs typeface="AkayaTelivigala" pitchFamily="2" charset="77"/>
            </a:endParaRPr>
          </a:p>
          <a:p>
            <a:r>
              <a:rPr lang="en-US" dirty="0">
                <a:solidFill>
                  <a:schemeClr val="tx1"/>
                </a:solidFill>
                <a:effectLst/>
                <a:latin typeface="AkayaTelivigala" pitchFamily="2" charset="77"/>
                <a:cs typeface="AkayaTelivigala" pitchFamily="2" charset="77"/>
              </a:rPr>
              <a:t>Example of a react component with JSX:</a:t>
            </a:r>
          </a:p>
          <a:p>
            <a:endParaRPr lang="en-US" dirty="0">
              <a:solidFill>
                <a:schemeClr val="tx1"/>
              </a:solidFill>
              <a:effectLst/>
              <a:latin typeface="AkayaTelivigala" pitchFamily="2" charset="77"/>
              <a:cs typeface="AkayaTelivigala" pitchFamily="2" charset="77"/>
            </a:endParaRPr>
          </a:p>
          <a:p>
            <a:endParaRPr lang="en-US" dirty="0">
              <a:solidFill>
                <a:schemeClr val="tx1"/>
              </a:solidFill>
              <a:effectLst/>
              <a:latin typeface="AkayaTelivigala" pitchFamily="2" charset="77"/>
              <a:cs typeface="AkayaTelivigala" pitchFamily="2" charset="77"/>
            </a:endParaRPr>
          </a:p>
          <a:p>
            <a:endParaRPr lang="en-US" dirty="0">
              <a:solidFill>
                <a:schemeClr val="tx1"/>
              </a:solidFill>
              <a:effectLst/>
              <a:latin typeface="AkayaTelivigala" pitchFamily="2" charset="77"/>
              <a:cs typeface="AkayaTelivigala" pitchFamily="2" charset="77"/>
            </a:endParaRPr>
          </a:p>
          <a:p>
            <a:endParaRPr lang="en-US" dirty="0">
              <a:solidFill>
                <a:schemeClr val="tx1"/>
              </a:solidFill>
              <a:effectLst/>
              <a:latin typeface="AkayaTelivigala" pitchFamily="2" charset="77"/>
              <a:cs typeface="AkayaTelivigala" pitchFamily="2" charset="77"/>
            </a:endParaRPr>
          </a:p>
          <a:p>
            <a:endParaRPr lang="en-US" dirty="0">
              <a:solidFill>
                <a:schemeClr val="tx1"/>
              </a:solidFill>
              <a:effectLst/>
              <a:latin typeface="AkayaTelivigala" pitchFamily="2" charset="77"/>
              <a:cs typeface="AkayaTelivigala" pitchFamily="2" charset="77"/>
            </a:endParaRPr>
          </a:p>
          <a:p>
            <a:endParaRPr lang="en-US" dirty="0">
              <a:solidFill>
                <a:schemeClr val="tx1"/>
              </a:solidFill>
              <a:effectLst/>
              <a:latin typeface="AkayaTelivigala" pitchFamily="2" charset="77"/>
              <a:cs typeface="AkayaTelivigala" pitchFamily="2" charset="77"/>
            </a:endParaRPr>
          </a:p>
          <a:p>
            <a:endParaRPr lang="en-US" dirty="0">
              <a:solidFill>
                <a:schemeClr val="tx1"/>
              </a:solidFill>
              <a:effectLst/>
              <a:latin typeface="AkayaTelivigala" pitchFamily="2" charset="77"/>
              <a:cs typeface="AkayaTelivigala" pitchFamily="2" charset="77"/>
            </a:endParaRPr>
          </a:p>
        </p:txBody>
      </p:sp>
      <p:pic>
        <p:nvPicPr>
          <p:cNvPr id="4" name="Picture 3">
            <a:extLst>
              <a:ext uri="{FF2B5EF4-FFF2-40B4-BE49-F238E27FC236}">
                <a16:creationId xmlns:a16="http://schemas.microsoft.com/office/drawing/2014/main" id="{E2842565-4B03-D97E-8C46-8E2760CDFD1C}"/>
              </a:ext>
            </a:extLst>
          </p:cNvPr>
          <p:cNvPicPr>
            <a:picLocks noChangeAspect="1"/>
          </p:cNvPicPr>
          <p:nvPr/>
        </p:nvPicPr>
        <p:blipFill>
          <a:blip r:embed="rId3"/>
          <a:stretch>
            <a:fillRect/>
          </a:stretch>
        </p:blipFill>
        <p:spPr>
          <a:xfrm>
            <a:off x="5321749" y="795637"/>
            <a:ext cx="5896072" cy="415096"/>
          </a:xfrm>
          <a:prstGeom prst="rect">
            <a:avLst/>
          </a:prstGeom>
        </p:spPr>
      </p:pic>
      <p:pic>
        <p:nvPicPr>
          <p:cNvPr id="6" name="Picture 5">
            <a:extLst>
              <a:ext uri="{FF2B5EF4-FFF2-40B4-BE49-F238E27FC236}">
                <a16:creationId xmlns:a16="http://schemas.microsoft.com/office/drawing/2014/main" id="{586D86A3-47D5-471A-A342-18472CFA4B96}"/>
              </a:ext>
            </a:extLst>
          </p:cNvPr>
          <p:cNvPicPr>
            <a:picLocks noChangeAspect="1"/>
          </p:cNvPicPr>
          <p:nvPr/>
        </p:nvPicPr>
        <p:blipFill>
          <a:blip r:embed="rId4"/>
          <a:stretch>
            <a:fillRect/>
          </a:stretch>
        </p:blipFill>
        <p:spPr>
          <a:xfrm>
            <a:off x="5261025" y="1685633"/>
            <a:ext cx="5896073" cy="785579"/>
          </a:xfrm>
          <a:prstGeom prst="rect">
            <a:avLst/>
          </a:prstGeom>
        </p:spPr>
      </p:pic>
      <p:pic>
        <p:nvPicPr>
          <p:cNvPr id="9" name="Picture 8">
            <a:extLst>
              <a:ext uri="{FF2B5EF4-FFF2-40B4-BE49-F238E27FC236}">
                <a16:creationId xmlns:a16="http://schemas.microsoft.com/office/drawing/2014/main" id="{BA7DC8BE-CC98-EDD2-57FC-EF5D2BF7B982}"/>
              </a:ext>
            </a:extLst>
          </p:cNvPr>
          <p:cNvPicPr>
            <a:picLocks noChangeAspect="1"/>
          </p:cNvPicPr>
          <p:nvPr/>
        </p:nvPicPr>
        <p:blipFill>
          <a:blip r:embed="rId5"/>
          <a:stretch>
            <a:fillRect/>
          </a:stretch>
        </p:blipFill>
        <p:spPr>
          <a:xfrm>
            <a:off x="5261025" y="3144316"/>
            <a:ext cx="5913844" cy="2646884"/>
          </a:xfrm>
          <a:prstGeom prst="rect">
            <a:avLst/>
          </a:prstGeom>
        </p:spPr>
      </p:pic>
    </p:spTree>
    <p:extLst>
      <p:ext uri="{BB962C8B-B14F-4D97-AF65-F5344CB8AC3E}">
        <p14:creationId xmlns:p14="http://schemas.microsoft.com/office/powerpoint/2010/main" val="1224167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DFB2-892E-BC97-D210-FE46D086C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8CEB5-0E31-8A42-E87D-E11AFB893579}"/>
              </a:ext>
            </a:extLst>
          </p:cNvPr>
          <p:cNvSpPr>
            <a:spLocks noGrp="1"/>
          </p:cNvSpPr>
          <p:nvPr>
            <p:ph type="title"/>
          </p:nvPr>
        </p:nvSpPr>
        <p:spPr>
          <a:xfrm>
            <a:off x="3036004" y="2846651"/>
            <a:ext cx="6119992" cy="1164699"/>
          </a:xfrm>
        </p:spPr>
        <p:txBody>
          <a:bodyPr/>
          <a:lstStyle/>
          <a:p>
            <a:pPr algn="ctr"/>
            <a:r>
              <a:rPr lang="en-US" dirty="0">
                <a:solidFill>
                  <a:srgbClr val="FFC000"/>
                </a:solidFill>
                <a:effectLst/>
                <a:latin typeface="AkayaTelivigala" pitchFamily="2" charset="77"/>
                <a:cs typeface="AkayaTelivigala" pitchFamily="2" charset="77"/>
              </a:rPr>
              <a:t>JSX.CSS</a:t>
            </a:r>
            <a:br>
              <a:rPr lang="en-US" dirty="0">
                <a:solidFill>
                  <a:srgbClr val="FFC000"/>
                </a:solidFill>
                <a:effectLst/>
                <a:latin typeface="AkayaTelivigala" pitchFamily="2" charset="77"/>
                <a:cs typeface="AkayaTelivigala" pitchFamily="2" charset="77"/>
              </a:rPr>
            </a:br>
            <a:r>
              <a:rPr lang="en-US" dirty="0">
                <a:solidFill>
                  <a:srgbClr val="FFC000"/>
                </a:solidFill>
                <a:effectLst/>
                <a:latin typeface="AkayaTelivigala" pitchFamily="2" charset="77"/>
                <a:cs typeface="AkayaTelivigala" pitchFamily="2" charset="77"/>
              </a:rPr>
              <a:t>-- Working with CSS</a:t>
            </a:r>
          </a:p>
        </p:txBody>
      </p:sp>
    </p:spTree>
    <p:extLst>
      <p:ext uri="{BB962C8B-B14F-4D97-AF65-F5344CB8AC3E}">
        <p14:creationId xmlns:p14="http://schemas.microsoft.com/office/powerpoint/2010/main" val="3860990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267F9-17AA-EDF4-D6A3-A6CBAA4FB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271F9B-66F4-5B90-421C-DB2BB0EA8075}"/>
              </a:ext>
            </a:extLst>
          </p:cNvPr>
          <p:cNvSpPr>
            <a:spLocks noGrp="1"/>
          </p:cNvSpPr>
          <p:nvPr>
            <p:ph type="title"/>
          </p:nvPr>
        </p:nvSpPr>
        <p:spPr>
          <a:xfrm>
            <a:off x="974179" y="714375"/>
            <a:ext cx="3332955" cy="5076826"/>
          </a:xfrm>
        </p:spPr>
        <p:txBody>
          <a:bodyPr anchor="ctr">
            <a:normAutofit/>
          </a:bodyPr>
          <a:lstStyle/>
          <a:p>
            <a:r>
              <a:rPr lang="en-US" sz="3100" cap="small" dirty="0">
                <a:solidFill>
                  <a:srgbClr val="FFC000"/>
                </a:solidFill>
                <a:effectLst/>
                <a:latin typeface="Calibri" panose="020F0502020204030204" pitchFamily="34" charset="0"/>
                <a:ea typeface="+mn-ea"/>
                <a:cs typeface="Calibri" panose="020F0502020204030204" pitchFamily="34" charset="0"/>
              </a:rPr>
              <a:t>CSS in JSX</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 How CSS works in a React component</a:t>
            </a:r>
          </a:p>
        </p:txBody>
      </p:sp>
      <p:sp>
        <p:nvSpPr>
          <p:cNvPr id="3" name="Content Placeholder 2">
            <a:extLst>
              <a:ext uri="{FF2B5EF4-FFF2-40B4-BE49-F238E27FC236}">
                <a16:creationId xmlns:a16="http://schemas.microsoft.com/office/drawing/2014/main" id="{59511CDE-258D-3521-C918-FB23093F2358}"/>
              </a:ext>
            </a:extLst>
          </p:cNvPr>
          <p:cNvSpPr>
            <a:spLocks noGrp="1"/>
          </p:cNvSpPr>
          <p:nvPr>
            <p:ph idx="1"/>
          </p:nvPr>
        </p:nvSpPr>
        <p:spPr>
          <a:xfrm>
            <a:off x="4307134" y="1407054"/>
            <a:ext cx="6253751" cy="4043892"/>
          </a:xfrm>
        </p:spPr>
        <p:txBody>
          <a:bodyPr>
            <a:normAutofit/>
          </a:bodyPr>
          <a:lstStyle/>
          <a:p>
            <a:pPr marL="0" indent="0">
              <a:buNone/>
            </a:pPr>
            <a:r>
              <a:rPr lang="en-US" sz="1600" dirty="0">
                <a:solidFill>
                  <a:schemeClr val="tx1"/>
                </a:solidFill>
                <a:effectLst/>
                <a:latin typeface="AkayaTelivigala" pitchFamily="2" charset="77"/>
                <a:cs typeface="AkayaTelivigala" pitchFamily="2" charset="77"/>
              </a:rPr>
              <a:t>Styles are written as a JavaScript object, of CSS proper ties, and the values are where the keys are camelCase versions either strings or numbers. For numeric values like width, padding , etc., the default unit is pixels. </a:t>
            </a:r>
          </a:p>
          <a:p>
            <a:pPr marL="0" indent="0">
              <a:buNone/>
            </a:pPr>
            <a:r>
              <a:rPr lang="en-US" sz="1600" dirty="0">
                <a:solidFill>
                  <a:schemeClr val="tx1"/>
                </a:solidFill>
                <a:effectLst/>
                <a:latin typeface="AkayaTelivigala" pitchFamily="2" charset="77"/>
                <a:cs typeface="AkayaTelivigala" pitchFamily="2" charset="77"/>
              </a:rPr>
              <a:t>Values such as colors, URLs, and other CSS proper ties that are typically written in quotes must also be specified as strings.</a:t>
            </a:r>
          </a:p>
          <a:p>
            <a:pPr marL="0" indent="0">
              <a:buNone/>
            </a:pPr>
            <a:endParaRPr lang="en-US" sz="1600" dirty="0">
              <a:solidFill>
                <a:schemeClr val="tx1"/>
              </a:solidFill>
              <a:effectLst/>
              <a:latin typeface="AkayaTelivigala" pitchFamily="2" charset="77"/>
              <a:cs typeface="AkayaTelivigala" pitchFamily="2" charset="77"/>
            </a:endParaRPr>
          </a:p>
          <a:p>
            <a:pPr marL="0" indent="0">
              <a:buNone/>
            </a:pPr>
            <a:r>
              <a:rPr lang="en-US" sz="1600" dirty="0">
                <a:solidFill>
                  <a:schemeClr val="tx1"/>
                </a:solidFill>
                <a:effectLst/>
                <a:latin typeface="AkayaTelivigala" pitchFamily="2" charset="77"/>
                <a:cs typeface="AkayaTelivigala" pitchFamily="2" charset="77"/>
              </a:rPr>
              <a:t>We can also create a separate variable whose value is a style object and then apply it to an element using the style attribute.</a:t>
            </a:r>
          </a:p>
          <a:p>
            <a:endParaRPr lang="en-US" dirty="0">
              <a:solidFill>
                <a:schemeClr val="tx1"/>
              </a:solidFill>
              <a:effectLst/>
              <a:latin typeface="AkayaTelivigala" pitchFamily="2" charset="77"/>
              <a:cs typeface="AkayaTelivigala" pitchFamily="2" charset="77"/>
            </a:endParaRPr>
          </a:p>
        </p:txBody>
      </p:sp>
      <p:pic>
        <p:nvPicPr>
          <p:cNvPr id="7" name="Picture 6">
            <a:extLst>
              <a:ext uri="{FF2B5EF4-FFF2-40B4-BE49-F238E27FC236}">
                <a16:creationId xmlns:a16="http://schemas.microsoft.com/office/drawing/2014/main" id="{3A1D07BA-CC5F-FE12-A561-5DA729E770DA}"/>
              </a:ext>
            </a:extLst>
          </p:cNvPr>
          <p:cNvPicPr>
            <a:picLocks noChangeAspect="1"/>
          </p:cNvPicPr>
          <p:nvPr/>
        </p:nvPicPr>
        <p:blipFill>
          <a:blip r:embed="rId3"/>
          <a:stretch>
            <a:fillRect/>
          </a:stretch>
        </p:blipFill>
        <p:spPr>
          <a:xfrm>
            <a:off x="4307134" y="138677"/>
            <a:ext cx="7772400" cy="1653046"/>
          </a:xfrm>
          <a:prstGeom prst="rect">
            <a:avLst/>
          </a:prstGeom>
        </p:spPr>
      </p:pic>
      <p:pic>
        <p:nvPicPr>
          <p:cNvPr id="8" name="Picture 7">
            <a:extLst>
              <a:ext uri="{FF2B5EF4-FFF2-40B4-BE49-F238E27FC236}">
                <a16:creationId xmlns:a16="http://schemas.microsoft.com/office/drawing/2014/main" id="{68C7ACCB-8C4C-CA54-2034-4D0A2DC601E0}"/>
              </a:ext>
            </a:extLst>
          </p:cNvPr>
          <p:cNvPicPr>
            <a:picLocks noChangeAspect="1"/>
          </p:cNvPicPr>
          <p:nvPr/>
        </p:nvPicPr>
        <p:blipFill>
          <a:blip r:embed="rId4"/>
          <a:stretch>
            <a:fillRect/>
          </a:stretch>
        </p:blipFill>
        <p:spPr>
          <a:xfrm>
            <a:off x="4307134" y="4590041"/>
            <a:ext cx="7772400" cy="2062065"/>
          </a:xfrm>
          <a:prstGeom prst="rect">
            <a:avLst/>
          </a:prstGeom>
        </p:spPr>
      </p:pic>
      <mc:AlternateContent xmlns:mc="http://schemas.openxmlformats.org/markup-compatibility/2006">
        <mc:Choice xmlns:p14="http://schemas.microsoft.com/office/powerpoint/2010/main" xmlns:aink="http://schemas.microsoft.com/office/drawing/2016/ink" Requires="p14 aink">
          <p:contentPart p14:bwMode="auto" r:id="rId5">
            <p14:nvContentPartPr>
              <p14:cNvPr id="11" name="Ink 10">
                <a:extLst>
                  <a:ext uri="{FF2B5EF4-FFF2-40B4-BE49-F238E27FC236}">
                    <a16:creationId xmlns:a16="http://schemas.microsoft.com/office/drawing/2014/main" id="{55E28952-3A73-40CD-29D9-F9061E22A565}"/>
                  </a:ext>
                </a:extLst>
              </p14:cNvPr>
              <p14:cNvContentPartPr/>
              <p14:nvPr/>
            </p14:nvContentPartPr>
            <p14:xfrm>
              <a:off x="2277413" y="-59907"/>
              <a:ext cx="360" cy="360"/>
            </p14:xfrm>
          </p:contentPart>
        </mc:Choice>
        <mc:Fallback>
          <p:pic>
            <p:nvPicPr>
              <p:cNvPr id="11" name="Ink 10">
                <a:extLst>
                  <a:ext uri="{FF2B5EF4-FFF2-40B4-BE49-F238E27FC236}">
                    <a16:creationId xmlns:a16="http://schemas.microsoft.com/office/drawing/2014/main" id="{55E28952-3A73-40CD-29D9-F9061E22A565}"/>
                  </a:ext>
                </a:extLst>
              </p:cNvPr>
              <p:cNvPicPr/>
              <p:nvPr/>
            </p:nvPicPr>
            <p:blipFill>
              <a:blip r:embed="rId6"/>
              <a:stretch>
                <a:fillRect/>
              </a:stretch>
            </p:blipFill>
            <p:spPr>
              <a:xfrm>
                <a:off x="2259413" y="-167907"/>
                <a:ext cx="36000" cy="216000"/>
              </a:xfrm>
              <a:prstGeom prst="rect">
                <a:avLst/>
              </a:prstGeom>
            </p:spPr>
          </p:pic>
        </mc:Fallback>
      </mc:AlternateContent>
      <p:cxnSp>
        <p:nvCxnSpPr>
          <p:cNvPr id="13" name="Straight Connector 12">
            <a:extLst>
              <a:ext uri="{FF2B5EF4-FFF2-40B4-BE49-F238E27FC236}">
                <a16:creationId xmlns:a16="http://schemas.microsoft.com/office/drawing/2014/main" id="{10FAFE32-4E37-65EC-4E04-C936F0E6E1B0}"/>
              </a:ext>
            </a:extLst>
          </p:cNvPr>
          <p:cNvCxnSpPr/>
          <p:nvPr/>
        </p:nvCxnSpPr>
        <p:spPr>
          <a:xfrm>
            <a:off x="4307134" y="3725333"/>
            <a:ext cx="7275266"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870792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029C3-334E-32F7-F936-043F2E93C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29DCF7-6E95-74A4-1B27-0DFE020373A2}"/>
              </a:ext>
            </a:extLst>
          </p:cNvPr>
          <p:cNvSpPr>
            <a:spLocks noGrp="1"/>
          </p:cNvSpPr>
          <p:nvPr>
            <p:ph type="title"/>
          </p:nvPr>
        </p:nvSpPr>
        <p:spPr>
          <a:xfrm>
            <a:off x="974179" y="714375"/>
            <a:ext cx="3332955" cy="5076826"/>
          </a:xfrm>
        </p:spPr>
        <p:txBody>
          <a:bodyPr anchor="ctr">
            <a:normAutofit/>
          </a:bodyPr>
          <a:lstStyle/>
          <a:p>
            <a:r>
              <a:rPr lang="en-US" sz="3100" cap="small" dirty="0">
                <a:solidFill>
                  <a:srgbClr val="FFC000"/>
                </a:solidFill>
                <a:effectLst/>
                <a:latin typeface="Calibri" panose="020F0502020204030204" pitchFamily="34" charset="0"/>
                <a:ea typeface="+mn-ea"/>
                <a:cs typeface="Calibri" panose="020F0502020204030204" pitchFamily="34" charset="0"/>
              </a:rPr>
              <a:t>CSS in JSX</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 Using a CSS file with predefined styles for specific classes</a:t>
            </a:r>
          </a:p>
        </p:txBody>
      </p:sp>
      <p:sp>
        <p:nvSpPr>
          <p:cNvPr id="3" name="Content Placeholder 2">
            <a:extLst>
              <a:ext uri="{FF2B5EF4-FFF2-40B4-BE49-F238E27FC236}">
                <a16:creationId xmlns:a16="http://schemas.microsoft.com/office/drawing/2014/main" id="{AF024A0C-3E3A-00D5-C2FF-11B0F05FFBA4}"/>
              </a:ext>
            </a:extLst>
          </p:cNvPr>
          <p:cNvSpPr>
            <a:spLocks noGrp="1"/>
          </p:cNvSpPr>
          <p:nvPr>
            <p:ph idx="1"/>
          </p:nvPr>
        </p:nvSpPr>
        <p:spPr>
          <a:xfrm>
            <a:off x="4307134" y="205894"/>
            <a:ext cx="6253751" cy="1555173"/>
          </a:xfrm>
        </p:spPr>
        <p:txBody>
          <a:bodyPr>
            <a:normAutofit/>
          </a:bodyPr>
          <a:lstStyle/>
          <a:p>
            <a:pPr marL="0" indent="0">
              <a:buNone/>
            </a:pPr>
            <a:r>
              <a:rPr lang="en-US" sz="1600" dirty="0">
                <a:solidFill>
                  <a:schemeClr val="tx1"/>
                </a:solidFill>
                <a:effectLst/>
                <a:latin typeface="AkayaTelivigala" pitchFamily="2" charset="77"/>
                <a:cs typeface="AkayaTelivigala" pitchFamily="2" charset="77"/>
              </a:rPr>
              <a:t>Need to import style file into required JS file, and then class and styles from external CSS file can be used directly.</a:t>
            </a:r>
          </a:p>
          <a:p>
            <a:endParaRPr lang="en-US" dirty="0">
              <a:solidFill>
                <a:schemeClr val="tx1"/>
              </a:solidFill>
              <a:effectLst/>
              <a:latin typeface="AkayaTelivigala" pitchFamily="2" charset="77"/>
              <a:cs typeface="AkayaTelivigala" pitchFamily="2" charset="77"/>
            </a:endParaRPr>
          </a:p>
        </p:txBody>
      </p:sp>
      <mc:AlternateContent xmlns:mc="http://schemas.openxmlformats.org/markup-compatibility/2006">
        <mc:Choice xmlns:p14="http://schemas.microsoft.com/office/powerpoint/2010/main" xmlns:aink="http://schemas.microsoft.com/office/drawing/2016/ink" Requires="p14 aink">
          <p:contentPart p14:bwMode="auto" r:id="rId3">
            <p14:nvContentPartPr>
              <p14:cNvPr id="11" name="Ink 10">
                <a:extLst>
                  <a:ext uri="{FF2B5EF4-FFF2-40B4-BE49-F238E27FC236}">
                    <a16:creationId xmlns:a16="http://schemas.microsoft.com/office/drawing/2014/main" id="{6085A254-3423-E1B7-6ECB-A12582866355}"/>
                  </a:ext>
                </a:extLst>
              </p14:cNvPr>
              <p14:cNvContentPartPr/>
              <p14:nvPr/>
            </p14:nvContentPartPr>
            <p14:xfrm>
              <a:off x="2277413" y="-59907"/>
              <a:ext cx="360" cy="360"/>
            </p14:xfrm>
          </p:contentPart>
        </mc:Choice>
        <mc:Fallback>
          <p:pic>
            <p:nvPicPr>
              <p:cNvPr id="11" name="Ink 10">
                <a:extLst>
                  <a:ext uri="{FF2B5EF4-FFF2-40B4-BE49-F238E27FC236}">
                    <a16:creationId xmlns:a16="http://schemas.microsoft.com/office/drawing/2014/main" id="{6085A254-3423-E1B7-6ECB-A12582866355}"/>
                  </a:ext>
                </a:extLst>
              </p:cNvPr>
              <p:cNvPicPr/>
              <p:nvPr/>
            </p:nvPicPr>
            <p:blipFill>
              <a:blip r:embed="rId4"/>
              <a:stretch>
                <a:fillRect/>
              </a:stretch>
            </p:blipFill>
            <p:spPr>
              <a:xfrm>
                <a:off x="2259413" y="-167907"/>
                <a:ext cx="36000" cy="216000"/>
              </a:xfrm>
              <a:prstGeom prst="rect">
                <a:avLst/>
              </a:prstGeom>
            </p:spPr>
          </p:pic>
        </mc:Fallback>
      </mc:AlternateContent>
      <p:pic>
        <p:nvPicPr>
          <p:cNvPr id="4" name="Picture 3">
            <a:extLst>
              <a:ext uri="{FF2B5EF4-FFF2-40B4-BE49-F238E27FC236}">
                <a16:creationId xmlns:a16="http://schemas.microsoft.com/office/drawing/2014/main" id="{AAEC87BE-1E85-3E6D-58C8-F4D908C88E1C}"/>
              </a:ext>
            </a:extLst>
          </p:cNvPr>
          <p:cNvPicPr>
            <a:picLocks noChangeAspect="1"/>
          </p:cNvPicPr>
          <p:nvPr/>
        </p:nvPicPr>
        <p:blipFill>
          <a:blip r:embed="rId5"/>
          <a:stretch>
            <a:fillRect/>
          </a:stretch>
        </p:blipFill>
        <p:spPr>
          <a:xfrm>
            <a:off x="4353863" y="1092198"/>
            <a:ext cx="7718135" cy="3784601"/>
          </a:xfrm>
          <a:prstGeom prst="rect">
            <a:avLst/>
          </a:prstGeom>
        </p:spPr>
      </p:pic>
      <p:pic>
        <p:nvPicPr>
          <p:cNvPr id="5" name="Picture 4">
            <a:extLst>
              <a:ext uri="{FF2B5EF4-FFF2-40B4-BE49-F238E27FC236}">
                <a16:creationId xmlns:a16="http://schemas.microsoft.com/office/drawing/2014/main" id="{7FE6B034-92DF-0C56-8BB7-6F5EC8FA292C}"/>
              </a:ext>
            </a:extLst>
          </p:cNvPr>
          <p:cNvPicPr>
            <a:picLocks noChangeAspect="1"/>
          </p:cNvPicPr>
          <p:nvPr/>
        </p:nvPicPr>
        <p:blipFill>
          <a:blip r:embed="rId6"/>
          <a:stretch>
            <a:fillRect/>
          </a:stretch>
        </p:blipFill>
        <p:spPr>
          <a:xfrm>
            <a:off x="8092017" y="3557588"/>
            <a:ext cx="3695700" cy="2108200"/>
          </a:xfrm>
          <a:prstGeom prst="rect">
            <a:avLst/>
          </a:prstGeom>
        </p:spPr>
      </p:pic>
    </p:spTree>
    <p:extLst>
      <p:ext uri="{BB962C8B-B14F-4D97-AF65-F5344CB8AC3E}">
        <p14:creationId xmlns:p14="http://schemas.microsoft.com/office/powerpoint/2010/main" val="598734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858F-5A9A-40A2-0B76-D08DEE34F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F0FC8-0F0A-6B19-2DDA-DF0630C4967A}"/>
              </a:ext>
            </a:extLst>
          </p:cNvPr>
          <p:cNvSpPr>
            <a:spLocks noGrp="1"/>
          </p:cNvSpPr>
          <p:nvPr>
            <p:ph type="title"/>
          </p:nvPr>
        </p:nvSpPr>
        <p:spPr>
          <a:xfrm>
            <a:off x="2415468" y="2846650"/>
            <a:ext cx="7361063" cy="1164699"/>
          </a:xfrm>
        </p:spPr>
        <p:txBody>
          <a:bodyPr>
            <a:normAutofit fontScale="90000"/>
          </a:bodyPr>
          <a:lstStyle/>
          <a:p>
            <a:pPr algn="ctr"/>
            <a:r>
              <a:rPr lang="en-US" dirty="0">
                <a:solidFill>
                  <a:srgbClr val="FFC000"/>
                </a:solidFill>
                <a:effectLst/>
                <a:latin typeface="AkayaTelivigala" pitchFamily="2" charset="77"/>
                <a:cs typeface="AkayaTelivigala" pitchFamily="2" charset="77"/>
              </a:rPr>
              <a:t>Props</a:t>
            </a:r>
            <a:br>
              <a:rPr lang="en-US" dirty="0">
                <a:solidFill>
                  <a:srgbClr val="FFC000"/>
                </a:solidFill>
                <a:effectLst/>
                <a:latin typeface="AkayaTelivigala" pitchFamily="2" charset="77"/>
                <a:cs typeface="AkayaTelivigala" pitchFamily="2" charset="77"/>
              </a:rPr>
            </a:br>
            <a:r>
              <a:rPr lang="en-US" dirty="0">
                <a:solidFill>
                  <a:srgbClr val="FFC000"/>
                </a:solidFill>
                <a:effectLst/>
                <a:latin typeface="AkayaTelivigala" pitchFamily="2" charset="77"/>
                <a:cs typeface="AkayaTelivigala" pitchFamily="2" charset="77"/>
              </a:rPr>
              <a:t>-- props (abbreviation of properties)</a:t>
            </a:r>
          </a:p>
        </p:txBody>
      </p:sp>
    </p:spTree>
    <p:extLst>
      <p:ext uri="{BB962C8B-B14F-4D97-AF65-F5344CB8AC3E}">
        <p14:creationId xmlns:p14="http://schemas.microsoft.com/office/powerpoint/2010/main" val="3009318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26C12-32C9-CA05-34E1-BBD4E06EA4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977B4-6F3C-EF90-23B3-493555830379}"/>
              </a:ext>
            </a:extLst>
          </p:cNvPr>
          <p:cNvSpPr>
            <a:spLocks noGrp="1"/>
          </p:cNvSpPr>
          <p:nvPr>
            <p:ph type="title"/>
          </p:nvPr>
        </p:nvSpPr>
        <p:spPr>
          <a:xfrm>
            <a:off x="440266" y="407987"/>
            <a:ext cx="3332955" cy="2622892"/>
          </a:xfrm>
        </p:spPr>
        <p:txBody>
          <a:bodyPr anchor="ctr">
            <a:normAutofit/>
          </a:bodyPr>
          <a:lstStyle/>
          <a:p>
            <a:r>
              <a:rPr lang="en-US" sz="3100" cap="small" dirty="0">
                <a:solidFill>
                  <a:srgbClr val="FFC000"/>
                </a:solidFill>
                <a:effectLst/>
                <a:latin typeface="Calibri" panose="020F0502020204030204" pitchFamily="34" charset="0"/>
                <a:ea typeface="+mn-ea"/>
                <a:cs typeface="Calibri" panose="020F0502020204030204" pitchFamily="34" charset="0"/>
              </a:rPr>
              <a:t>Props</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 A way to pass data from parent components to child components.</a:t>
            </a: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endPar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endParaRPr>
          </a:p>
        </p:txBody>
      </p:sp>
      <p:sp>
        <p:nvSpPr>
          <p:cNvPr id="3" name="Content Placeholder 2">
            <a:extLst>
              <a:ext uri="{FF2B5EF4-FFF2-40B4-BE49-F238E27FC236}">
                <a16:creationId xmlns:a16="http://schemas.microsoft.com/office/drawing/2014/main" id="{287ED73C-9A70-B0A2-90A0-92CCE009DDE0}"/>
              </a:ext>
            </a:extLst>
          </p:cNvPr>
          <p:cNvSpPr>
            <a:spLocks noGrp="1"/>
          </p:cNvSpPr>
          <p:nvPr>
            <p:ph idx="1"/>
          </p:nvPr>
        </p:nvSpPr>
        <p:spPr>
          <a:xfrm>
            <a:off x="4973046" y="330201"/>
            <a:ext cx="6253751" cy="1447799"/>
          </a:xfrm>
        </p:spPr>
        <p:txBody>
          <a:bodyPr>
            <a:normAutofit/>
          </a:bodyPr>
          <a:lstStyle/>
          <a:p>
            <a:r>
              <a:rPr lang="en-US" dirty="0">
                <a:effectLst/>
              </a:rPr>
              <a:t>Props make components more reusable and modular . Components receive props as a them to display data or adjust their behavior depending on the input.</a:t>
            </a:r>
            <a:endParaRPr lang="en-US" dirty="0">
              <a:solidFill>
                <a:schemeClr val="tx1"/>
              </a:solidFill>
              <a:effectLst/>
              <a:latin typeface="AkayaTelivigala" pitchFamily="2" charset="77"/>
              <a:cs typeface="AkayaTelivigala" pitchFamily="2" charset="77"/>
            </a:endParaRPr>
          </a:p>
          <a:p>
            <a:endParaRPr lang="en-US" dirty="0">
              <a:solidFill>
                <a:schemeClr val="tx1"/>
              </a:solidFill>
              <a:effectLst/>
              <a:latin typeface="AkayaTelivigala" pitchFamily="2" charset="77"/>
              <a:cs typeface="AkayaTelivigala" pitchFamily="2" charset="77"/>
            </a:endParaRPr>
          </a:p>
        </p:txBody>
      </p:sp>
      <p:pic>
        <p:nvPicPr>
          <p:cNvPr id="5" name="Picture 4">
            <a:extLst>
              <a:ext uri="{FF2B5EF4-FFF2-40B4-BE49-F238E27FC236}">
                <a16:creationId xmlns:a16="http://schemas.microsoft.com/office/drawing/2014/main" id="{3318417F-AC8B-A4EA-FC21-3E219BF1FC30}"/>
              </a:ext>
            </a:extLst>
          </p:cNvPr>
          <p:cNvPicPr>
            <a:picLocks noChangeAspect="1"/>
          </p:cNvPicPr>
          <p:nvPr/>
        </p:nvPicPr>
        <p:blipFill>
          <a:blip r:embed="rId3"/>
          <a:stretch>
            <a:fillRect/>
          </a:stretch>
        </p:blipFill>
        <p:spPr>
          <a:xfrm>
            <a:off x="4123267" y="1574988"/>
            <a:ext cx="7772400" cy="1455891"/>
          </a:xfrm>
          <a:prstGeom prst="rect">
            <a:avLst/>
          </a:prstGeom>
        </p:spPr>
      </p:pic>
      <p:pic>
        <p:nvPicPr>
          <p:cNvPr id="7" name="Picture 6">
            <a:extLst>
              <a:ext uri="{FF2B5EF4-FFF2-40B4-BE49-F238E27FC236}">
                <a16:creationId xmlns:a16="http://schemas.microsoft.com/office/drawing/2014/main" id="{AFDD64DD-895A-D583-2D66-775DD07CCA2B}"/>
              </a:ext>
            </a:extLst>
          </p:cNvPr>
          <p:cNvPicPr>
            <a:picLocks noChangeAspect="1"/>
          </p:cNvPicPr>
          <p:nvPr/>
        </p:nvPicPr>
        <p:blipFill>
          <a:blip r:embed="rId4"/>
          <a:stretch>
            <a:fillRect/>
          </a:stretch>
        </p:blipFill>
        <p:spPr>
          <a:xfrm>
            <a:off x="4123267" y="3252788"/>
            <a:ext cx="7772400" cy="3222139"/>
          </a:xfrm>
          <a:prstGeom prst="rect">
            <a:avLst/>
          </a:prstGeom>
        </p:spPr>
      </p:pic>
      <p:sp>
        <p:nvSpPr>
          <p:cNvPr id="10" name="TextBox 9">
            <a:extLst>
              <a:ext uri="{FF2B5EF4-FFF2-40B4-BE49-F238E27FC236}">
                <a16:creationId xmlns:a16="http://schemas.microsoft.com/office/drawing/2014/main" id="{9213874A-E18B-DE00-2CE6-7DE3464CD282}"/>
              </a:ext>
            </a:extLst>
          </p:cNvPr>
          <p:cNvSpPr txBox="1"/>
          <p:nvPr/>
        </p:nvSpPr>
        <p:spPr>
          <a:xfrm>
            <a:off x="440266" y="3176364"/>
            <a:ext cx="3750734" cy="1785104"/>
          </a:xfrm>
          <a:prstGeom prst="rect">
            <a:avLst/>
          </a:prstGeom>
          <a:noFill/>
        </p:spPr>
        <p:txBody>
          <a:bodyPr wrap="square">
            <a:spAutoFit/>
          </a:bodyPr>
          <a:lstStyle/>
          <a:p>
            <a:pPr marL="171450" indent="-171450">
              <a:buFont typeface="Arial" panose="020B0604020202020204" pitchFamily="34" charset="0"/>
              <a:buChar char="•"/>
            </a:pPr>
            <a:r>
              <a:rPr lang="en-US" sz="1100" cap="small" dirty="0">
                <a:ln w="3175" cmpd="sng">
                  <a:noFill/>
                </a:ln>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The parent component, in which the child component is used, is the control center that sends instructions on what the element should be, with which proper ties, and in what quantity.</a:t>
            </a:r>
          </a:p>
          <a:p>
            <a:pPr marL="171450" indent="-171450">
              <a:buFont typeface="Arial" panose="020B0604020202020204" pitchFamily="34" charset="0"/>
              <a:buChar char="•"/>
            </a:pPr>
            <a:r>
              <a:rPr lang="en-US" sz="1100" cap="small" dirty="0">
                <a:ln w="3175" cmpd="sng">
                  <a:noFill/>
                </a:ln>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The child component is the description of the element (a template): what its structure is and what it can have. proper ties In React, data is passed from the props.</a:t>
            </a:r>
          </a:p>
          <a:p>
            <a:pPr marL="171450" indent="-171450">
              <a:buFont typeface="Arial" panose="020B0604020202020204" pitchFamily="34" charset="0"/>
              <a:buChar char="•"/>
            </a:pPr>
            <a:r>
              <a:rPr lang="en-US" sz="1100" cap="small" dirty="0">
                <a:ln w="3175" cmpd="sng">
                  <a:noFill/>
                </a:ln>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The opposite is not possible. parent component to the child through The child component receives data as it can use but cannot modify.</a:t>
            </a:r>
          </a:p>
        </p:txBody>
      </p:sp>
    </p:spTree>
    <p:extLst>
      <p:ext uri="{BB962C8B-B14F-4D97-AF65-F5344CB8AC3E}">
        <p14:creationId xmlns:p14="http://schemas.microsoft.com/office/powerpoint/2010/main" val="3992513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F970A-1D50-507E-A2BF-D8A756BA04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8E00DA-5FEB-542E-1FA5-F140FE86E009}"/>
              </a:ext>
            </a:extLst>
          </p:cNvPr>
          <p:cNvSpPr>
            <a:spLocks noGrp="1"/>
          </p:cNvSpPr>
          <p:nvPr>
            <p:ph type="title"/>
          </p:nvPr>
        </p:nvSpPr>
        <p:spPr>
          <a:xfrm>
            <a:off x="2415468" y="2846650"/>
            <a:ext cx="7361063" cy="1164699"/>
          </a:xfrm>
        </p:spPr>
        <p:txBody>
          <a:bodyPr>
            <a:normAutofit/>
          </a:bodyPr>
          <a:lstStyle/>
          <a:p>
            <a:pPr algn="ctr"/>
            <a:r>
              <a:rPr lang="en-US" dirty="0" err="1">
                <a:solidFill>
                  <a:srgbClr val="FFC000"/>
                </a:solidFill>
                <a:effectLst/>
                <a:latin typeface="AkayaTelivigala" pitchFamily="2" charset="77"/>
                <a:cs typeface="AkayaTelivigala" pitchFamily="2" charset="77"/>
              </a:rPr>
              <a:t>useState</a:t>
            </a:r>
            <a:br>
              <a:rPr lang="en-US" dirty="0">
                <a:solidFill>
                  <a:srgbClr val="FFC000"/>
                </a:solidFill>
                <a:effectLst/>
                <a:latin typeface="AkayaTelivigala" pitchFamily="2" charset="77"/>
                <a:cs typeface="AkayaTelivigala" pitchFamily="2" charset="77"/>
              </a:rPr>
            </a:br>
            <a:r>
              <a:rPr lang="en-US" dirty="0">
                <a:solidFill>
                  <a:srgbClr val="FFC000"/>
                </a:solidFill>
                <a:effectLst/>
                <a:latin typeface="AkayaTelivigala" pitchFamily="2" charset="77"/>
                <a:cs typeface="AkayaTelivigala" pitchFamily="2" charset="77"/>
              </a:rPr>
              <a:t>-- State Management</a:t>
            </a:r>
          </a:p>
        </p:txBody>
      </p:sp>
    </p:spTree>
    <p:extLst>
      <p:ext uri="{BB962C8B-B14F-4D97-AF65-F5344CB8AC3E}">
        <p14:creationId xmlns:p14="http://schemas.microsoft.com/office/powerpoint/2010/main" val="302226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B68B4-D586-3E3E-48D6-7177277D4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D40BC2-2059-94F8-63FF-342E835F114C}"/>
              </a:ext>
            </a:extLst>
          </p:cNvPr>
          <p:cNvSpPr>
            <a:spLocks noGrp="1"/>
          </p:cNvSpPr>
          <p:nvPr>
            <p:ph type="title"/>
          </p:nvPr>
        </p:nvSpPr>
        <p:spPr>
          <a:xfrm>
            <a:off x="533399" y="2117554"/>
            <a:ext cx="3332955" cy="2622892"/>
          </a:xfrm>
        </p:spPr>
        <p:txBody>
          <a:bodyPr anchor="ctr">
            <a:normAutofit/>
          </a:bodyPr>
          <a:lstStyle/>
          <a:p>
            <a:r>
              <a:rPr lang="en-US" sz="3100" cap="small" dirty="0" err="1">
                <a:solidFill>
                  <a:srgbClr val="FFC000"/>
                </a:solidFill>
                <a:effectLst/>
                <a:latin typeface="Calibri" panose="020F0502020204030204" pitchFamily="34" charset="0"/>
                <a:ea typeface="+mn-ea"/>
                <a:cs typeface="Calibri" panose="020F0502020204030204" pitchFamily="34" charset="0"/>
              </a:rPr>
              <a:t>useState</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 This is one of the React hooks that allows components to have their own state.</a:t>
            </a: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endPar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endParaRPr>
          </a:p>
        </p:txBody>
      </p:sp>
      <p:sp>
        <p:nvSpPr>
          <p:cNvPr id="3" name="Content Placeholder 2">
            <a:extLst>
              <a:ext uri="{FF2B5EF4-FFF2-40B4-BE49-F238E27FC236}">
                <a16:creationId xmlns:a16="http://schemas.microsoft.com/office/drawing/2014/main" id="{3778B1A0-DE7C-65E3-55FD-C9F078595443}"/>
              </a:ext>
            </a:extLst>
          </p:cNvPr>
          <p:cNvSpPr>
            <a:spLocks noGrp="1"/>
          </p:cNvSpPr>
          <p:nvPr>
            <p:ph idx="1"/>
          </p:nvPr>
        </p:nvSpPr>
        <p:spPr>
          <a:xfrm>
            <a:off x="4973046" y="330201"/>
            <a:ext cx="6253751" cy="1447799"/>
          </a:xfrm>
        </p:spPr>
        <p:txBody>
          <a:bodyPr>
            <a:normAutofit/>
          </a:bodyPr>
          <a:lstStyle/>
          <a:p>
            <a:r>
              <a:rPr lang="en-US" dirty="0">
                <a:effectLst/>
              </a:rPr>
              <a:t>The </a:t>
            </a:r>
            <a:r>
              <a:rPr lang="en-US" dirty="0" err="1">
                <a:effectLst/>
              </a:rPr>
              <a:t>useState</a:t>
            </a:r>
            <a:r>
              <a:rPr lang="en-US" dirty="0">
                <a:effectLst/>
              </a:rPr>
              <a:t> hooks takes an initial state and returns an array with two elements</a:t>
            </a:r>
            <a:endParaRPr lang="en-US" dirty="0">
              <a:solidFill>
                <a:schemeClr val="tx1"/>
              </a:solidFill>
              <a:effectLst/>
              <a:latin typeface="AkayaTelivigala" pitchFamily="2" charset="77"/>
              <a:cs typeface="AkayaTelivigala" pitchFamily="2" charset="77"/>
            </a:endParaRPr>
          </a:p>
          <a:p>
            <a:endParaRPr lang="en-US" dirty="0">
              <a:solidFill>
                <a:schemeClr val="tx1"/>
              </a:solidFill>
              <a:effectLst/>
              <a:latin typeface="AkayaTelivigala" pitchFamily="2" charset="77"/>
              <a:cs typeface="AkayaTelivigala" pitchFamily="2" charset="77"/>
            </a:endParaRPr>
          </a:p>
        </p:txBody>
      </p:sp>
      <p:pic>
        <p:nvPicPr>
          <p:cNvPr id="4" name="Picture 3">
            <a:extLst>
              <a:ext uri="{FF2B5EF4-FFF2-40B4-BE49-F238E27FC236}">
                <a16:creationId xmlns:a16="http://schemas.microsoft.com/office/drawing/2014/main" id="{861BF2FF-120B-5CA1-699E-DE5BEBB225F8}"/>
              </a:ext>
            </a:extLst>
          </p:cNvPr>
          <p:cNvPicPr>
            <a:picLocks noChangeAspect="1"/>
          </p:cNvPicPr>
          <p:nvPr/>
        </p:nvPicPr>
        <p:blipFill>
          <a:blip r:embed="rId3"/>
          <a:stretch>
            <a:fillRect/>
          </a:stretch>
        </p:blipFill>
        <p:spPr>
          <a:xfrm>
            <a:off x="5172571" y="1215854"/>
            <a:ext cx="5854700" cy="444500"/>
          </a:xfrm>
          <a:prstGeom prst="rect">
            <a:avLst/>
          </a:prstGeom>
        </p:spPr>
      </p:pic>
      <p:sp>
        <p:nvSpPr>
          <p:cNvPr id="8" name="Content Placeholder 2">
            <a:extLst>
              <a:ext uri="{FF2B5EF4-FFF2-40B4-BE49-F238E27FC236}">
                <a16:creationId xmlns:a16="http://schemas.microsoft.com/office/drawing/2014/main" id="{26940579-AD57-654F-CEA3-D697A35B62B3}"/>
              </a:ext>
            </a:extLst>
          </p:cNvPr>
          <p:cNvSpPr txBox="1">
            <a:spLocks/>
          </p:cNvSpPr>
          <p:nvPr/>
        </p:nvSpPr>
        <p:spPr>
          <a:xfrm>
            <a:off x="4973045" y="1822107"/>
            <a:ext cx="6253751" cy="1447799"/>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r>
              <a:rPr lang="en-US" dirty="0">
                <a:effectLst/>
              </a:rPr>
              <a:t>Example</a:t>
            </a:r>
            <a:endParaRPr lang="en-US" dirty="0">
              <a:solidFill>
                <a:schemeClr val="tx1"/>
              </a:solidFill>
              <a:effectLst/>
              <a:latin typeface="AkayaTelivigala" pitchFamily="2" charset="77"/>
              <a:cs typeface="AkayaTelivigala" pitchFamily="2" charset="77"/>
            </a:endParaRPr>
          </a:p>
          <a:p>
            <a:endParaRPr lang="en-US" dirty="0">
              <a:solidFill>
                <a:schemeClr val="tx1"/>
              </a:solidFill>
              <a:effectLst/>
              <a:latin typeface="AkayaTelivigala" pitchFamily="2" charset="77"/>
              <a:cs typeface="AkayaTelivigala" pitchFamily="2" charset="77"/>
            </a:endParaRPr>
          </a:p>
        </p:txBody>
      </p:sp>
    </p:spTree>
    <p:extLst>
      <p:ext uri="{BB962C8B-B14F-4D97-AF65-F5344CB8AC3E}">
        <p14:creationId xmlns:p14="http://schemas.microsoft.com/office/powerpoint/2010/main" val="1632650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97B47-B14C-A308-13AE-606444A19D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C55CC2-A8A5-F940-5790-2870B2045957}"/>
              </a:ext>
            </a:extLst>
          </p:cNvPr>
          <p:cNvSpPr>
            <a:spLocks noGrp="1"/>
          </p:cNvSpPr>
          <p:nvPr>
            <p:ph type="title"/>
          </p:nvPr>
        </p:nvSpPr>
        <p:spPr>
          <a:xfrm>
            <a:off x="533399" y="2117554"/>
            <a:ext cx="3332955" cy="2622892"/>
          </a:xfrm>
        </p:spPr>
        <p:txBody>
          <a:bodyPr anchor="ctr">
            <a:normAutofit/>
          </a:bodyPr>
          <a:lstStyle/>
          <a:p>
            <a:r>
              <a:rPr lang="en-US" sz="3100" cap="small" dirty="0">
                <a:solidFill>
                  <a:srgbClr val="FFC000"/>
                </a:solidFill>
                <a:effectLst/>
                <a:latin typeface="Calibri" panose="020F0502020204030204" pitchFamily="34" charset="0"/>
                <a:ea typeface="+mn-ea"/>
                <a:cs typeface="Calibri" panose="020F0502020204030204" pitchFamily="34" charset="0"/>
              </a:rPr>
              <a:t>State Update</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 State can only be changed through </a:t>
            </a:r>
            <a:r>
              <a:rPr lang="en-US" sz="1200" cap="small" dirty="0" err="1">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setState</a:t>
            </a: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a:t>
            </a: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endPar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endParaRPr>
          </a:p>
        </p:txBody>
      </p:sp>
      <p:sp>
        <p:nvSpPr>
          <p:cNvPr id="3" name="Content Placeholder 2">
            <a:extLst>
              <a:ext uri="{FF2B5EF4-FFF2-40B4-BE49-F238E27FC236}">
                <a16:creationId xmlns:a16="http://schemas.microsoft.com/office/drawing/2014/main" id="{974E86F0-5026-78B0-C571-3F929E7CF7FB}"/>
              </a:ext>
            </a:extLst>
          </p:cNvPr>
          <p:cNvSpPr>
            <a:spLocks noGrp="1"/>
          </p:cNvSpPr>
          <p:nvPr>
            <p:ph idx="1"/>
          </p:nvPr>
        </p:nvSpPr>
        <p:spPr>
          <a:xfrm>
            <a:off x="4973046" y="330202"/>
            <a:ext cx="6253751" cy="1126065"/>
          </a:xfrm>
        </p:spPr>
        <p:txBody>
          <a:bodyPr>
            <a:normAutofit/>
          </a:bodyPr>
          <a:lstStyle/>
          <a:p>
            <a:pPr marL="0" indent="0">
              <a:buNone/>
            </a:pPr>
            <a:r>
              <a:rPr lang="en-US" sz="1200" dirty="0">
                <a:effectLst/>
              </a:rPr>
              <a:t>In React, you cannot update state directly, because React uses a special mechanism to track state changes, which is based on the </a:t>
            </a:r>
            <a:r>
              <a:rPr lang="en-US" sz="1200" b="1" dirty="0" err="1">
                <a:solidFill>
                  <a:srgbClr val="00B0F0"/>
                </a:solidFill>
                <a:effectLst/>
              </a:rPr>
              <a:t>setState</a:t>
            </a:r>
            <a:r>
              <a:rPr lang="en-US" sz="1200" dirty="0">
                <a:effectLst/>
              </a:rPr>
              <a:t> method.</a:t>
            </a:r>
          </a:p>
          <a:p>
            <a:endParaRPr lang="en-US" dirty="0">
              <a:solidFill>
                <a:schemeClr val="tx1"/>
              </a:solidFill>
              <a:effectLst/>
              <a:latin typeface="AkayaTelivigala" pitchFamily="2" charset="77"/>
              <a:cs typeface="AkayaTelivigala" pitchFamily="2" charset="77"/>
            </a:endParaRPr>
          </a:p>
        </p:txBody>
      </p:sp>
      <p:sp>
        <p:nvSpPr>
          <p:cNvPr id="8" name="Content Placeholder 2">
            <a:extLst>
              <a:ext uri="{FF2B5EF4-FFF2-40B4-BE49-F238E27FC236}">
                <a16:creationId xmlns:a16="http://schemas.microsoft.com/office/drawing/2014/main" id="{3900FE20-C167-6A24-0D45-4739334EDB7A}"/>
              </a:ext>
            </a:extLst>
          </p:cNvPr>
          <p:cNvSpPr txBox="1">
            <a:spLocks/>
          </p:cNvSpPr>
          <p:nvPr/>
        </p:nvSpPr>
        <p:spPr>
          <a:xfrm>
            <a:off x="4973045" y="1822107"/>
            <a:ext cx="6253751" cy="3190160"/>
          </a:xfrm>
          <a:prstGeom prst="rect">
            <a:avLst/>
          </a:prstGeom>
        </p:spPr>
        <p:txBody>
          <a:bodyPr vert="horz" lIns="91440" tIns="45720" rIns="91440" bIns="45720" rtlCol="0" anchor="ctr">
            <a:normAutofit lnSpcReduction="10000"/>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r>
              <a:rPr lang="en-US" dirty="0">
                <a:solidFill>
                  <a:srgbClr val="FFC000"/>
                </a:solidFill>
                <a:effectLst/>
                <a:latin typeface="AkayaTelivigala" pitchFamily="2" charset="77"/>
                <a:cs typeface="AkayaTelivigala" pitchFamily="2" charset="77"/>
              </a:rPr>
              <a:t>Automatic rendering management</a:t>
            </a:r>
            <a:br>
              <a:rPr lang="en-US" dirty="0">
                <a:solidFill>
                  <a:srgbClr val="FFC000"/>
                </a:solidFill>
                <a:effectLst/>
                <a:latin typeface="AkayaTelivigala" pitchFamily="2" charset="77"/>
                <a:cs typeface="AkayaTelivigala" pitchFamily="2" charset="77"/>
              </a:rPr>
            </a:br>
            <a:r>
              <a:rPr lang="en-US" sz="1400" dirty="0">
                <a:ln w="3175" cmpd="sng">
                  <a:noFill/>
                </a:ln>
                <a:effectLst/>
                <a:latin typeface="AkayaTelivigala" pitchFamily="2" charset="77"/>
                <a:cs typeface="AkayaTelivigala" pitchFamily="2" charset="77"/>
              </a:rPr>
              <a:t>react tracks when state changes through </a:t>
            </a:r>
            <a:r>
              <a:rPr lang="en-US" sz="1400" dirty="0" err="1">
                <a:ln w="3175" cmpd="sng">
                  <a:noFill/>
                </a:ln>
                <a:effectLst/>
                <a:latin typeface="AkayaTelivigala" pitchFamily="2" charset="77"/>
                <a:cs typeface="AkayaTelivigala" pitchFamily="2" charset="77"/>
              </a:rPr>
              <a:t>setState</a:t>
            </a:r>
            <a:r>
              <a:rPr lang="en-US" sz="1400" dirty="0">
                <a:ln w="3175" cmpd="sng">
                  <a:noFill/>
                </a:ln>
                <a:effectLst/>
                <a:latin typeface="AkayaTelivigala" pitchFamily="2" charset="77"/>
                <a:cs typeface="AkayaTelivigala" pitchFamily="2" charset="77"/>
              </a:rPr>
              <a:t>, and knows it need to re-render the component. </a:t>
            </a:r>
          </a:p>
          <a:p>
            <a:r>
              <a:rPr lang="en-US" dirty="0">
                <a:solidFill>
                  <a:srgbClr val="FFC000"/>
                </a:solidFill>
                <a:effectLst/>
                <a:latin typeface="AkayaTelivigala" pitchFamily="2" charset="77"/>
                <a:cs typeface="AkayaTelivigala" pitchFamily="2" charset="77"/>
              </a:rPr>
              <a:t>Immutability of state</a:t>
            </a:r>
            <a:br>
              <a:rPr lang="en-US" dirty="0">
                <a:solidFill>
                  <a:srgbClr val="FFC000"/>
                </a:solidFill>
                <a:effectLst/>
                <a:latin typeface="AkayaTelivigala" pitchFamily="2" charset="77"/>
                <a:cs typeface="AkayaTelivigala" pitchFamily="2" charset="77"/>
              </a:rPr>
            </a:br>
            <a:r>
              <a:rPr lang="en-US" sz="1400" dirty="0">
                <a:ln w="3175" cmpd="sng">
                  <a:noFill/>
                </a:ln>
                <a:effectLst/>
                <a:latin typeface="AkayaTelivigala" pitchFamily="2" charset="77"/>
                <a:cs typeface="AkayaTelivigala" pitchFamily="2" charset="77"/>
              </a:rPr>
              <a:t>React relies on immutable state for better performance. When state is updated via </a:t>
            </a:r>
            <a:r>
              <a:rPr lang="en-US" sz="1400" dirty="0" err="1">
                <a:ln w="3175" cmpd="sng">
                  <a:noFill/>
                </a:ln>
                <a:effectLst/>
                <a:latin typeface="AkayaTelivigala" pitchFamily="2" charset="77"/>
                <a:cs typeface="AkayaTelivigala" pitchFamily="2" charset="77"/>
              </a:rPr>
              <a:t>setState</a:t>
            </a:r>
            <a:r>
              <a:rPr lang="en-US" sz="1400" dirty="0">
                <a:ln w="3175" cmpd="sng">
                  <a:noFill/>
                </a:ln>
                <a:effectLst/>
                <a:latin typeface="AkayaTelivigala" pitchFamily="2" charset="77"/>
                <a:cs typeface="AkayaTelivigala" pitchFamily="2" charset="77"/>
              </a:rPr>
              <a:t>, React creates a new copy of the state instead of modifying the existing one, thus allow react to quickly detect changes by comparing the new and old state.</a:t>
            </a:r>
          </a:p>
          <a:p>
            <a:r>
              <a:rPr lang="en-US" dirty="0">
                <a:solidFill>
                  <a:srgbClr val="FFC000"/>
                </a:solidFill>
                <a:effectLst/>
                <a:latin typeface="AkayaTelivigala" pitchFamily="2" charset="77"/>
                <a:cs typeface="AkayaTelivigala" pitchFamily="2" charset="77"/>
              </a:rPr>
              <a:t>Asynchronous updates</a:t>
            </a:r>
            <a:br>
              <a:rPr lang="en-US" dirty="0">
                <a:solidFill>
                  <a:srgbClr val="FFC000"/>
                </a:solidFill>
                <a:effectLst/>
                <a:latin typeface="AkayaTelivigala" pitchFamily="2" charset="77"/>
                <a:cs typeface="AkayaTelivigala" pitchFamily="2" charset="77"/>
              </a:rPr>
            </a:br>
            <a:r>
              <a:rPr lang="en-US" sz="1500" dirty="0">
                <a:ln w="3175" cmpd="sng">
                  <a:noFill/>
                </a:ln>
                <a:effectLst/>
                <a:latin typeface="AkayaTelivigala" pitchFamily="2" charset="77"/>
                <a:cs typeface="AkayaTelivigala" pitchFamily="2" charset="77"/>
              </a:rPr>
              <a:t>State updated in react can be asynchronous, and they are often batched for performance. </a:t>
            </a:r>
            <a:r>
              <a:rPr lang="en-US" sz="1500" dirty="0" err="1">
                <a:ln w="3175" cmpd="sng">
                  <a:noFill/>
                </a:ln>
                <a:effectLst/>
                <a:latin typeface="AkayaTelivigala" pitchFamily="2" charset="77"/>
                <a:cs typeface="AkayaTelivigala" pitchFamily="2" charset="77"/>
              </a:rPr>
              <a:t>setState</a:t>
            </a:r>
            <a:r>
              <a:rPr lang="en-US" sz="1500" dirty="0">
                <a:ln w="3175" cmpd="sng">
                  <a:noFill/>
                </a:ln>
                <a:effectLst/>
                <a:latin typeface="AkayaTelivigala" pitchFamily="2" charset="77"/>
                <a:cs typeface="AkayaTelivigala" pitchFamily="2" charset="77"/>
              </a:rPr>
              <a:t> ensure React processes updates in order and with latest data.</a:t>
            </a:r>
          </a:p>
        </p:txBody>
      </p:sp>
      <p:sp>
        <p:nvSpPr>
          <p:cNvPr id="5" name="Rectangle 4">
            <a:extLst>
              <a:ext uri="{FF2B5EF4-FFF2-40B4-BE49-F238E27FC236}">
                <a16:creationId xmlns:a16="http://schemas.microsoft.com/office/drawing/2014/main" id="{08F442B1-BCC4-C616-F212-E707D902495C}"/>
              </a:ext>
            </a:extLst>
          </p:cNvPr>
          <p:cNvSpPr/>
          <p:nvPr/>
        </p:nvSpPr>
        <p:spPr>
          <a:xfrm>
            <a:off x="4910662" y="393701"/>
            <a:ext cx="6180667" cy="5164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5940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DA3DB-894D-1D3C-662F-0A722A4461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3A1797-2324-2EDF-727B-59FEE30794C2}"/>
              </a:ext>
            </a:extLst>
          </p:cNvPr>
          <p:cNvSpPr>
            <a:spLocks noGrp="1"/>
          </p:cNvSpPr>
          <p:nvPr>
            <p:ph type="title"/>
          </p:nvPr>
        </p:nvSpPr>
        <p:spPr>
          <a:xfrm>
            <a:off x="2415468" y="2846650"/>
            <a:ext cx="7361063" cy="1164699"/>
          </a:xfrm>
        </p:spPr>
        <p:txBody>
          <a:bodyPr>
            <a:normAutofit/>
          </a:bodyPr>
          <a:lstStyle/>
          <a:p>
            <a:pPr algn="ctr"/>
            <a:r>
              <a:rPr lang="en-US" dirty="0">
                <a:solidFill>
                  <a:srgbClr val="FFC000"/>
                </a:solidFill>
                <a:effectLst/>
                <a:latin typeface="AkayaTelivigala" pitchFamily="2" charset="77"/>
                <a:cs typeface="AkayaTelivigala" pitchFamily="2" charset="77"/>
              </a:rPr>
              <a:t>When to use</a:t>
            </a:r>
            <a:br>
              <a:rPr lang="en-US" dirty="0">
                <a:solidFill>
                  <a:srgbClr val="FFC000"/>
                </a:solidFill>
                <a:effectLst/>
                <a:latin typeface="AkayaTelivigala" pitchFamily="2" charset="77"/>
                <a:cs typeface="AkayaTelivigala" pitchFamily="2" charset="77"/>
              </a:rPr>
            </a:br>
            <a:r>
              <a:rPr lang="en-US" dirty="0">
                <a:solidFill>
                  <a:srgbClr val="FFC000"/>
                </a:solidFill>
                <a:effectLst/>
                <a:latin typeface="AkayaTelivigala" pitchFamily="2" charset="77"/>
                <a:cs typeface="AkayaTelivigala" pitchFamily="2" charset="77"/>
              </a:rPr>
              <a:t>-- </a:t>
            </a:r>
            <a:r>
              <a:rPr lang="en-US" dirty="0" err="1">
                <a:solidFill>
                  <a:srgbClr val="FFC000"/>
                </a:solidFill>
                <a:effectLst/>
                <a:latin typeface="AkayaTelivigala" pitchFamily="2" charset="77"/>
                <a:cs typeface="AkayaTelivigala" pitchFamily="2" charset="77"/>
              </a:rPr>
              <a:t>UseState</a:t>
            </a:r>
            <a:r>
              <a:rPr lang="en-US" dirty="0">
                <a:solidFill>
                  <a:srgbClr val="FFC000"/>
                </a:solidFill>
                <a:effectLst/>
                <a:latin typeface="AkayaTelivigala" pitchFamily="2" charset="77"/>
                <a:cs typeface="AkayaTelivigala" pitchFamily="2" charset="77"/>
              </a:rPr>
              <a:t> – </a:t>
            </a:r>
            <a:r>
              <a:rPr lang="en-US" sz="2000" dirty="0">
                <a:solidFill>
                  <a:schemeClr val="tx1">
                    <a:lumMod val="95000"/>
                  </a:schemeClr>
                </a:solidFill>
                <a:effectLst/>
                <a:latin typeface="AkayaTelivigala" pitchFamily="2" charset="77"/>
                <a:cs typeface="AkayaTelivigala" pitchFamily="2" charset="77"/>
              </a:rPr>
              <a:t>and how exactly</a:t>
            </a:r>
          </a:p>
        </p:txBody>
      </p:sp>
    </p:spTree>
    <p:extLst>
      <p:ext uri="{BB962C8B-B14F-4D97-AF65-F5344CB8AC3E}">
        <p14:creationId xmlns:p14="http://schemas.microsoft.com/office/powerpoint/2010/main" val="16818505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4062B-8881-6DBD-07A9-709C34AA97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89059-6BBA-973A-CD3C-896DE0998A14}"/>
              </a:ext>
            </a:extLst>
          </p:cNvPr>
          <p:cNvSpPr>
            <a:spLocks noGrp="1"/>
          </p:cNvSpPr>
          <p:nvPr>
            <p:ph type="title"/>
          </p:nvPr>
        </p:nvSpPr>
        <p:spPr>
          <a:xfrm>
            <a:off x="533399" y="2117554"/>
            <a:ext cx="3332955" cy="2622892"/>
          </a:xfrm>
        </p:spPr>
        <p:txBody>
          <a:bodyPr anchor="ctr">
            <a:normAutofit/>
          </a:bodyPr>
          <a:lstStyle/>
          <a:p>
            <a:r>
              <a:rPr lang="en-US" sz="3100" cap="small" dirty="0" err="1">
                <a:solidFill>
                  <a:srgbClr val="FFC000"/>
                </a:solidFill>
                <a:effectLst/>
                <a:latin typeface="Calibri" panose="020F0502020204030204" pitchFamily="34" charset="0"/>
                <a:ea typeface="+mn-ea"/>
                <a:cs typeface="Calibri" panose="020F0502020204030204" pitchFamily="34" charset="0"/>
              </a:rPr>
              <a:t>useState</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 When to use</a:t>
            </a: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endPar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endParaRPr>
          </a:p>
        </p:txBody>
      </p:sp>
      <p:sp>
        <p:nvSpPr>
          <p:cNvPr id="3" name="Content Placeholder 2">
            <a:extLst>
              <a:ext uri="{FF2B5EF4-FFF2-40B4-BE49-F238E27FC236}">
                <a16:creationId xmlns:a16="http://schemas.microsoft.com/office/drawing/2014/main" id="{6D6FC6F2-5E64-8753-06F3-2DED4A53CA1C}"/>
              </a:ext>
            </a:extLst>
          </p:cNvPr>
          <p:cNvSpPr>
            <a:spLocks noGrp="1"/>
          </p:cNvSpPr>
          <p:nvPr>
            <p:ph idx="1"/>
          </p:nvPr>
        </p:nvSpPr>
        <p:spPr>
          <a:xfrm>
            <a:off x="4973046" y="330201"/>
            <a:ext cx="6253751" cy="3445932"/>
          </a:xfrm>
        </p:spPr>
        <p:txBody>
          <a:bodyPr>
            <a:normAutofit/>
          </a:bodyPr>
          <a:lstStyle/>
          <a:p>
            <a:pPr marL="0" indent="0">
              <a:buNone/>
            </a:pPr>
            <a:r>
              <a:rPr lang="en-US" dirty="0">
                <a:solidFill>
                  <a:srgbClr val="FFC000"/>
                </a:solidFill>
                <a:effectLst/>
                <a:latin typeface="AkayaTelivigala" pitchFamily="2" charset="77"/>
                <a:cs typeface="AkayaTelivigala" pitchFamily="2" charset="77"/>
              </a:rPr>
              <a:t>What </a:t>
            </a:r>
            <a:r>
              <a:rPr lang="en-US" dirty="0" err="1">
                <a:solidFill>
                  <a:srgbClr val="FFC000"/>
                </a:solidFill>
                <a:effectLst/>
                <a:latin typeface="AkayaTelivigala" pitchFamily="2" charset="77"/>
                <a:cs typeface="AkayaTelivigala" pitchFamily="2" charset="77"/>
              </a:rPr>
              <a:t>useState</a:t>
            </a:r>
            <a:r>
              <a:rPr lang="en-US" dirty="0">
                <a:solidFill>
                  <a:srgbClr val="FFC000"/>
                </a:solidFill>
                <a:effectLst/>
                <a:latin typeface="AkayaTelivigala" pitchFamily="2" charset="77"/>
                <a:cs typeface="AkayaTelivigala" pitchFamily="2" charset="77"/>
              </a:rPr>
              <a:t> does</a:t>
            </a:r>
          </a:p>
          <a:p>
            <a:r>
              <a:rPr lang="en-US" sz="1700" b="1" dirty="0">
                <a:solidFill>
                  <a:srgbClr val="00B0F0"/>
                </a:solidFill>
                <a:effectLst/>
                <a:latin typeface="AkayaTelivigala" pitchFamily="2" charset="77"/>
                <a:cs typeface="AkayaTelivigala" pitchFamily="2" charset="77"/>
              </a:rPr>
              <a:t>Preserves values between renders: </a:t>
            </a:r>
            <a:r>
              <a:rPr lang="en-US" sz="1500" dirty="0">
                <a:ln w="3175" cmpd="sng">
                  <a:noFill/>
                </a:ln>
                <a:effectLst/>
                <a:latin typeface="AkayaTelivigala" pitchFamily="2" charset="77"/>
                <a:cs typeface="AkayaTelivigala" pitchFamily="2" charset="77"/>
              </a:rPr>
              <a:t>A value created with </a:t>
            </a:r>
            <a:r>
              <a:rPr lang="en-US" dirty="0" err="1">
                <a:solidFill>
                  <a:srgbClr val="FFC000"/>
                </a:solidFill>
                <a:effectLst/>
                <a:latin typeface="AkayaTelivigala" pitchFamily="2" charset="77"/>
                <a:cs typeface="AkayaTelivigala" pitchFamily="2" charset="77"/>
              </a:rPr>
              <a:t>useState</a:t>
            </a:r>
            <a:r>
              <a:rPr lang="en-US" sz="1500" dirty="0">
                <a:ln w="3175" cmpd="sng">
                  <a:noFill/>
                </a:ln>
                <a:effectLst/>
                <a:latin typeface="AkayaTelivigala" pitchFamily="2" charset="77"/>
                <a:cs typeface="AkayaTelivigala" pitchFamily="2" charset="77"/>
              </a:rPr>
              <a:t> is retained across re-renders of the component.</a:t>
            </a:r>
          </a:p>
          <a:p>
            <a:r>
              <a:rPr lang="en-US" sz="1700" b="1" dirty="0">
                <a:solidFill>
                  <a:srgbClr val="00B0F0"/>
                </a:solidFill>
                <a:effectLst/>
                <a:latin typeface="AkayaTelivigala" pitchFamily="2" charset="77"/>
                <a:cs typeface="AkayaTelivigala" pitchFamily="2" charset="77"/>
              </a:rPr>
              <a:t>Triggers re -rendering on change: </a:t>
            </a:r>
            <a:r>
              <a:rPr lang="en-US" sz="1500" dirty="0">
                <a:ln w="3175" cmpd="sng">
                  <a:noFill/>
                </a:ln>
                <a:effectLst/>
                <a:latin typeface="AkayaTelivigala" pitchFamily="2" charset="77"/>
                <a:cs typeface="AkayaTelivigala" pitchFamily="2" charset="77"/>
              </a:rPr>
              <a:t>When the state is updated through </a:t>
            </a:r>
            <a:r>
              <a:rPr lang="en-US" dirty="0" err="1">
                <a:solidFill>
                  <a:srgbClr val="FFC000"/>
                </a:solidFill>
                <a:effectLst/>
                <a:latin typeface="AkayaTelivigala" pitchFamily="2" charset="77"/>
                <a:cs typeface="AkayaTelivigala" pitchFamily="2" charset="77"/>
              </a:rPr>
              <a:t>setState</a:t>
            </a:r>
            <a:r>
              <a:rPr lang="en-US" sz="1500" dirty="0">
                <a:ln w="3175" cmpd="sng">
                  <a:noFill/>
                </a:ln>
                <a:effectLst/>
                <a:latin typeface="AkayaTelivigala" pitchFamily="2" charset="77"/>
                <a:cs typeface="AkayaTelivigala" pitchFamily="2" charset="77"/>
              </a:rPr>
              <a:t>, the component automatically re -renders to display the new data .</a:t>
            </a:r>
          </a:p>
          <a:p>
            <a:r>
              <a:rPr lang="en-US" sz="1700" b="1" dirty="0">
                <a:solidFill>
                  <a:srgbClr val="00B0F0"/>
                </a:solidFill>
                <a:effectLst/>
                <a:latin typeface="AkayaTelivigala" pitchFamily="2" charset="77"/>
                <a:cs typeface="AkayaTelivigala" pitchFamily="2" charset="77"/>
              </a:rPr>
              <a:t>Maintains immutability: </a:t>
            </a:r>
            <a:r>
              <a:rPr lang="en-US" sz="1500" dirty="0">
                <a:ln w="3175" cmpd="sng">
                  <a:noFill/>
                </a:ln>
                <a:effectLst/>
                <a:latin typeface="AkayaTelivigala" pitchFamily="2" charset="77"/>
                <a:cs typeface="AkayaTelivigala" pitchFamily="2" charset="77"/>
              </a:rPr>
              <a:t>new values for optimized rendering. Updating state with </a:t>
            </a:r>
            <a:r>
              <a:rPr lang="en-US" dirty="0" err="1">
                <a:solidFill>
                  <a:srgbClr val="FFC000"/>
                </a:solidFill>
                <a:effectLst/>
                <a:latin typeface="AkayaTelivigala" pitchFamily="2" charset="77"/>
                <a:cs typeface="AkayaTelivigala" pitchFamily="2" charset="77"/>
              </a:rPr>
              <a:t>setState</a:t>
            </a:r>
            <a:r>
              <a:rPr lang="en-US" sz="1500" dirty="0">
                <a:ln w="3175" cmpd="sng">
                  <a:noFill/>
                </a:ln>
                <a:effectLst/>
                <a:latin typeface="AkayaTelivigala" pitchFamily="2" charset="77"/>
                <a:cs typeface="AkayaTelivigala" pitchFamily="2" charset="77"/>
              </a:rPr>
              <a:t> creates a new version of the state, allowing React to compare old and</a:t>
            </a:r>
          </a:p>
          <a:p>
            <a:endParaRPr lang="en-US" dirty="0">
              <a:solidFill>
                <a:schemeClr val="tx1"/>
              </a:solidFill>
              <a:effectLst/>
              <a:latin typeface="AkayaTelivigala" pitchFamily="2" charset="77"/>
              <a:cs typeface="AkayaTelivigala" pitchFamily="2" charset="77"/>
            </a:endParaRPr>
          </a:p>
        </p:txBody>
      </p:sp>
      <p:sp>
        <p:nvSpPr>
          <p:cNvPr id="8" name="Content Placeholder 2">
            <a:extLst>
              <a:ext uri="{FF2B5EF4-FFF2-40B4-BE49-F238E27FC236}">
                <a16:creationId xmlns:a16="http://schemas.microsoft.com/office/drawing/2014/main" id="{1961632C-E0E2-0837-BC5E-2F4443119652}"/>
              </a:ext>
            </a:extLst>
          </p:cNvPr>
          <p:cNvSpPr txBox="1">
            <a:spLocks/>
          </p:cNvSpPr>
          <p:nvPr/>
        </p:nvSpPr>
        <p:spPr>
          <a:xfrm>
            <a:off x="4973046" y="3614380"/>
            <a:ext cx="6253751" cy="2913419"/>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en-US" dirty="0">
                <a:solidFill>
                  <a:srgbClr val="FFC000"/>
                </a:solidFill>
                <a:effectLst/>
                <a:latin typeface="AkayaTelivigala" pitchFamily="2" charset="77"/>
                <a:cs typeface="AkayaTelivigala" pitchFamily="2" charset="77"/>
              </a:rPr>
              <a:t>Use </a:t>
            </a:r>
            <a:r>
              <a:rPr lang="en-US" dirty="0" err="1">
                <a:solidFill>
                  <a:srgbClr val="FFC000"/>
                </a:solidFill>
                <a:effectLst/>
                <a:latin typeface="AkayaTelivigala" pitchFamily="2" charset="77"/>
                <a:cs typeface="AkayaTelivigala" pitchFamily="2" charset="77"/>
              </a:rPr>
              <a:t>useStae</a:t>
            </a:r>
            <a:r>
              <a:rPr lang="en-US" dirty="0">
                <a:solidFill>
                  <a:srgbClr val="FFC000"/>
                </a:solidFill>
                <a:effectLst/>
                <a:latin typeface="AkayaTelivigala" pitchFamily="2" charset="77"/>
                <a:cs typeface="AkayaTelivigala" pitchFamily="2" charset="77"/>
              </a:rPr>
              <a:t> when you need to:</a:t>
            </a:r>
          </a:p>
          <a:p>
            <a:r>
              <a:rPr lang="en-US" b="1" dirty="0">
                <a:solidFill>
                  <a:srgbClr val="00B0F0"/>
                </a:solidFill>
                <a:effectLst/>
                <a:latin typeface="AkayaTelivigala" pitchFamily="2" charset="77"/>
                <a:cs typeface="AkayaTelivigala" pitchFamily="2" charset="77"/>
              </a:rPr>
              <a:t>Track state for rendering: </a:t>
            </a:r>
            <a:r>
              <a:rPr lang="en-US" sz="1500" dirty="0">
                <a:ln w="3175" cmpd="sng">
                  <a:noFill/>
                </a:ln>
                <a:effectLst/>
                <a:latin typeface="AkayaTelivigala" pitchFamily="2" charset="77"/>
                <a:cs typeface="AkayaTelivigala" pitchFamily="2" charset="77"/>
              </a:rPr>
              <a:t>If a value created with </a:t>
            </a:r>
            <a:r>
              <a:rPr lang="en-US" sz="1500" dirty="0" err="1">
                <a:ln w="3175" cmpd="sng">
                  <a:noFill/>
                </a:ln>
                <a:effectLst/>
                <a:latin typeface="AkayaTelivigala" pitchFamily="2" charset="77"/>
                <a:cs typeface="AkayaTelivigala" pitchFamily="2" charset="77"/>
              </a:rPr>
              <a:t>useState</a:t>
            </a:r>
            <a:r>
              <a:rPr lang="en-US" sz="1500" dirty="0">
                <a:ln w="3175" cmpd="sng">
                  <a:noFill/>
                </a:ln>
                <a:effectLst/>
                <a:latin typeface="AkayaTelivigala" pitchFamily="2" charset="77"/>
                <a:cs typeface="AkayaTelivigala" pitchFamily="2" charset="77"/>
              </a:rPr>
              <a:t> changes, the component automatically re -renders, showing the updated value in the UI.</a:t>
            </a:r>
          </a:p>
          <a:p>
            <a:r>
              <a:rPr lang="en-US" b="1" dirty="0">
                <a:solidFill>
                  <a:srgbClr val="00B0F0"/>
                </a:solidFill>
                <a:effectLst/>
                <a:latin typeface="AkayaTelivigala" pitchFamily="2" charset="77"/>
                <a:cs typeface="AkayaTelivigala" pitchFamily="2" charset="77"/>
              </a:rPr>
              <a:t>Preserve values between renders: </a:t>
            </a:r>
            <a:r>
              <a:rPr lang="en-US" sz="1500" dirty="0">
                <a:ln w="3175" cmpd="sng">
                  <a:noFill/>
                </a:ln>
                <a:effectLst/>
                <a:latin typeface="AkayaTelivigala" pitchFamily="2" charset="77"/>
                <a:cs typeface="AkayaTelivigala" pitchFamily="2" charset="77"/>
              </a:rPr>
              <a:t>Variables declared with </a:t>
            </a:r>
            <a:r>
              <a:rPr lang="en-US" sz="1500" dirty="0" err="1">
                <a:ln w="3175" cmpd="sng">
                  <a:noFill/>
                </a:ln>
                <a:effectLst/>
                <a:latin typeface="AkayaTelivigala" pitchFamily="2" charset="77"/>
                <a:cs typeface="AkayaTelivigala" pitchFamily="2" charset="77"/>
              </a:rPr>
              <a:t>useState</a:t>
            </a:r>
            <a:r>
              <a:rPr lang="en-US" sz="1500" dirty="0">
                <a:ln w="3175" cmpd="sng">
                  <a:noFill/>
                </a:ln>
                <a:effectLst/>
                <a:latin typeface="AkayaTelivigala" pitchFamily="2" charset="77"/>
                <a:cs typeface="AkayaTelivigala" pitchFamily="2" charset="77"/>
              </a:rPr>
              <a:t> keep their value across renders, unlike normal variables which reset.</a:t>
            </a:r>
          </a:p>
          <a:p>
            <a:pPr marL="0" indent="0">
              <a:buNone/>
            </a:pPr>
            <a:endParaRPr lang="en-US" dirty="0">
              <a:solidFill>
                <a:srgbClr val="FFC000"/>
              </a:solidFill>
              <a:effectLst/>
              <a:latin typeface="AkayaTelivigala" pitchFamily="2" charset="77"/>
              <a:cs typeface="AkayaTelivigala" pitchFamily="2" charset="77"/>
            </a:endParaRPr>
          </a:p>
          <a:p>
            <a:endParaRPr lang="en-US" dirty="0">
              <a:solidFill>
                <a:schemeClr val="tx1"/>
              </a:solidFill>
              <a:effectLst/>
              <a:latin typeface="AkayaTelivigala" pitchFamily="2" charset="77"/>
              <a:cs typeface="AkayaTelivigala" pitchFamily="2" charset="77"/>
            </a:endParaRPr>
          </a:p>
        </p:txBody>
      </p:sp>
    </p:spTree>
    <p:extLst>
      <p:ext uri="{BB962C8B-B14F-4D97-AF65-F5344CB8AC3E}">
        <p14:creationId xmlns:p14="http://schemas.microsoft.com/office/powerpoint/2010/main" val="3164531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B368F-106A-911E-6299-E5900C160A69}"/>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E40458AE-AA53-7BBC-B614-66D71874C457}"/>
              </a:ext>
            </a:extLst>
          </p:cNvPr>
          <p:cNvSpPr/>
          <p:nvPr/>
        </p:nvSpPr>
        <p:spPr>
          <a:xfrm>
            <a:off x="787400" y="355600"/>
            <a:ext cx="3996267" cy="1100667"/>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C000"/>
                </a:solidFill>
              </a:rPr>
              <a:t>The data of a regular variable does not change during the program’s execution…</a:t>
            </a:r>
          </a:p>
        </p:txBody>
      </p:sp>
      <p:sp>
        <p:nvSpPr>
          <p:cNvPr id="6" name="Rectangle 5">
            <a:extLst>
              <a:ext uri="{FF2B5EF4-FFF2-40B4-BE49-F238E27FC236}">
                <a16:creationId xmlns:a16="http://schemas.microsoft.com/office/drawing/2014/main" id="{6D1B4177-FBDB-6E0F-C786-D36B183763D5}"/>
              </a:ext>
            </a:extLst>
          </p:cNvPr>
          <p:cNvSpPr/>
          <p:nvPr/>
        </p:nvSpPr>
        <p:spPr>
          <a:xfrm>
            <a:off x="1350433" y="2810934"/>
            <a:ext cx="2870200" cy="1032933"/>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C000"/>
                </a:solidFill>
              </a:rPr>
              <a:t>We create a </a:t>
            </a:r>
            <a:r>
              <a:rPr lang="en-US" dirty="0" err="1">
                <a:solidFill>
                  <a:srgbClr val="FFC000"/>
                </a:solidFill>
              </a:rPr>
              <a:t>useState</a:t>
            </a:r>
            <a:endParaRPr lang="en-US" dirty="0">
              <a:solidFill>
                <a:srgbClr val="FFC000"/>
              </a:solidFill>
            </a:endParaRPr>
          </a:p>
        </p:txBody>
      </p:sp>
      <p:sp>
        <p:nvSpPr>
          <p:cNvPr id="7" name="Rectangle 6">
            <a:extLst>
              <a:ext uri="{FF2B5EF4-FFF2-40B4-BE49-F238E27FC236}">
                <a16:creationId xmlns:a16="http://schemas.microsoft.com/office/drawing/2014/main" id="{49FE3F29-2DC3-8ACA-CCBC-F375D665AAA6}"/>
              </a:ext>
            </a:extLst>
          </p:cNvPr>
          <p:cNvSpPr/>
          <p:nvPr/>
        </p:nvSpPr>
        <p:spPr>
          <a:xfrm>
            <a:off x="5041898" y="2459567"/>
            <a:ext cx="3771901" cy="1735665"/>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C000"/>
                </a:solidFill>
              </a:rPr>
              <a:t>When new data of a </a:t>
            </a:r>
            <a:r>
              <a:rPr lang="en-US" dirty="0" err="1">
                <a:solidFill>
                  <a:srgbClr val="FFC000"/>
                </a:solidFill>
              </a:rPr>
              <a:t>useState</a:t>
            </a:r>
            <a:r>
              <a:rPr lang="en-US" dirty="0">
                <a:solidFill>
                  <a:srgbClr val="FFC000"/>
                </a:solidFill>
              </a:rPr>
              <a:t> variable depends on its old data</a:t>
            </a:r>
          </a:p>
        </p:txBody>
      </p:sp>
      <p:sp>
        <p:nvSpPr>
          <p:cNvPr id="8" name="Rectangle 7">
            <a:extLst>
              <a:ext uri="{FF2B5EF4-FFF2-40B4-BE49-F238E27FC236}">
                <a16:creationId xmlns:a16="http://schemas.microsoft.com/office/drawing/2014/main" id="{B8D94BD5-E89A-DF80-5FD8-DB9506787493}"/>
              </a:ext>
            </a:extLst>
          </p:cNvPr>
          <p:cNvSpPr/>
          <p:nvPr/>
        </p:nvSpPr>
        <p:spPr>
          <a:xfrm>
            <a:off x="5854699" y="397934"/>
            <a:ext cx="2870200" cy="1032933"/>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C000"/>
                </a:solidFill>
              </a:rPr>
              <a:t>Regular variable</a:t>
            </a:r>
          </a:p>
        </p:txBody>
      </p:sp>
      <p:cxnSp>
        <p:nvCxnSpPr>
          <p:cNvPr id="10" name="Straight Arrow Connector 9">
            <a:extLst>
              <a:ext uri="{FF2B5EF4-FFF2-40B4-BE49-F238E27FC236}">
                <a16:creationId xmlns:a16="http://schemas.microsoft.com/office/drawing/2014/main" id="{5AC2AF58-FF1A-A817-9C22-70FE2B0AB252}"/>
              </a:ext>
            </a:extLst>
          </p:cNvPr>
          <p:cNvCxnSpPr>
            <a:stCxn id="5" idx="2"/>
            <a:endCxn id="6" idx="0"/>
          </p:cNvCxnSpPr>
          <p:nvPr/>
        </p:nvCxnSpPr>
        <p:spPr>
          <a:xfrm flipH="1">
            <a:off x="2785533" y="1456267"/>
            <a:ext cx="1" cy="1354667"/>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11" name="TextBox 10">
            <a:extLst>
              <a:ext uri="{FF2B5EF4-FFF2-40B4-BE49-F238E27FC236}">
                <a16:creationId xmlns:a16="http://schemas.microsoft.com/office/drawing/2014/main" id="{CEC32E27-E2DE-AAA3-4C88-3ABDE8356A46}"/>
              </a:ext>
            </a:extLst>
          </p:cNvPr>
          <p:cNvSpPr txBox="1"/>
          <p:nvPr/>
        </p:nvSpPr>
        <p:spPr>
          <a:xfrm>
            <a:off x="1930400" y="1948934"/>
            <a:ext cx="561372" cy="369332"/>
          </a:xfrm>
          <a:prstGeom prst="rect">
            <a:avLst/>
          </a:prstGeom>
          <a:noFill/>
        </p:spPr>
        <p:txBody>
          <a:bodyPr wrap="none" rtlCol="0">
            <a:spAutoFit/>
          </a:bodyPr>
          <a:lstStyle/>
          <a:p>
            <a:r>
              <a:rPr lang="en-US" dirty="0"/>
              <a:t>Yes</a:t>
            </a:r>
          </a:p>
        </p:txBody>
      </p:sp>
      <p:sp>
        <p:nvSpPr>
          <p:cNvPr id="12" name="TextBox 11">
            <a:extLst>
              <a:ext uri="{FF2B5EF4-FFF2-40B4-BE49-F238E27FC236}">
                <a16:creationId xmlns:a16="http://schemas.microsoft.com/office/drawing/2014/main" id="{2F5A3F7B-02A7-26CA-557E-83383C1AAAB1}"/>
              </a:ext>
            </a:extLst>
          </p:cNvPr>
          <p:cNvSpPr txBox="1"/>
          <p:nvPr/>
        </p:nvSpPr>
        <p:spPr>
          <a:xfrm>
            <a:off x="5015669" y="406400"/>
            <a:ext cx="506870" cy="369332"/>
          </a:xfrm>
          <a:prstGeom prst="rect">
            <a:avLst/>
          </a:prstGeom>
          <a:noFill/>
        </p:spPr>
        <p:txBody>
          <a:bodyPr wrap="none" rtlCol="0">
            <a:spAutoFit/>
          </a:bodyPr>
          <a:lstStyle/>
          <a:p>
            <a:r>
              <a:rPr lang="en-US" dirty="0"/>
              <a:t>No</a:t>
            </a:r>
          </a:p>
        </p:txBody>
      </p:sp>
      <p:cxnSp>
        <p:nvCxnSpPr>
          <p:cNvPr id="14" name="Straight Arrow Connector 13">
            <a:extLst>
              <a:ext uri="{FF2B5EF4-FFF2-40B4-BE49-F238E27FC236}">
                <a16:creationId xmlns:a16="http://schemas.microsoft.com/office/drawing/2014/main" id="{6C506E3F-E2CC-1AC9-0FB0-D6B5B49C0755}"/>
              </a:ext>
            </a:extLst>
          </p:cNvPr>
          <p:cNvCxnSpPr>
            <a:stCxn id="5" idx="3"/>
            <a:endCxn id="8" idx="1"/>
          </p:cNvCxnSpPr>
          <p:nvPr/>
        </p:nvCxnSpPr>
        <p:spPr>
          <a:xfrm>
            <a:off x="4783667" y="905934"/>
            <a:ext cx="1071032" cy="8467"/>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16" name="Straight Arrow Connector 15">
            <a:extLst>
              <a:ext uri="{FF2B5EF4-FFF2-40B4-BE49-F238E27FC236}">
                <a16:creationId xmlns:a16="http://schemas.microsoft.com/office/drawing/2014/main" id="{A7F6D916-D840-83BC-6F30-48BE82AEA9B3}"/>
              </a:ext>
            </a:extLst>
          </p:cNvPr>
          <p:cNvCxnSpPr>
            <a:stCxn id="6" idx="3"/>
            <a:endCxn id="7" idx="1"/>
          </p:cNvCxnSpPr>
          <p:nvPr/>
        </p:nvCxnSpPr>
        <p:spPr>
          <a:xfrm flipV="1">
            <a:off x="4220633" y="3327400"/>
            <a:ext cx="821265" cy="1"/>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A37D0C17-21BC-A4E5-C242-9832BF552103}"/>
              </a:ext>
            </a:extLst>
          </p:cNvPr>
          <p:cNvCxnSpPr/>
          <p:nvPr/>
        </p:nvCxnSpPr>
        <p:spPr>
          <a:xfrm flipH="1">
            <a:off x="6951133" y="4195232"/>
            <a:ext cx="1" cy="1354667"/>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E7802E74-186F-4330-0F32-DDABFE9780AB}"/>
              </a:ext>
            </a:extLst>
          </p:cNvPr>
          <p:cNvSpPr txBox="1"/>
          <p:nvPr/>
        </p:nvSpPr>
        <p:spPr>
          <a:xfrm>
            <a:off x="6096000" y="4687899"/>
            <a:ext cx="561372" cy="369332"/>
          </a:xfrm>
          <a:prstGeom prst="rect">
            <a:avLst/>
          </a:prstGeom>
          <a:noFill/>
        </p:spPr>
        <p:txBody>
          <a:bodyPr wrap="none" rtlCol="0">
            <a:spAutoFit/>
          </a:bodyPr>
          <a:lstStyle/>
          <a:p>
            <a:r>
              <a:rPr lang="en-US" dirty="0"/>
              <a:t>Yes</a:t>
            </a:r>
          </a:p>
        </p:txBody>
      </p:sp>
      <p:sp>
        <p:nvSpPr>
          <p:cNvPr id="20" name="TextBox 19">
            <a:extLst>
              <a:ext uri="{FF2B5EF4-FFF2-40B4-BE49-F238E27FC236}">
                <a16:creationId xmlns:a16="http://schemas.microsoft.com/office/drawing/2014/main" id="{7855FDBC-FE31-606E-EA69-C0484C9C0457}"/>
              </a:ext>
            </a:extLst>
          </p:cNvPr>
          <p:cNvSpPr txBox="1"/>
          <p:nvPr/>
        </p:nvSpPr>
        <p:spPr>
          <a:xfrm>
            <a:off x="9045801" y="2810934"/>
            <a:ext cx="506870" cy="369332"/>
          </a:xfrm>
          <a:prstGeom prst="rect">
            <a:avLst/>
          </a:prstGeom>
          <a:noFill/>
        </p:spPr>
        <p:txBody>
          <a:bodyPr wrap="none" rtlCol="0">
            <a:spAutoFit/>
          </a:bodyPr>
          <a:lstStyle/>
          <a:p>
            <a:r>
              <a:rPr lang="en-US" dirty="0"/>
              <a:t>No</a:t>
            </a:r>
          </a:p>
        </p:txBody>
      </p:sp>
      <p:cxnSp>
        <p:nvCxnSpPr>
          <p:cNvPr id="21" name="Straight Arrow Connector 20">
            <a:extLst>
              <a:ext uri="{FF2B5EF4-FFF2-40B4-BE49-F238E27FC236}">
                <a16:creationId xmlns:a16="http://schemas.microsoft.com/office/drawing/2014/main" id="{76FFCD69-A77F-A19F-A4CE-E091E7D6FB89}"/>
              </a:ext>
            </a:extLst>
          </p:cNvPr>
          <p:cNvCxnSpPr/>
          <p:nvPr/>
        </p:nvCxnSpPr>
        <p:spPr>
          <a:xfrm>
            <a:off x="8813799" y="3310468"/>
            <a:ext cx="1071032" cy="8467"/>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6424338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E89AD-BF20-C602-5B03-00DC73CD6D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6C3393-4D35-05E9-0247-16439FD1CBF6}"/>
              </a:ext>
            </a:extLst>
          </p:cNvPr>
          <p:cNvSpPr>
            <a:spLocks noGrp="1"/>
          </p:cNvSpPr>
          <p:nvPr>
            <p:ph type="title"/>
          </p:nvPr>
        </p:nvSpPr>
        <p:spPr>
          <a:xfrm>
            <a:off x="2415468" y="2846650"/>
            <a:ext cx="7361063" cy="1164699"/>
          </a:xfrm>
        </p:spPr>
        <p:txBody>
          <a:bodyPr>
            <a:normAutofit/>
          </a:bodyPr>
          <a:lstStyle/>
          <a:p>
            <a:pPr algn="ctr"/>
            <a:r>
              <a:rPr lang="en-US" dirty="0">
                <a:solidFill>
                  <a:srgbClr val="FFC000"/>
                </a:solidFill>
                <a:effectLst/>
                <a:latin typeface="AkayaTelivigala" pitchFamily="2" charset="77"/>
                <a:cs typeface="AkayaTelivigala" pitchFamily="2" charset="77"/>
              </a:rPr>
              <a:t>React is Declarative</a:t>
            </a:r>
            <a:br>
              <a:rPr lang="en-US" dirty="0">
                <a:solidFill>
                  <a:srgbClr val="FFC000"/>
                </a:solidFill>
                <a:effectLst/>
                <a:latin typeface="AkayaTelivigala" pitchFamily="2" charset="77"/>
                <a:cs typeface="AkayaTelivigala" pitchFamily="2" charset="77"/>
              </a:rPr>
            </a:br>
            <a:r>
              <a:rPr lang="en-US" sz="2000" dirty="0">
                <a:solidFill>
                  <a:schemeClr val="tx1">
                    <a:lumMod val="95000"/>
                  </a:schemeClr>
                </a:solidFill>
                <a:effectLst/>
                <a:latin typeface="AkayaTelivigala" pitchFamily="2" charset="77"/>
                <a:cs typeface="AkayaTelivigala" pitchFamily="2" charset="77"/>
              </a:rPr>
              <a:t>-- But what does that mean??</a:t>
            </a:r>
          </a:p>
        </p:txBody>
      </p:sp>
    </p:spTree>
    <p:extLst>
      <p:ext uri="{BB962C8B-B14F-4D97-AF65-F5344CB8AC3E}">
        <p14:creationId xmlns:p14="http://schemas.microsoft.com/office/powerpoint/2010/main" val="4119888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0898F-BBAA-ED9A-148E-9E266134EA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2E77B-E7DB-47F9-54DB-1859DD821E09}"/>
              </a:ext>
            </a:extLst>
          </p:cNvPr>
          <p:cNvSpPr>
            <a:spLocks noGrp="1"/>
          </p:cNvSpPr>
          <p:nvPr>
            <p:ph type="title"/>
          </p:nvPr>
        </p:nvSpPr>
        <p:spPr>
          <a:xfrm>
            <a:off x="317499" y="1643896"/>
            <a:ext cx="4216401" cy="1785104"/>
          </a:xfrm>
        </p:spPr>
        <p:txBody>
          <a:bodyPr anchor="ctr">
            <a:normAutofit/>
          </a:bodyPr>
          <a:lstStyle/>
          <a:p>
            <a:r>
              <a:rPr lang="en-US" sz="3100" cap="small" dirty="0">
                <a:solidFill>
                  <a:srgbClr val="FFC000"/>
                </a:solidFill>
                <a:effectLst/>
                <a:latin typeface="Calibri" panose="020F0502020204030204" pitchFamily="34" charset="0"/>
                <a:ea typeface="+mn-ea"/>
                <a:cs typeface="Calibri" panose="020F0502020204030204" pitchFamily="34" charset="0"/>
              </a:rPr>
              <a:t>Declarative and</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3100" cap="small" dirty="0">
                <a:solidFill>
                  <a:srgbClr val="FFC000"/>
                </a:solidFill>
                <a:effectLst/>
                <a:latin typeface="Calibri" panose="020F0502020204030204" pitchFamily="34" charset="0"/>
                <a:ea typeface="+mn-ea"/>
                <a:cs typeface="Calibri" panose="020F0502020204030204" pitchFamily="34" charset="0"/>
              </a:rPr>
              <a:t>Imperative</a:t>
            </a:r>
            <a:br>
              <a:rPr lang="en-US" sz="3100" cap="small" dirty="0">
                <a:solidFill>
                  <a:srgbClr val="FFC000"/>
                </a:solidFill>
                <a:effectLst/>
                <a:latin typeface="Calibri" panose="020F0502020204030204" pitchFamily="34" charset="0"/>
                <a:ea typeface="+mn-ea"/>
                <a:cs typeface="Calibri" panose="020F0502020204030204" pitchFamily="34" charset="0"/>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endPar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endParaRPr>
          </a:p>
        </p:txBody>
      </p:sp>
      <p:sp>
        <p:nvSpPr>
          <p:cNvPr id="3" name="Content Placeholder 2">
            <a:extLst>
              <a:ext uri="{FF2B5EF4-FFF2-40B4-BE49-F238E27FC236}">
                <a16:creationId xmlns:a16="http://schemas.microsoft.com/office/drawing/2014/main" id="{DCDE0D52-73E6-CC1F-D5E1-F3E31CC3F159}"/>
              </a:ext>
            </a:extLst>
          </p:cNvPr>
          <p:cNvSpPr>
            <a:spLocks noGrp="1"/>
          </p:cNvSpPr>
          <p:nvPr>
            <p:ph idx="1"/>
          </p:nvPr>
        </p:nvSpPr>
        <p:spPr>
          <a:xfrm>
            <a:off x="4973046" y="330201"/>
            <a:ext cx="6253751" cy="6172199"/>
          </a:xfrm>
        </p:spPr>
        <p:txBody>
          <a:bodyPr>
            <a:normAutofit/>
          </a:bodyPr>
          <a:lstStyle/>
          <a:p>
            <a:pPr marL="0" indent="0">
              <a:buNone/>
            </a:pPr>
            <a:r>
              <a:rPr lang="en-US" sz="3200" cap="all" dirty="0">
                <a:ln w="3175" cmpd="sng">
                  <a:noFill/>
                </a:ln>
                <a:solidFill>
                  <a:srgbClr val="FFC000"/>
                </a:solidFill>
                <a:effectLst/>
                <a:latin typeface="AkayaTelivigala" pitchFamily="2" charset="77"/>
                <a:ea typeface="+mj-ea"/>
                <a:cs typeface="AkayaTelivigala" pitchFamily="2" charset="77"/>
              </a:rPr>
              <a:t>Declarative and Imperative</a:t>
            </a:r>
          </a:p>
          <a:p>
            <a:pPr marL="0" indent="0">
              <a:buNone/>
            </a:pPr>
            <a:r>
              <a:rPr lang="en-US" sz="2600" dirty="0">
                <a:ln w="3175" cmpd="sng">
                  <a:noFill/>
                </a:ln>
                <a:latin typeface="AkayaTelivigala" pitchFamily="2" charset="77"/>
                <a:cs typeface="AkayaTelivigala" pitchFamily="2" charset="77"/>
              </a:rPr>
              <a:t>--</a:t>
            </a:r>
            <a:r>
              <a:rPr lang="en-US" sz="3200" cap="all" dirty="0">
                <a:ln w="3175" cmpd="sng">
                  <a:noFill/>
                </a:ln>
                <a:solidFill>
                  <a:srgbClr val="FFC000"/>
                </a:solidFill>
                <a:effectLst/>
                <a:latin typeface="AkayaTelivigala" pitchFamily="2" charset="77"/>
                <a:ea typeface="+mj-ea"/>
                <a:cs typeface="AkayaTelivigala" pitchFamily="2" charset="77"/>
              </a:rPr>
              <a:t> </a:t>
            </a:r>
            <a:r>
              <a:rPr lang="en-US" sz="1200" dirty="0">
                <a:ln w="3175" cmpd="sng">
                  <a:noFill/>
                </a:ln>
                <a:latin typeface="AkayaTelivigala" pitchFamily="2" charset="77"/>
                <a:cs typeface="AkayaTelivigala" pitchFamily="2" charset="77"/>
              </a:rPr>
              <a:t>These are two approaches to writing code that describe different styles of interacting with programs. These styles are often mentioned in programming and UI development, especially in React and other modern libraries.</a:t>
            </a:r>
          </a:p>
          <a:p>
            <a:pPr marL="0" indent="0">
              <a:buNone/>
            </a:pPr>
            <a:r>
              <a:rPr lang="en-US" sz="2800" cap="all" dirty="0">
                <a:ln w="3175" cmpd="sng">
                  <a:noFill/>
                </a:ln>
                <a:solidFill>
                  <a:srgbClr val="FFC000"/>
                </a:solidFill>
                <a:effectLst/>
                <a:latin typeface="AkayaTelivigala" pitchFamily="2" charset="77"/>
                <a:cs typeface="AkayaTelivigala" pitchFamily="2" charset="77"/>
              </a:rPr>
              <a:t>Declarative</a:t>
            </a:r>
            <a:br>
              <a:rPr lang="en-US" sz="2800" cap="all" dirty="0">
                <a:ln w="3175" cmpd="sng">
                  <a:noFill/>
                </a:ln>
                <a:solidFill>
                  <a:srgbClr val="FFC000"/>
                </a:solidFill>
                <a:effectLst/>
                <a:latin typeface="AkayaTelivigala" pitchFamily="2" charset="77"/>
                <a:cs typeface="AkayaTelivigala" pitchFamily="2" charset="77"/>
              </a:rPr>
            </a:br>
            <a:r>
              <a:rPr lang="en-US" sz="1300" dirty="0">
                <a:ln w="3175" cmpd="sng">
                  <a:noFill/>
                </a:ln>
                <a:latin typeface="AkayaTelivigala" pitchFamily="2" charset="77"/>
                <a:cs typeface="AkayaTelivigala" pitchFamily="2" charset="77"/>
              </a:rPr>
              <a:t>The declarative style focuses on what the program should do, not how to do it. In declarative code, we describe the desired end result, and the system decides how to achieve it. This is a higher level of abstraction, making code easier to write and understand since it ’s closer to natural language.</a:t>
            </a:r>
          </a:p>
          <a:p>
            <a:pPr marL="0" indent="0">
              <a:buNone/>
            </a:pPr>
            <a:r>
              <a:rPr lang="en-US" sz="1300" dirty="0">
                <a:ln w="3175" cmpd="sng">
                  <a:noFill/>
                </a:ln>
                <a:latin typeface="AkayaTelivigala" pitchFamily="2" charset="77"/>
                <a:cs typeface="AkayaTelivigala" pitchFamily="2" charset="77"/>
              </a:rPr>
              <a:t>In React, using JSX , we write declarative code to describe how the UI should look:</a:t>
            </a:r>
          </a:p>
          <a:p>
            <a:pPr marL="0" indent="0">
              <a:buNone/>
            </a:pPr>
            <a:r>
              <a:rPr lang="en-US" sz="2800" cap="all" dirty="0">
                <a:ln w="3175" cmpd="sng">
                  <a:noFill/>
                </a:ln>
                <a:solidFill>
                  <a:srgbClr val="FFC000"/>
                </a:solidFill>
                <a:effectLst/>
                <a:latin typeface="AkayaTelivigala" pitchFamily="2" charset="77"/>
                <a:cs typeface="AkayaTelivigala" pitchFamily="2" charset="77"/>
              </a:rPr>
              <a:t>Imperative</a:t>
            </a:r>
            <a:br>
              <a:rPr lang="en-US" sz="2800" cap="all" dirty="0">
                <a:ln w="3175" cmpd="sng">
                  <a:noFill/>
                </a:ln>
                <a:solidFill>
                  <a:srgbClr val="FFC000"/>
                </a:solidFill>
                <a:effectLst/>
                <a:latin typeface="AkayaTelivigala" pitchFamily="2" charset="77"/>
                <a:cs typeface="AkayaTelivigala" pitchFamily="2" charset="77"/>
              </a:rPr>
            </a:br>
            <a:r>
              <a:rPr lang="en-US" sz="1300" dirty="0">
                <a:ln w="3175" cmpd="sng">
                  <a:noFill/>
                </a:ln>
                <a:latin typeface="AkayaTelivigala" pitchFamily="2" charset="77"/>
                <a:cs typeface="AkayaTelivigala" pitchFamily="2" charset="77"/>
              </a:rPr>
              <a:t>The imperative style focuses on how the program should per form a task. The developer provides exact instructions, describing the process step by step. This is a lower level of abstraction, where the developer manages specific operations.</a:t>
            </a:r>
          </a:p>
          <a:p>
            <a:pPr marL="0" indent="0">
              <a:buNone/>
            </a:pPr>
            <a:endParaRPr lang="en-US" sz="2500" dirty="0">
              <a:ln w="3175" cmpd="sng">
                <a:noFill/>
              </a:ln>
              <a:latin typeface="AkayaTelivigala" pitchFamily="2" charset="77"/>
              <a:cs typeface="AkayaTelivigala" pitchFamily="2" charset="77"/>
            </a:endParaRPr>
          </a:p>
          <a:p>
            <a:endParaRPr lang="en-US" dirty="0">
              <a:solidFill>
                <a:schemeClr val="tx1"/>
              </a:solidFill>
              <a:effectLst/>
              <a:latin typeface="AkayaTelivigala" pitchFamily="2" charset="77"/>
              <a:cs typeface="AkayaTelivigala" pitchFamily="2" charset="77"/>
            </a:endParaRPr>
          </a:p>
        </p:txBody>
      </p:sp>
      <p:sp>
        <p:nvSpPr>
          <p:cNvPr id="10" name="TextBox 9">
            <a:extLst>
              <a:ext uri="{FF2B5EF4-FFF2-40B4-BE49-F238E27FC236}">
                <a16:creationId xmlns:a16="http://schemas.microsoft.com/office/drawing/2014/main" id="{51AC5777-9F1A-00D6-5E33-DC20E2EDD57F}"/>
              </a:ext>
            </a:extLst>
          </p:cNvPr>
          <p:cNvSpPr txBox="1"/>
          <p:nvPr/>
        </p:nvSpPr>
        <p:spPr>
          <a:xfrm>
            <a:off x="482038" y="2670552"/>
            <a:ext cx="4216401" cy="830997"/>
          </a:xfrm>
          <a:prstGeom prst="rect">
            <a:avLst/>
          </a:prstGeom>
          <a:noFill/>
        </p:spPr>
        <p:txBody>
          <a:bodyPr wrap="square">
            <a:spAutoFit/>
          </a:bodyPr>
          <a:lstStyle/>
          <a:p>
            <a:pPr marL="171450" indent="-171450">
              <a:buFont typeface="Arial" panose="020B0604020202020204" pitchFamily="34" charset="0"/>
              <a:buChar char="•"/>
            </a:pPr>
            <a:r>
              <a:rPr lang="en-US" sz="1200" cap="small" dirty="0">
                <a:ln w="3175" cmpd="sng">
                  <a:noFill/>
                </a:ln>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Declarative code describes </a:t>
            </a:r>
            <a:r>
              <a:rPr lang="en-US" sz="1200" b="1" cap="small" dirty="0">
                <a:ln w="3175" cmpd="sng">
                  <a:noFill/>
                </a:ln>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what should happen </a:t>
            </a:r>
            <a:r>
              <a:rPr lang="en-US" sz="1200" cap="small" dirty="0">
                <a:ln w="3175" cmpd="sng">
                  <a:noFill/>
                </a:ln>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and focuses more on the final result.</a:t>
            </a:r>
          </a:p>
          <a:p>
            <a:pPr marL="171450" indent="-171450">
              <a:buFont typeface="Arial" panose="020B0604020202020204" pitchFamily="34" charset="0"/>
              <a:buChar char="•"/>
            </a:pPr>
            <a:r>
              <a:rPr lang="en-US" sz="1200" cap="small" dirty="0">
                <a:ln w="3175" cmpd="sng">
                  <a:noFill/>
                </a:ln>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Imperative code describes </a:t>
            </a:r>
            <a:r>
              <a:rPr lang="en-US" sz="1200" b="1" cap="small" dirty="0">
                <a:ln w="3175" cmpd="sng">
                  <a:noFill/>
                </a:ln>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how to make it happen</a:t>
            </a:r>
            <a:r>
              <a:rPr lang="en-US" sz="1200" cap="small" dirty="0">
                <a:ln w="3175" cmpd="sng">
                  <a:noFill/>
                </a:ln>
                <a:gradFill flip="none" rotWithShape="1">
                  <a:gsLst>
                    <a:gs pos="0">
                      <a:schemeClr val="tx1"/>
                    </a:gs>
                    <a:gs pos="100000">
                      <a:schemeClr val="tx1">
                        <a:lumMod val="75000"/>
                      </a:schemeClr>
                    </a:gs>
                  </a:gsLst>
                  <a:lin ang="5580000" scaled="0"/>
                  <a:tileRect/>
                </a:gradFill>
                <a:latin typeface="AkayaTelivigala" pitchFamily="2" charset="77"/>
                <a:cs typeface="AkayaTelivigala" pitchFamily="2" charset="77"/>
              </a:rPr>
              <a:t>, focusing on the step -by-step process.</a:t>
            </a:r>
          </a:p>
        </p:txBody>
      </p:sp>
    </p:spTree>
    <p:extLst>
      <p:ext uri="{BB962C8B-B14F-4D97-AF65-F5344CB8AC3E}">
        <p14:creationId xmlns:p14="http://schemas.microsoft.com/office/powerpoint/2010/main" val="2649917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16D78-CD82-AE95-BA4B-F12B632D6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B313F-C977-C70B-00AB-0EF2319FBA69}"/>
              </a:ext>
            </a:extLst>
          </p:cNvPr>
          <p:cNvSpPr>
            <a:spLocks noGrp="1"/>
          </p:cNvSpPr>
          <p:nvPr>
            <p:ph type="title"/>
          </p:nvPr>
        </p:nvSpPr>
        <p:spPr>
          <a:xfrm>
            <a:off x="2415468" y="2846650"/>
            <a:ext cx="7361063" cy="1164699"/>
          </a:xfrm>
        </p:spPr>
        <p:txBody>
          <a:bodyPr>
            <a:normAutofit/>
          </a:bodyPr>
          <a:lstStyle/>
          <a:p>
            <a:pPr algn="ctr"/>
            <a:r>
              <a:rPr lang="en-US" dirty="0">
                <a:solidFill>
                  <a:srgbClr val="FFC000"/>
                </a:solidFill>
                <a:effectLst/>
                <a:latin typeface="AkayaTelivigala" pitchFamily="2" charset="77"/>
                <a:cs typeface="AkayaTelivigala" pitchFamily="2" charset="77"/>
              </a:rPr>
              <a:t>Component Composition</a:t>
            </a:r>
            <a:br>
              <a:rPr lang="en-US" dirty="0">
                <a:solidFill>
                  <a:srgbClr val="FFC000"/>
                </a:solidFill>
                <a:effectLst/>
                <a:latin typeface="AkayaTelivigala" pitchFamily="2" charset="77"/>
                <a:cs typeface="AkayaTelivigala" pitchFamily="2" charset="77"/>
              </a:rPr>
            </a:br>
            <a:r>
              <a:rPr lang="en-US" sz="2000" dirty="0">
                <a:solidFill>
                  <a:schemeClr val="tx1">
                    <a:lumMod val="95000"/>
                  </a:schemeClr>
                </a:solidFill>
                <a:effectLst/>
                <a:latin typeface="AkayaTelivigala" pitchFamily="2" charset="77"/>
                <a:cs typeface="AkayaTelivigala" pitchFamily="2" charset="77"/>
              </a:rPr>
              <a:t>-- But what does that mean??</a:t>
            </a:r>
          </a:p>
        </p:txBody>
      </p:sp>
    </p:spTree>
    <p:extLst>
      <p:ext uri="{BB962C8B-B14F-4D97-AF65-F5344CB8AC3E}">
        <p14:creationId xmlns:p14="http://schemas.microsoft.com/office/powerpoint/2010/main" val="16522647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29948-D96A-5FC0-5D64-10FCFF041B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BB9B3-F06F-EDB7-AF90-87D5F7D5CF1F}"/>
              </a:ext>
            </a:extLst>
          </p:cNvPr>
          <p:cNvSpPr>
            <a:spLocks noGrp="1"/>
          </p:cNvSpPr>
          <p:nvPr>
            <p:ph type="title"/>
          </p:nvPr>
        </p:nvSpPr>
        <p:spPr>
          <a:xfrm>
            <a:off x="2415468" y="2846650"/>
            <a:ext cx="7361063" cy="1164699"/>
          </a:xfrm>
        </p:spPr>
        <p:txBody>
          <a:bodyPr>
            <a:normAutofit/>
          </a:bodyPr>
          <a:lstStyle/>
          <a:p>
            <a:pPr algn="ctr"/>
            <a:r>
              <a:rPr lang="en-US" dirty="0" err="1">
                <a:solidFill>
                  <a:srgbClr val="FFC000"/>
                </a:solidFill>
                <a:effectLst/>
                <a:latin typeface="AkayaTelivigala" pitchFamily="2" charset="77"/>
                <a:cs typeface="AkayaTelivigala" pitchFamily="2" charset="77"/>
              </a:rPr>
              <a:t>useEffect</a:t>
            </a:r>
            <a:r>
              <a:rPr lang="en-US" dirty="0">
                <a:solidFill>
                  <a:srgbClr val="FFC000"/>
                </a:solidFill>
                <a:effectLst/>
                <a:latin typeface="AkayaTelivigala" pitchFamily="2" charset="77"/>
                <a:cs typeface="AkayaTelivigala" pitchFamily="2" charset="77"/>
              </a:rPr>
              <a:t>-- Hook</a:t>
            </a:r>
          </a:p>
        </p:txBody>
      </p:sp>
    </p:spTree>
    <p:extLst>
      <p:ext uri="{BB962C8B-B14F-4D97-AF65-F5344CB8AC3E}">
        <p14:creationId xmlns:p14="http://schemas.microsoft.com/office/powerpoint/2010/main" val="1630247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B1DC2-89FC-49FC-1F82-46072B7F3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8AD0E3-D2FF-04F2-8398-F8B9C3B1E5E2}"/>
              </a:ext>
            </a:extLst>
          </p:cNvPr>
          <p:cNvSpPr>
            <a:spLocks noGrp="1"/>
          </p:cNvSpPr>
          <p:nvPr>
            <p:ph type="title"/>
          </p:nvPr>
        </p:nvSpPr>
        <p:spPr>
          <a:xfrm>
            <a:off x="533399" y="2117554"/>
            <a:ext cx="3332955" cy="2622892"/>
          </a:xfrm>
        </p:spPr>
        <p:txBody>
          <a:bodyPr anchor="ctr">
            <a:normAutofit/>
          </a:bodyPr>
          <a:lstStyle/>
          <a:p>
            <a:r>
              <a:rPr lang="en-US" sz="3100" cap="small" dirty="0" err="1">
                <a:solidFill>
                  <a:srgbClr val="FFC000"/>
                </a:solidFill>
                <a:effectLst/>
                <a:latin typeface="Calibri" panose="020F0502020204030204" pitchFamily="34" charset="0"/>
                <a:ea typeface="+mn-ea"/>
                <a:cs typeface="Calibri" panose="020F0502020204030204" pitchFamily="34" charset="0"/>
              </a:rPr>
              <a:t>useEffect</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 Is used to manage side effect in functional components.</a:t>
            </a: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endPar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endParaRPr>
          </a:p>
        </p:txBody>
      </p:sp>
      <p:sp>
        <p:nvSpPr>
          <p:cNvPr id="3" name="Content Placeholder 2">
            <a:extLst>
              <a:ext uri="{FF2B5EF4-FFF2-40B4-BE49-F238E27FC236}">
                <a16:creationId xmlns:a16="http://schemas.microsoft.com/office/drawing/2014/main" id="{9EEC5115-34F9-9AA3-8106-6A93B2A050FE}"/>
              </a:ext>
            </a:extLst>
          </p:cNvPr>
          <p:cNvSpPr>
            <a:spLocks noGrp="1"/>
          </p:cNvSpPr>
          <p:nvPr>
            <p:ph idx="1"/>
          </p:nvPr>
        </p:nvSpPr>
        <p:spPr>
          <a:xfrm>
            <a:off x="4769848" y="2269067"/>
            <a:ext cx="6888753" cy="2319866"/>
          </a:xfrm>
        </p:spPr>
        <p:txBody>
          <a:bodyPr>
            <a:normAutofit/>
          </a:bodyPr>
          <a:lstStyle/>
          <a:p>
            <a:r>
              <a:rPr lang="en-US" sz="1600" dirty="0">
                <a:ln w="3175" cmpd="sng">
                  <a:noFill/>
                </a:ln>
                <a:effectLst/>
                <a:latin typeface="AkayaTelivigala" pitchFamily="2" charset="77"/>
                <a:cs typeface="AkayaTelivigala" pitchFamily="2" charset="77"/>
              </a:rPr>
              <a:t>It allows executing code that should run after the component render, as well as managing side effect that occur due to state or prop changes.</a:t>
            </a:r>
          </a:p>
          <a:p>
            <a:endParaRPr lang="en-US" dirty="0">
              <a:solidFill>
                <a:schemeClr val="tx1"/>
              </a:solidFill>
              <a:effectLst/>
              <a:latin typeface="AkayaTelivigala" pitchFamily="2" charset="77"/>
              <a:cs typeface="AkayaTelivigala" pitchFamily="2" charset="77"/>
            </a:endParaRPr>
          </a:p>
        </p:txBody>
      </p:sp>
    </p:spTree>
    <p:extLst>
      <p:ext uri="{BB962C8B-B14F-4D97-AF65-F5344CB8AC3E}">
        <p14:creationId xmlns:p14="http://schemas.microsoft.com/office/powerpoint/2010/main" val="40922848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E44EE-5B37-BDC3-A50F-0534491C0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003C8-7D19-ADFF-3E46-A5EABF2C0EE7}"/>
              </a:ext>
            </a:extLst>
          </p:cNvPr>
          <p:cNvSpPr>
            <a:spLocks noGrp="1"/>
          </p:cNvSpPr>
          <p:nvPr>
            <p:ph type="title"/>
          </p:nvPr>
        </p:nvSpPr>
        <p:spPr>
          <a:xfrm>
            <a:off x="533399" y="2117554"/>
            <a:ext cx="3332955" cy="2622892"/>
          </a:xfrm>
        </p:spPr>
        <p:txBody>
          <a:bodyPr anchor="ctr">
            <a:normAutofit/>
          </a:bodyPr>
          <a:lstStyle/>
          <a:p>
            <a:r>
              <a:rPr lang="en-US" sz="3100" cap="small" dirty="0" err="1">
                <a:solidFill>
                  <a:srgbClr val="FFC000"/>
                </a:solidFill>
                <a:effectLst/>
                <a:latin typeface="Calibri" panose="020F0502020204030204" pitchFamily="34" charset="0"/>
                <a:ea typeface="+mn-ea"/>
                <a:cs typeface="Calibri" panose="020F0502020204030204" pitchFamily="34" charset="0"/>
              </a:rPr>
              <a:t>useEffect</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 How does it work</a:t>
            </a: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endPar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endParaRPr>
          </a:p>
        </p:txBody>
      </p:sp>
      <p:sp>
        <p:nvSpPr>
          <p:cNvPr id="3" name="Content Placeholder 2">
            <a:extLst>
              <a:ext uri="{FF2B5EF4-FFF2-40B4-BE49-F238E27FC236}">
                <a16:creationId xmlns:a16="http://schemas.microsoft.com/office/drawing/2014/main" id="{96204EBC-5235-0D8B-DB71-25439C5CF84F}"/>
              </a:ext>
            </a:extLst>
          </p:cNvPr>
          <p:cNvSpPr>
            <a:spLocks noGrp="1"/>
          </p:cNvSpPr>
          <p:nvPr>
            <p:ph idx="1"/>
          </p:nvPr>
        </p:nvSpPr>
        <p:spPr>
          <a:xfrm>
            <a:off x="5006911" y="0"/>
            <a:ext cx="6253751" cy="3098799"/>
          </a:xfrm>
        </p:spPr>
        <p:txBody>
          <a:bodyPr>
            <a:normAutofit/>
          </a:bodyPr>
          <a:lstStyle/>
          <a:p>
            <a:pPr marL="0" indent="0">
              <a:buNone/>
            </a:pPr>
            <a:r>
              <a:rPr lang="en-US" sz="1700" b="1" dirty="0" err="1">
                <a:solidFill>
                  <a:srgbClr val="00B0F0"/>
                </a:solidFill>
                <a:effectLst/>
                <a:latin typeface="AkayaTelivigala" pitchFamily="2" charset="77"/>
                <a:cs typeface="AkayaTelivigala" pitchFamily="2" charset="77"/>
              </a:rPr>
              <a:t>useEffect</a:t>
            </a:r>
            <a:r>
              <a:rPr lang="en-US" sz="1400" dirty="0">
                <a:ln w="3175" cmpd="sng">
                  <a:noFill/>
                </a:ln>
                <a:effectLst/>
                <a:latin typeface="AkayaTelivigala" pitchFamily="2" charset="77"/>
                <a:cs typeface="AkayaTelivigala" pitchFamily="2" charset="77"/>
              </a:rPr>
              <a:t> runs after ever y render of the component. This means it works both on (the first render) and on updating the mounting component(re -render).</a:t>
            </a:r>
          </a:p>
          <a:p>
            <a:pPr marL="0" indent="0">
              <a:buNone/>
            </a:pPr>
            <a:r>
              <a:rPr lang="en-US" sz="1400" dirty="0">
                <a:ln w="3175" cmpd="sng">
                  <a:noFill/>
                </a:ln>
                <a:effectLst/>
                <a:latin typeface="AkayaTelivigala" pitchFamily="2" charset="77"/>
                <a:cs typeface="AkayaTelivigala" pitchFamily="2" charset="77"/>
              </a:rPr>
              <a:t>You can pass a dependency array as the second argument to </a:t>
            </a:r>
            <a:r>
              <a:rPr lang="en-US" sz="1700" b="1" dirty="0" err="1">
                <a:solidFill>
                  <a:srgbClr val="00B0F0"/>
                </a:solidFill>
                <a:effectLst/>
                <a:latin typeface="AkayaTelivigala" pitchFamily="2" charset="77"/>
                <a:cs typeface="AkayaTelivigala" pitchFamily="2" charset="77"/>
              </a:rPr>
              <a:t>useEffect</a:t>
            </a:r>
            <a:r>
              <a:rPr lang="en-US" sz="1400" dirty="0">
                <a:ln w="3175" cmpd="sng">
                  <a:noFill/>
                </a:ln>
                <a:effectLst/>
                <a:latin typeface="AkayaTelivigala" pitchFamily="2" charset="77"/>
                <a:cs typeface="AkayaTelivigala" pitchFamily="2" charset="77"/>
              </a:rPr>
              <a:t>.</a:t>
            </a:r>
          </a:p>
          <a:p>
            <a:pPr marL="0" indent="0">
              <a:buNone/>
            </a:pPr>
            <a:r>
              <a:rPr lang="en-US" sz="1400" dirty="0">
                <a:ln w="3175" cmpd="sng">
                  <a:noFill/>
                </a:ln>
                <a:effectLst/>
                <a:latin typeface="AkayaTelivigala" pitchFamily="2" charset="77"/>
                <a:cs typeface="AkayaTelivigala" pitchFamily="2" charset="77"/>
              </a:rPr>
              <a:t>If the dependency array is empty ([]), </a:t>
            </a:r>
            <a:r>
              <a:rPr lang="en-US" sz="1700" b="1" dirty="0" err="1">
                <a:solidFill>
                  <a:srgbClr val="00B0F0"/>
                </a:solidFill>
                <a:effectLst/>
                <a:latin typeface="AkayaTelivigala" pitchFamily="2" charset="77"/>
                <a:cs typeface="AkayaTelivigala" pitchFamily="2" charset="77"/>
              </a:rPr>
              <a:t>useEffect</a:t>
            </a:r>
            <a:r>
              <a:rPr lang="en-US" sz="1400" dirty="0">
                <a:ln w="3175" cmpd="sng">
                  <a:noFill/>
                </a:ln>
                <a:effectLst/>
                <a:latin typeface="AkayaTelivigala" pitchFamily="2" charset="77"/>
                <a:cs typeface="AkayaTelivigala" pitchFamily="2" charset="77"/>
              </a:rPr>
              <a:t> runs only when the component is mounted.</a:t>
            </a:r>
          </a:p>
          <a:p>
            <a:pPr marL="0" indent="0">
              <a:buNone/>
            </a:pPr>
            <a:r>
              <a:rPr lang="en-US" sz="1400" dirty="0">
                <a:ln w="3175" cmpd="sng">
                  <a:noFill/>
                </a:ln>
                <a:effectLst/>
                <a:latin typeface="AkayaTelivigala" pitchFamily="2" charset="77"/>
                <a:cs typeface="AkayaTelivigala" pitchFamily="2" charset="77"/>
              </a:rPr>
              <a:t>If the dependency array includes specific values, </a:t>
            </a:r>
            <a:r>
              <a:rPr lang="en-US" sz="1700" b="1" dirty="0" err="1">
                <a:solidFill>
                  <a:srgbClr val="00B0F0"/>
                </a:solidFill>
                <a:effectLst/>
                <a:latin typeface="AkayaTelivigala" pitchFamily="2" charset="77"/>
                <a:cs typeface="AkayaTelivigala" pitchFamily="2" charset="77"/>
              </a:rPr>
              <a:t>useEffect</a:t>
            </a:r>
            <a:r>
              <a:rPr lang="en-US" sz="1400" dirty="0">
                <a:ln w="3175" cmpd="sng">
                  <a:noFill/>
                </a:ln>
                <a:effectLst/>
                <a:latin typeface="AkayaTelivigala" pitchFamily="2" charset="77"/>
                <a:cs typeface="AkayaTelivigala" pitchFamily="2" charset="77"/>
              </a:rPr>
              <a:t> will run only when those values change.</a:t>
            </a:r>
          </a:p>
        </p:txBody>
      </p:sp>
      <p:sp>
        <p:nvSpPr>
          <p:cNvPr id="8" name="Content Placeholder 2">
            <a:extLst>
              <a:ext uri="{FF2B5EF4-FFF2-40B4-BE49-F238E27FC236}">
                <a16:creationId xmlns:a16="http://schemas.microsoft.com/office/drawing/2014/main" id="{5392924D-F3B2-A943-9103-B084BE7F9076}"/>
              </a:ext>
            </a:extLst>
          </p:cNvPr>
          <p:cNvSpPr txBox="1">
            <a:spLocks/>
          </p:cNvSpPr>
          <p:nvPr/>
        </p:nvSpPr>
        <p:spPr>
          <a:xfrm>
            <a:off x="5006910" y="2448641"/>
            <a:ext cx="6253751" cy="1447799"/>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r>
              <a:rPr lang="en-US" dirty="0">
                <a:effectLst/>
              </a:rPr>
              <a:t>Example</a:t>
            </a:r>
            <a:endParaRPr lang="en-US" dirty="0">
              <a:solidFill>
                <a:schemeClr val="tx1"/>
              </a:solidFill>
              <a:effectLst/>
              <a:latin typeface="AkayaTelivigala" pitchFamily="2" charset="77"/>
              <a:cs typeface="AkayaTelivigala" pitchFamily="2" charset="77"/>
            </a:endParaRPr>
          </a:p>
          <a:p>
            <a:endParaRPr lang="en-US" dirty="0">
              <a:solidFill>
                <a:schemeClr val="tx1"/>
              </a:solidFill>
              <a:effectLst/>
              <a:latin typeface="AkayaTelivigala" pitchFamily="2" charset="77"/>
              <a:cs typeface="AkayaTelivigala" pitchFamily="2" charset="77"/>
            </a:endParaRPr>
          </a:p>
        </p:txBody>
      </p:sp>
    </p:spTree>
    <p:extLst>
      <p:ext uri="{BB962C8B-B14F-4D97-AF65-F5344CB8AC3E}">
        <p14:creationId xmlns:p14="http://schemas.microsoft.com/office/powerpoint/2010/main" val="29803389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A9C28-9F9F-3BEC-A059-F5A6A3572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58E258-7C75-C573-DD1A-2F52AA427F0B}"/>
              </a:ext>
            </a:extLst>
          </p:cNvPr>
          <p:cNvSpPr>
            <a:spLocks noGrp="1"/>
          </p:cNvSpPr>
          <p:nvPr>
            <p:ph type="title"/>
          </p:nvPr>
        </p:nvSpPr>
        <p:spPr>
          <a:xfrm>
            <a:off x="2415468" y="2846650"/>
            <a:ext cx="7361063" cy="1164699"/>
          </a:xfrm>
        </p:spPr>
        <p:txBody>
          <a:bodyPr>
            <a:normAutofit/>
          </a:bodyPr>
          <a:lstStyle/>
          <a:p>
            <a:pPr algn="ctr"/>
            <a:r>
              <a:rPr lang="en-US" dirty="0" err="1">
                <a:solidFill>
                  <a:srgbClr val="FFC000"/>
                </a:solidFill>
                <a:effectLst/>
                <a:latin typeface="AkayaTelivigala" pitchFamily="2" charset="77"/>
                <a:cs typeface="AkayaTelivigala" pitchFamily="2" charset="77"/>
              </a:rPr>
              <a:t>useEffect</a:t>
            </a:r>
            <a:r>
              <a:rPr lang="en-US" dirty="0">
                <a:solidFill>
                  <a:srgbClr val="FFC000"/>
                </a:solidFill>
                <a:effectLst/>
                <a:latin typeface="AkayaTelivigala" pitchFamily="2" charset="77"/>
                <a:cs typeface="AkayaTelivigala" pitchFamily="2" charset="77"/>
              </a:rPr>
              <a:t> </a:t>
            </a:r>
            <a:r>
              <a:rPr lang="en-US" dirty="0">
                <a:solidFill>
                  <a:schemeClr val="tx1">
                    <a:lumMod val="85000"/>
                  </a:schemeClr>
                </a:solidFill>
                <a:effectLst/>
                <a:latin typeface="AkayaTelivigala" pitchFamily="2" charset="77"/>
                <a:cs typeface="AkayaTelivigala" pitchFamily="2" charset="77"/>
              </a:rPr>
              <a:t>Vs</a:t>
            </a:r>
            <a:r>
              <a:rPr lang="en-US" dirty="0">
                <a:solidFill>
                  <a:srgbClr val="FFC000"/>
                </a:solidFill>
                <a:effectLst/>
                <a:latin typeface="AkayaTelivigala" pitchFamily="2" charset="77"/>
                <a:cs typeface="AkayaTelivigala" pitchFamily="2" charset="77"/>
              </a:rPr>
              <a:t> Events</a:t>
            </a:r>
            <a:br>
              <a:rPr lang="en-US" dirty="0">
                <a:solidFill>
                  <a:srgbClr val="FFC000"/>
                </a:solidFill>
                <a:effectLst/>
                <a:latin typeface="AkayaTelivigala" pitchFamily="2" charset="77"/>
                <a:cs typeface="AkayaTelivigala" pitchFamily="2" charset="77"/>
              </a:rPr>
            </a:br>
            <a:r>
              <a:rPr lang="en-US" sz="2000" dirty="0">
                <a:solidFill>
                  <a:schemeClr val="tx1">
                    <a:lumMod val="85000"/>
                  </a:schemeClr>
                </a:solidFill>
                <a:effectLst/>
                <a:latin typeface="AkayaTelivigala" pitchFamily="2" charset="77"/>
                <a:cs typeface="AkayaTelivigala" pitchFamily="2" charset="77"/>
              </a:rPr>
              <a:t>--What to Choose ?</a:t>
            </a:r>
          </a:p>
        </p:txBody>
      </p:sp>
    </p:spTree>
    <p:extLst>
      <p:ext uri="{BB962C8B-B14F-4D97-AF65-F5344CB8AC3E}">
        <p14:creationId xmlns:p14="http://schemas.microsoft.com/office/powerpoint/2010/main" val="15544461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43F8-967B-AF88-036F-8D2029249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B9C2E-1D60-DF5B-B9AB-B03B9FE94E05}"/>
              </a:ext>
            </a:extLst>
          </p:cNvPr>
          <p:cNvSpPr>
            <a:spLocks noGrp="1"/>
          </p:cNvSpPr>
          <p:nvPr>
            <p:ph type="title"/>
          </p:nvPr>
        </p:nvSpPr>
        <p:spPr>
          <a:xfrm>
            <a:off x="533399" y="2117554"/>
            <a:ext cx="3332955" cy="2622892"/>
          </a:xfrm>
        </p:spPr>
        <p:txBody>
          <a:bodyPr anchor="ctr">
            <a:normAutofit/>
          </a:bodyPr>
          <a:lstStyle/>
          <a:p>
            <a:r>
              <a:rPr lang="en-US" sz="3100" cap="small" dirty="0" err="1">
                <a:solidFill>
                  <a:srgbClr val="FFC000"/>
                </a:solidFill>
                <a:effectLst/>
                <a:latin typeface="Calibri" panose="020F0502020204030204" pitchFamily="34" charset="0"/>
                <a:ea typeface="+mn-ea"/>
                <a:cs typeface="Calibri" panose="020F0502020204030204" pitchFamily="34" charset="0"/>
              </a:rPr>
              <a:t>useEffect</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 What to use for working with side effects?</a:t>
            </a: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endPar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endParaRPr>
          </a:p>
        </p:txBody>
      </p:sp>
      <p:sp>
        <p:nvSpPr>
          <p:cNvPr id="3" name="Content Placeholder 2">
            <a:extLst>
              <a:ext uri="{FF2B5EF4-FFF2-40B4-BE49-F238E27FC236}">
                <a16:creationId xmlns:a16="http://schemas.microsoft.com/office/drawing/2014/main" id="{1A97F54A-22CF-252A-B998-8C2461B20AD2}"/>
              </a:ext>
            </a:extLst>
          </p:cNvPr>
          <p:cNvSpPr>
            <a:spLocks noGrp="1"/>
          </p:cNvSpPr>
          <p:nvPr>
            <p:ph idx="1"/>
          </p:nvPr>
        </p:nvSpPr>
        <p:spPr>
          <a:xfrm>
            <a:off x="4769848" y="389467"/>
            <a:ext cx="6888753" cy="2319866"/>
          </a:xfrm>
        </p:spPr>
        <p:txBody>
          <a:bodyPr>
            <a:normAutofit/>
          </a:bodyPr>
          <a:lstStyle/>
          <a:p>
            <a:pPr marL="0" indent="0">
              <a:buNone/>
            </a:pPr>
            <a:r>
              <a:rPr lang="en-US" sz="2400" cap="all" dirty="0">
                <a:ln w="3175" cmpd="sng">
                  <a:noFill/>
                </a:ln>
                <a:solidFill>
                  <a:srgbClr val="FFC000"/>
                </a:solidFill>
                <a:effectLst/>
                <a:latin typeface="AkayaTelivigala" pitchFamily="2" charset="77"/>
                <a:ea typeface="+mj-ea"/>
                <a:cs typeface="AkayaTelivigala" pitchFamily="2" charset="77"/>
              </a:rPr>
              <a:t>Use </a:t>
            </a:r>
            <a:r>
              <a:rPr lang="en-US" sz="2400" cap="all" dirty="0" err="1">
                <a:ln w="3175" cmpd="sng">
                  <a:noFill/>
                </a:ln>
                <a:solidFill>
                  <a:srgbClr val="00B0F0"/>
                </a:solidFill>
                <a:effectLst/>
                <a:latin typeface="AkayaTelivigala" pitchFamily="2" charset="77"/>
                <a:ea typeface="+mj-ea"/>
                <a:cs typeface="AkayaTelivigala" pitchFamily="2" charset="77"/>
              </a:rPr>
              <a:t>useEffect</a:t>
            </a:r>
            <a:r>
              <a:rPr lang="en-US" sz="2400" cap="all" dirty="0">
                <a:ln w="3175" cmpd="sng">
                  <a:noFill/>
                </a:ln>
                <a:solidFill>
                  <a:srgbClr val="FFC000"/>
                </a:solidFill>
                <a:effectLst/>
                <a:latin typeface="AkayaTelivigala" pitchFamily="2" charset="77"/>
                <a:ea typeface="+mj-ea"/>
                <a:cs typeface="AkayaTelivigala" pitchFamily="2" charset="77"/>
              </a:rPr>
              <a:t> when you need automation.</a:t>
            </a:r>
          </a:p>
          <a:p>
            <a:pPr marL="0" indent="0">
              <a:buNone/>
            </a:pPr>
            <a:r>
              <a:rPr lang="en-US" sz="1500" dirty="0">
                <a:ln w="3175" cmpd="sng">
                  <a:noFill/>
                </a:ln>
                <a:effectLst/>
                <a:latin typeface="AkayaTelivigala" pitchFamily="2" charset="77"/>
                <a:cs typeface="AkayaTelivigala" pitchFamily="2" charset="77"/>
              </a:rPr>
              <a:t>Use </a:t>
            </a:r>
            <a:r>
              <a:rPr lang="en-US" sz="1500" dirty="0" err="1">
                <a:ln w="3175" cmpd="sng">
                  <a:noFill/>
                </a:ln>
                <a:effectLst/>
                <a:latin typeface="AkayaTelivigala" pitchFamily="2" charset="77"/>
                <a:cs typeface="AkayaTelivigala" pitchFamily="2" charset="77"/>
              </a:rPr>
              <a:t>useEffect</a:t>
            </a:r>
            <a:r>
              <a:rPr lang="en-US" sz="1500" dirty="0">
                <a:ln w="3175" cmpd="sng">
                  <a:noFill/>
                </a:ln>
                <a:effectLst/>
                <a:latin typeface="AkayaTelivigala" pitchFamily="2" charset="77"/>
                <a:cs typeface="AkayaTelivigala" pitchFamily="2" charset="77"/>
              </a:rPr>
              <a:t> when a side effect should happen automatically under certain conditions of the programs.</a:t>
            </a:r>
          </a:p>
        </p:txBody>
      </p:sp>
      <p:sp>
        <p:nvSpPr>
          <p:cNvPr id="4" name="Content Placeholder 2">
            <a:extLst>
              <a:ext uri="{FF2B5EF4-FFF2-40B4-BE49-F238E27FC236}">
                <a16:creationId xmlns:a16="http://schemas.microsoft.com/office/drawing/2014/main" id="{10E14452-20A1-B176-F873-6A87FA07BDDE}"/>
              </a:ext>
            </a:extLst>
          </p:cNvPr>
          <p:cNvSpPr txBox="1">
            <a:spLocks/>
          </p:cNvSpPr>
          <p:nvPr/>
        </p:nvSpPr>
        <p:spPr>
          <a:xfrm>
            <a:off x="4769847" y="2420580"/>
            <a:ext cx="6888753" cy="2319866"/>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Font typeface="Arial"/>
              <a:buNone/>
            </a:pPr>
            <a:r>
              <a:rPr lang="en-US" sz="2400" cap="all" dirty="0">
                <a:ln w="3175" cmpd="sng">
                  <a:noFill/>
                </a:ln>
                <a:solidFill>
                  <a:srgbClr val="FFC000"/>
                </a:solidFill>
                <a:effectLst/>
                <a:latin typeface="AkayaTelivigala" pitchFamily="2" charset="77"/>
                <a:ea typeface="+mj-ea"/>
                <a:cs typeface="AkayaTelivigala" pitchFamily="2" charset="77"/>
              </a:rPr>
              <a:t>Events with side effects</a:t>
            </a:r>
          </a:p>
          <a:p>
            <a:pPr marL="0" indent="0">
              <a:buFont typeface="Arial"/>
              <a:buNone/>
            </a:pPr>
            <a:r>
              <a:rPr lang="en-US" sz="1500" dirty="0">
                <a:ln w="3175" cmpd="sng">
                  <a:noFill/>
                </a:ln>
                <a:effectLst/>
                <a:latin typeface="AkayaTelivigala" pitchFamily="2" charset="77"/>
                <a:cs typeface="AkayaTelivigala" pitchFamily="2" charset="77"/>
              </a:rPr>
              <a:t>When executing a side effect, is only needed after a user triggered event.</a:t>
            </a:r>
          </a:p>
          <a:p>
            <a:pPr marL="0" indent="0">
              <a:buFont typeface="Arial"/>
              <a:buNone/>
            </a:pPr>
            <a:r>
              <a:rPr lang="en-US" sz="1500" dirty="0">
                <a:ln w="3175" cmpd="sng">
                  <a:noFill/>
                </a:ln>
                <a:effectLst/>
                <a:latin typeface="AkayaTelivigala" pitchFamily="2" charset="77"/>
                <a:cs typeface="AkayaTelivigala" pitchFamily="2" charset="77"/>
              </a:rPr>
              <a:t>When there is no need to run a side effect on the first load of the application.</a:t>
            </a:r>
          </a:p>
          <a:p>
            <a:pPr marL="0" indent="0">
              <a:buFont typeface="Arial"/>
              <a:buNone/>
            </a:pPr>
            <a:r>
              <a:rPr lang="en-US" sz="1500" dirty="0">
                <a:ln w="3175" cmpd="sng">
                  <a:noFill/>
                </a:ln>
                <a:effectLst/>
                <a:latin typeface="AkayaTelivigala" pitchFamily="2" charset="77"/>
                <a:cs typeface="AkayaTelivigala" pitchFamily="2" charset="77"/>
              </a:rPr>
              <a:t>When there is no need to run a cleanup function.</a:t>
            </a:r>
          </a:p>
        </p:txBody>
      </p:sp>
    </p:spTree>
    <p:extLst>
      <p:ext uri="{BB962C8B-B14F-4D97-AF65-F5344CB8AC3E}">
        <p14:creationId xmlns:p14="http://schemas.microsoft.com/office/powerpoint/2010/main" val="37645948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E5D96-C426-F0AD-354D-D9D966E2CB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0C1CE-9E9C-A226-8505-7B97E2D8BF86}"/>
              </a:ext>
            </a:extLst>
          </p:cNvPr>
          <p:cNvSpPr>
            <a:spLocks noGrp="1"/>
          </p:cNvSpPr>
          <p:nvPr>
            <p:ph type="title"/>
          </p:nvPr>
        </p:nvSpPr>
        <p:spPr>
          <a:xfrm>
            <a:off x="2415468" y="2846650"/>
            <a:ext cx="7361063" cy="1164699"/>
          </a:xfrm>
        </p:spPr>
        <p:txBody>
          <a:bodyPr>
            <a:normAutofit/>
          </a:bodyPr>
          <a:lstStyle/>
          <a:p>
            <a:pPr algn="ctr"/>
            <a:r>
              <a:rPr lang="en-US" dirty="0">
                <a:solidFill>
                  <a:srgbClr val="FFC000"/>
                </a:solidFill>
                <a:effectLst/>
                <a:latin typeface="AkayaTelivigala" pitchFamily="2" charset="77"/>
                <a:cs typeface="AkayaTelivigala" pitchFamily="2" charset="77"/>
              </a:rPr>
              <a:t>Class vs Functional Components</a:t>
            </a:r>
            <a:br>
              <a:rPr lang="en-US" dirty="0">
                <a:solidFill>
                  <a:srgbClr val="FFC000"/>
                </a:solidFill>
                <a:effectLst/>
                <a:latin typeface="AkayaTelivigala" pitchFamily="2" charset="77"/>
                <a:cs typeface="AkayaTelivigala" pitchFamily="2" charset="77"/>
              </a:rPr>
            </a:br>
            <a:r>
              <a:rPr lang="en-US" sz="2000" dirty="0">
                <a:solidFill>
                  <a:schemeClr val="tx1">
                    <a:lumMod val="85000"/>
                  </a:schemeClr>
                </a:solidFill>
                <a:effectLst/>
                <a:latin typeface="AkayaTelivigala" pitchFamily="2" charset="77"/>
                <a:cs typeface="AkayaTelivigala" pitchFamily="2" charset="77"/>
              </a:rPr>
              <a:t>-- And their differences</a:t>
            </a:r>
          </a:p>
        </p:txBody>
      </p:sp>
    </p:spTree>
    <p:extLst>
      <p:ext uri="{BB962C8B-B14F-4D97-AF65-F5344CB8AC3E}">
        <p14:creationId xmlns:p14="http://schemas.microsoft.com/office/powerpoint/2010/main" val="34776720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C9E2A-E518-6824-3BD2-80DD7340A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2F255-0257-A535-F644-19F39DF9DC08}"/>
              </a:ext>
            </a:extLst>
          </p:cNvPr>
          <p:cNvSpPr>
            <a:spLocks noGrp="1"/>
          </p:cNvSpPr>
          <p:nvPr>
            <p:ph type="title"/>
          </p:nvPr>
        </p:nvSpPr>
        <p:spPr>
          <a:xfrm>
            <a:off x="533399" y="2117554"/>
            <a:ext cx="3332955" cy="2622892"/>
          </a:xfrm>
        </p:spPr>
        <p:txBody>
          <a:bodyPr anchor="ctr">
            <a:normAutofit/>
          </a:bodyPr>
          <a:lstStyle/>
          <a:p>
            <a:r>
              <a:rPr lang="en-US" sz="3100" cap="small" dirty="0">
                <a:solidFill>
                  <a:srgbClr val="FFC000"/>
                </a:solidFill>
                <a:effectLst/>
                <a:latin typeface="Calibri" panose="020F0502020204030204" pitchFamily="34" charset="0"/>
                <a:ea typeface="+mn-ea"/>
                <a:cs typeface="Calibri" panose="020F0502020204030204" pitchFamily="34" charset="0"/>
              </a:rPr>
              <a:t>Class vs Function</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 Class and Functional components are two ways to create components in React</a:t>
            </a: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endPar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endParaRPr>
          </a:p>
        </p:txBody>
      </p:sp>
      <p:sp>
        <p:nvSpPr>
          <p:cNvPr id="3" name="Content Placeholder 2">
            <a:extLst>
              <a:ext uri="{FF2B5EF4-FFF2-40B4-BE49-F238E27FC236}">
                <a16:creationId xmlns:a16="http://schemas.microsoft.com/office/drawing/2014/main" id="{267F23CA-ECAB-5285-43FA-CF7B50C3AE10}"/>
              </a:ext>
            </a:extLst>
          </p:cNvPr>
          <p:cNvSpPr>
            <a:spLocks noGrp="1"/>
          </p:cNvSpPr>
          <p:nvPr>
            <p:ph idx="1"/>
          </p:nvPr>
        </p:nvSpPr>
        <p:spPr>
          <a:xfrm>
            <a:off x="4769848" y="389467"/>
            <a:ext cx="6888753" cy="2319866"/>
          </a:xfrm>
        </p:spPr>
        <p:txBody>
          <a:bodyPr>
            <a:normAutofit/>
          </a:bodyPr>
          <a:lstStyle/>
          <a:p>
            <a:pPr marL="0" indent="0">
              <a:buNone/>
            </a:pPr>
            <a:r>
              <a:rPr lang="en-US" sz="2400" cap="all" dirty="0">
                <a:ln w="3175" cmpd="sng">
                  <a:noFill/>
                </a:ln>
                <a:solidFill>
                  <a:srgbClr val="FFC000"/>
                </a:solidFill>
                <a:effectLst/>
                <a:latin typeface="Calibri" panose="020F0502020204030204" pitchFamily="34" charset="0"/>
                <a:ea typeface="+mj-ea"/>
                <a:cs typeface="Calibri" panose="020F0502020204030204" pitchFamily="34" charset="0"/>
              </a:rPr>
              <a:t>Class Components</a:t>
            </a:r>
          </a:p>
          <a:p>
            <a:pPr marL="0" indent="0">
              <a:buNone/>
            </a:pPr>
            <a:r>
              <a:rPr lang="en-US" sz="1500" dirty="0">
                <a:ln w="3175" cmpd="sng">
                  <a:noFill/>
                </a:ln>
                <a:effectLst/>
                <a:latin typeface="AkayaTelivigala" pitchFamily="2" charset="77"/>
                <a:cs typeface="AkayaTelivigala" pitchFamily="2" charset="77"/>
              </a:rPr>
              <a:t>Class components in react were in the main way of creating components before the introduction of the hooks in React version 16.8 (2019).</a:t>
            </a:r>
          </a:p>
        </p:txBody>
      </p:sp>
      <p:sp>
        <p:nvSpPr>
          <p:cNvPr id="4" name="Content Placeholder 2">
            <a:extLst>
              <a:ext uri="{FF2B5EF4-FFF2-40B4-BE49-F238E27FC236}">
                <a16:creationId xmlns:a16="http://schemas.microsoft.com/office/drawing/2014/main" id="{C5904A5C-5A1D-03FB-4E50-05DEEE4A7F70}"/>
              </a:ext>
            </a:extLst>
          </p:cNvPr>
          <p:cNvSpPr txBox="1">
            <a:spLocks/>
          </p:cNvSpPr>
          <p:nvPr/>
        </p:nvSpPr>
        <p:spPr>
          <a:xfrm>
            <a:off x="4769847" y="2420580"/>
            <a:ext cx="6888753" cy="2319866"/>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Font typeface="Arial"/>
              <a:buNone/>
            </a:pPr>
            <a:r>
              <a:rPr lang="en-US" sz="2400" cap="all" dirty="0">
                <a:ln w="3175" cmpd="sng">
                  <a:noFill/>
                </a:ln>
                <a:solidFill>
                  <a:srgbClr val="FFC000"/>
                </a:solidFill>
                <a:effectLst/>
                <a:latin typeface="AkayaTelivigala" pitchFamily="2" charset="77"/>
                <a:ea typeface="+mj-ea"/>
                <a:cs typeface="AkayaTelivigala" pitchFamily="2" charset="77"/>
              </a:rPr>
              <a:t>Main feature of class components:</a:t>
            </a:r>
          </a:p>
          <a:p>
            <a:pPr marL="0" indent="0">
              <a:buFont typeface="Arial"/>
              <a:buNone/>
            </a:pPr>
            <a:r>
              <a:rPr lang="en-US" sz="1500" dirty="0">
                <a:ln w="3175" cmpd="sng">
                  <a:noFill/>
                </a:ln>
                <a:effectLst/>
                <a:latin typeface="AkayaTelivigala" pitchFamily="2" charset="77"/>
                <a:cs typeface="AkayaTelivigala" pitchFamily="2" charset="77"/>
              </a:rPr>
              <a:t>State: In class component, state is stored in the state objects, which can be changes using the </a:t>
            </a:r>
            <a:r>
              <a:rPr lang="en-US" sz="1500" dirty="0" err="1">
                <a:ln w="3175" cmpd="sng">
                  <a:noFill/>
                </a:ln>
                <a:effectLst/>
                <a:latin typeface="AkayaTelivigala" pitchFamily="2" charset="77"/>
                <a:cs typeface="AkayaTelivigala" pitchFamily="2" charset="77"/>
              </a:rPr>
              <a:t>setState</a:t>
            </a:r>
            <a:r>
              <a:rPr lang="en-US" sz="1500" dirty="0">
                <a:ln w="3175" cmpd="sng">
                  <a:noFill/>
                </a:ln>
                <a:effectLst/>
                <a:latin typeface="AkayaTelivigala" pitchFamily="2" charset="77"/>
                <a:cs typeface="AkayaTelivigala" pitchFamily="2" charset="77"/>
              </a:rPr>
              <a:t> method.</a:t>
            </a:r>
          </a:p>
          <a:p>
            <a:pPr marL="0" indent="0">
              <a:buFont typeface="Arial"/>
              <a:buNone/>
            </a:pPr>
            <a:r>
              <a:rPr lang="en-US" sz="1500" dirty="0" err="1">
                <a:ln w="3175" cmpd="sng">
                  <a:noFill/>
                </a:ln>
                <a:effectLst/>
                <a:latin typeface="AkayaTelivigala" pitchFamily="2" charset="77"/>
                <a:cs typeface="AkayaTelivigala" pitchFamily="2" charset="77"/>
              </a:rPr>
              <a:t>LifeCycle</a:t>
            </a:r>
            <a:r>
              <a:rPr lang="en-US" sz="1500" dirty="0">
                <a:ln w="3175" cmpd="sng">
                  <a:noFill/>
                </a:ln>
                <a:effectLst/>
                <a:latin typeface="AkayaTelivigala" pitchFamily="2" charset="77"/>
                <a:cs typeface="AkayaTelivigala" pitchFamily="2" charset="77"/>
              </a:rPr>
              <a:t> methods:</a:t>
            </a:r>
          </a:p>
          <a:p>
            <a:pPr marL="0" indent="0">
              <a:buFont typeface="Arial"/>
              <a:buNone/>
            </a:pPr>
            <a:r>
              <a:rPr lang="en-US" sz="1500" dirty="0">
                <a:ln w="3175" cmpd="sng">
                  <a:noFill/>
                </a:ln>
                <a:effectLst/>
                <a:latin typeface="AkayaTelivigala" pitchFamily="2" charset="77"/>
                <a:cs typeface="AkayaTelivigala" pitchFamily="2" charset="77"/>
              </a:rPr>
              <a:t>Instances: For each class components, React creates an instance of the class, which stores state and methods.</a:t>
            </a:r>
          </a:p>
        </p:txBody>
      </p:sp>
    </p:spTree>
    <p:extLst>
      <p:ext uri="{BB962C8B-B14F-4D97-AF65-F5344CB8AC3E}">
        <p14:creationId xmlns:p14="http://schemas.microsoft.com/office/powerpoint/2010/main" val="13649041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5D06A-52C9-BCBA-51FE-CDA21A787F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A5358-7A4A-D57C-119D-1CB78B5937CE}"/>
              </a:ext>
            </a:extLst>
          </p:cNvPr>
          <p:cNvSpPr>
            <a:spLocks noGrp="1"/>
          </p:cNvSpPr>
          <p:nvPr>
            <p:ph type="title"/>
          </p:nvPr>
        </p:nvSpPr>
        <p:spPr>
          <a:xfrm>
            <a:off x="533399" y="2117554"/>
            <a:ext cx="3332955" cy="2622892"/>
          </a:xfrm>
        </p:spPr>
        <p:txBody>
          <a:bodyPr anchor="ctr">
            <a:normAutofit/>
          </a:bodyPr>
          <a:lstStyle/>
          <a:p>
            <a:r>
              <a:rPr lang="en-US" sz="3100" cap="small" dirty="0">
                <a:solidFill>
                  <a:srgbClr val="FFC000"/>
                </a:solidFill>
                <a:effectLst/>
                <a:latin typeface="Calibri" panose="020F0502020204030204" pitchFamily="34" charset="0"/>
                <a:ea typeface="+mn-ea"/>
                <a:cs typeface="Calibri" panose="020F0502020204030204" pitchFamily="34" charset="0"/>
              </a:rPr>
              <a:t>Class vs Function</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 Class and Functional components are two ways to create components in React</a:t>
            </a: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endPar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endParaRPr>
          </a:p>
        </p:txBody>
      </p:sp>
      <p:sp>
        <p:nvSpPr>
          <p:cNvPr id="3" name="Content Placeholder 2">
            <a:extLst>
              <a:ext uri="{FF2B5EF4-FFF2-40B4-BE49-F238E27FC236}">
                <a16:creationId xmlns:a16="http://schemas.microsoft.com/office/drawing/2014/main" id="{3D3D9A39-435D-27EE-F1D9-ECEE9BCF4576}"/>
              </a:ext>
            </a:extLst>
          </p:cNvPr>
          <p:cNvSpPr>
            <a:spLocks noGrp="1"/>
          </p:cNvSpPr>
          <p:nvPr>
            <p:ph idx="1"/>
          </p:nvPr>
        </p:nvSpPr>
        <p:spPr>
          <a:xfrm>
            <a:off x="4769848" y="389467"/>
            <a:ext cx="6888753" cy="2319866"/>
          </a:xfrm>
        </p:spPr>
        <p:txBody>
          <a:bodyPr>
            <a:normAutofit/>
          </a:bodyPr>
          <a:lstStyle/>
          <a:p>
            <a:pPr marL="0" indent="0">
              <a:buNone/>
            </a:pPr>
            <a:r>
              <a:rPr lang="en-US" sz="2400" cap="all" dirty="0">
                <a:ln w="3175" cmpd="sng">
                  <a:noFill/>
                </a:ln>
                <a:solidFill>
                  <a:srgbClr val="FFC000"/>
                </a:solidFill>
                <a:effectLst/>
                <a:latin typeface="AkayaTelivigala" pitchFamily="2" charset="77"/>
                <a:ea typeface="+mj-ea"/>
                <a:cs typeface="AkayaTelivigala" pitchFamily="2" charset="77"/>
              </a:rPr>
              <a:t>Functional Components</a:t>
            </a:r>
          </a:p>
          <a:p>
            <a:pPr marL="0" indent="0">
              <a:buNone/>
            </a:pPr>
            <a:r>
              <a:rPr lang="en-US" sz="1500" dirty="0">
                <a:ln w="3175" cmpd="sng">
                  <a:noFill/>
                </a:ln>
                <a:effectLst/>
                <a:latin typeface="AkayaTelivigala" pitchFamily="2" charset="77"/>
                <a:cs typeface="AkayaTelivigala" pitchFamily="2" charset="77"/>
              </a:rPr>
              <a:t>Functional components in react are simpler way to create components, Earlier they were also known as “stateless”, however after introduction of hooks functional components become more powerful and now can perform all the same task as class-based components.</a:t>
            </a:r>
          </a:p>
        </p:txBody>
      </p:sp>
      <p:sp>
        <p:nvSpPr>
          <p:cNvPr id="4" name="Content Placeholder 2">
            <a:extLst>
              <a:ext uri="{FF2B5EF4-FFF2-40B4-BE49-F238E27FC236}">
                <a16:creationId xmlns:a16="http://schemas.microsoft.com/office/drawing/2014/main" id="{55C0FEB7-4914-FD59-1225-CCD6E486F807}"/>
              </a:ext>
            </a:extLst>
          </p:cNvPr>
          <p:cNvSpPr txBox="1">
            <a:spLocks/>
          </p:cNvSpPr>
          <p:nvPr/>
        </p:nvSpPr>
        <p:spPr>
          <a:xfrm>
            <a:off x="4769847" y="2420580"/>
            <a:ext cx="6888753" cy="2319866"/>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Font typeface="Arial"/>
              <a:buNone/>
            </a:pPr>
            <a:r>
              <a:rPr lang="en-US" sz="2400" cap="all" dirty="0">
                <a:ln w="3175" cmpd="sng">
                  <a:noFill/>
                </a:ln>
                <a:solidFill>
                  <a:srgbClr val="FFC000"/>
                </a:solidFill>
                <a:effectLst/>
                <a:latin typeface="AkayaTelivigala" pitchFamily="2" charset="77"/>
                <a:ea typeface="+mj-ea"/>
                <a:cs typeface="AkayaTelivigala" pitchFamily="2" charset="77"/>
              </a:rPr>
              <a:t>Main feature of Functional components:</a:t>
            </a:r>
          </a:p>
          <a:p>
            <a:pPr marL="0" indent="0">
              <a:buFont typeface="Arial"/>
              <a:buNone/>
            </a:pPr>
            <a:r>
              <a:rPr lang="en-US" sz="1500" dirty="0">
                <a:ln w="3175" cmpd="sng">
                  <a:noFill/>
                </a:ln>
                <a:effectLst/>
                <a:latin typeface="AkayaTelivigala" pitchFamily="2" charset="77"/>
                <a:cs typeface="AkayaTelivigala" pitchFamily="2" charset="77"/>
              </a:rPr>
              <a:t>Simplicity.</a:t>
            </a:r>
          </a:p>
          <a:p>
            <a:pPr marL="0" indent="0">
              <a:buFont typeface="Arial"/>
              <a:buNone/>
            </a:pPr>
            <a:r>
              <a:rPr lang="en-US" sz="1500" dirty="0">
                <a:ln w="3175" cmpd="sng">
                  <a:noFill/>
                </a:ln>
                <a:effectLst/>
                <a:latin typeface="AkayaTelivigala" pitchFamily="2" charset="77"/>
                <a:cs typeface="AkayaTelivigala" pitchFamily="2" charset="77"/>
              </a:rPr>
              <a:t>Hooks.</a:t>
            </a:r>
          </a:p>
          <a:p>
            <a:pPr marL="0" indent="0">
              <a:buFont typeface="Arial"/>
              <a:buNone/>
            </a:pPr>
            <a:r>
              <a:rPr lang="en-US" sz="1500" dirty="0">
                <a:ln w="3175" cmpd="sng">
                  <a:noFill/>
                </a:ln>
                <a:effectLst/>
                <a:latin typeface="AkayaTelivigala" pitchFamily="2" charset="77"/>
                <a:cs typeface="AkayaTelivigala" pitchFamily="2" charset="77"/>
              </a:rPr>
              <a:t>No lifecycle methods.</a:t>
            </a:r>
          </a:p>
        </p:txBody>
      </p:sp>
    </p:spTree>
    <p:extLst>
      <p:ext uri="{BB962C8B-B14F-4D97-AF65-F5344CB8AC3E}">
        <p14:creationId xmlns:p14="http://schemas.microsoft.com/office/powerpoint/2010/main" val="12995800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33F78-9A86-4031-51F3-76B0F9A4A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73091F-C560-9564-302E-01F70D25C00F}"/>
              </a:ext>
            </a:extLst>
          </p:cNvPr>
          <p:cNvSpPr>
            <a:spLocks noGrp="1"/>
          </p:cNvSpPr>
          <p:nvPr>
            <p:ph type="title"/>
          </p:nvPr>
        </p:nvSpPr>
        <p:spPr>
          <a:xfrm>
            <a:off x="2415468" y="2846650"/>
            <a:ext cx="7361063" cy="1164699"/>
          </a:xfrm>
        </p:spPr>
        <p:txBody>
          <a:bodyPr>
            <a:normAutofit/>
          </a:bodyPr>
          <a:lstStyle/>
          <a:p>
            <a:pPr algn="ctr"/>
            <a:r>
              <a:rPr lang="en-US" dirty="0">
                <a:solidFill>
                  <a:srgbClr val="FFC000"/>
                </a:solidFill>
                <a:effectLst/>
                <a:latin typeface="AkayaTelivigala" pitchFamily="2" charset="77"/>
                <a:cs typeface="AkayaTelivigala" pitchFamily="2" charset="77"/>
              </a:rPr>
              <a:t>Rendering</a:t>
            </a:r>
            <a:br>
              <a:rPr lang="en-US" dirty="0">
                <a:solidFill>
                  <a:srgbClr val="FFC000"/>
                </a:solidFill>
                <a:effectLst/>
                <a:latin typeface="AkayaTelivigala" pitchFamily="2" charset="77"/>
                <a:cs typeface="AkayaTelivigala" pitchFamily="2" charset="77"/>
              </a:rPr>
            </a:br>
            <a:r>
              <a:rPr lang="en-US" sz="2000" dirty="0">
                <a:solidFill>
                  <a:schemeClr val="tx1">
                    <a:lumMod val="85000"/>
                  </a:schemeClr>
                </a:solidFill>
                <a:effectLst/>
                <a:latin typeface="AkayaTelivigala" pitchFamily="2" charset="77"/>
                <a:cs typeface="AkayaTelivigala" pitchFamily="2" charset="77"/>
              </a:rPr>
              <a:t>-- How it works</a:t>
            </a:r>
          </a:p>
        </p:txBody>
      </p:sp>
    </p:spTree>
    <p:extLst>
      <p:ext uri="{BB962C8B-B14F-4D97-AF65-F5344CB8AC3E}">
        <p14:creationId xmlns:p14="http://schemas.microsoft.com/office/powerpoint/2010/main" val="3181724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1216D-3AB2-7451-3C5C-19D350357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EBFEA-9DEA-64CF-0329-6058BAAE5332}"/>
              </a:ext>
            </a:extLst>
          </p:cNvPr>
          <p:cNvSpPr>
            <a:spLocks noGrp="1"/>
          </p:cNvSpPr>
          <p:nvPr>
            <p:ph type="title"/>
          </p:nvPr>
        </p:nvSpPr>
        <p:spPr>
          <a:xfrm>
            <a:off x="214134" y="586050"/>
            <a:ext cx="7361063" cy="1522150"/>
          </a:xfrm>
        </p:spPr>
        <p:txBody>
          <a:bodyPr>
            <a:normAutofit/>
          </a:bodyPr>
          <a:lstStyle/>
          <a:p>
            <a:r>
              <a:rPr lang="en-US" sz="1800" dirty="0">
                <a:solidFill>
                  <a:srgbClr val="FFC000"/>
                </a:solidFill>
                <a:effectLst/>
                <a:latin typeface="AkayaTelivigala" pitchFamily="2" charset="77"/>
                <a:cs typeface="AkayaTelivigala" pitchFamily="2" charset="77"/>
              </a:rPr>
              <a:t>Component Rendering in React</a:t>
            </a:r>
            <a:br>
              <a:rPr lang="en-US" dirty="0">
                <a:solidFill>
                  <a:srgbClr val="FFC000"/>
                </a:solidFill>
                <a:effectLst/>
                <a:latin typeface="AkayaTelivigala" pitchFamily="2" charset="77"/>
                <a:cs typeface="AkayaTelivigala" pitchFamily="2" charset="77"/>
              </a:rPr>
            </a:br>
            <a:r>
              <a:rPr lang="en-US" sz="1400" dirty="0">
                <a:solidFill>
                  <a:schemeClr val="tx1">
                    <a:lumMod val="85000"/>
                  </a:schemeClr>
                </a:solidFill>
                <a:effectLst/>
                <a:latin typeface="AkayaTelivigala" pitchFamily="2" charset="77"/>
                <a:cs typeface="AkayaTelivigala" pitchFamily="2" charset="77"/>
              </a:rPr>
              <a:t>-- is the process where React calls the component function to get a description of the interface in the form of react elements.</a:t>
            </a:r>
            <a:br>
              <a:rPr lang="en-US" sz="1400" dirty="0">
                <a:solidFill>
                  <a:schemeClr val="tx1">
                    <a:lumMod val="85000"/>
                  </a:schemeClr>
                </a:solidFill>
                <a:effectLst/>
                <a:latin typeface="AkayaTelivigala" pitchFamily="2" charset="77"/>
                <a:cs typeface="AkayaTelivigala" pitchFamily="2" charset="77"/>
              </a:rPr>
            </a:br>
            <a:r>
              <a:rPr lang="en-US" sz="1400" dirty="0">
                <a:solidFill>
                  <a:schemeClr val="tx1">
                    <a:lumMod val="85000"/>
                  </a:schemeClr>
                </a:solidFill>
                <a:effectLst/>
                <a:latin typeface="AkayaTelivigala" pitchFamily="2" charset="77"/>
                <a:cs typeface="AkayaTelivigala" pitchFamily="2" charset="77"/>
              </a:rPr>
              <a:t>These elements are used to create and update the virtual </a:t>
            </a:r>
            <a:r>
              <a:rPr lang="en-US" sz="1400" dirty="0" err="1">
                <a:solidFill>
                  <a:schemeClr val="tx1">
                    <a:lumMod val="85000"/>
                  </a:schemeClr>
                </a:solidFill>
                <a:effectLst/>
                <a:latin typeface="AkayaTelivigala" pitchFamily="2" charset="77"/>
                <a:cs typeface="AkayaTelivigala" pitchFamily="2" charset="77"/>
              </a:rPr>
              <a:t>dom</a:t>
            </a:r>
            <a:r>
              <a:rPr lang="en-US" sz="1400" dirty="0">
                <a:solidFill>
                  <a:schemeClr val="tx1">
                    <a:lumMod val="85000"/>
                  </a:schemeClr>
                </a:solidFill>
                <a:effectLst/>
                <a:latin typeface="AkayaTelivigala" pitchFamily="2" charset="77"/>
                <a:cs typeface="AkayaTelivigala" pitchFamily="2" charset="77"/>
              </a:rPr>
              <a:t>, which is then synchronized with the real dom.</a:t>
            </a:r>
          </a:p>
        </p:txBody>
      </p:sp>
      <p:sp>
        <p:nvSpPr>
          <p:cNvPr id="3" name="Content Placeholder 2">
            <a:extLst>
              <a:ext uri="{FF2B5EF4-FFF2-40B4-BE49-F238E27FC236}">
                <a16:creationId xmlns:a16="http://schemas.microsoft.com/office/drawing/2014/main" id="{9280B94B-518F-51CB-8D85-269D572A29FD}"/>
              </a:ext>
            </a:extLst>
          </p:cNvPr>
          <p:cNvSpPr>
            <a:spLocks noGrp="1"/>
          </p:cNvSpPr>
          <p:nvPr>
            <p:ph idx="1"/>
          </p:nvPr>
        </p:nvSpPr>
        <p:spPr>
          <a:xfrm>
            <a:off x="358714" y="2611449"/>
            <a:ext cx="6180667" cy="292099"/>
          </a:xfrm>
        </p:spPr>
        <p:txBody>
          <a:bodyPr>
            <a:normAutofit/>
          </a:bodyPr>
          <a:lstStyle/>
          <a:p>
            <a:pPr marL="0" indent="0">
              <a:buNone/>
            </a:pPr>
            <a:r>
              <a:rPr lang="en-US" sz="1200" dirty="0">
                <a:effectLst/>
              </a:rPr>
              <a:t>Rendering is not drawing on the screen but drawing under the hood of react.</a:t>
            </a:r>
            <a:endParaRPr lang="en-US" dirty="0">
              <a:solidFill>
                <a:schemeClr val="tx1"/>
              </a:solidFill>
              <a:effectLst/>
              <a:latin typeface="AkayaTelivigala" pitchFamily="2" charset="77"/>
              <a:cs typeface="AkayaTelivigala" pitchFamily="2" charset="77"/>
            </a:endParaRPr>
          </a:p>
        </p:txBody>
      </p:sp>
      <p:sp>
        <p:nvSpPr>
          <p:cNvPr id="4" name="Rectangle 3">
            <a:extLst>
              <a:ext uri="{FF2B5EF4-FFF2-40B4-BE49-F238E27FC236}">
                <a16:creationId xmlns:a16="http://schemas.microsoft.com/office/drawing/2014/main" id="{4D72E223-DEFA-6EA7-DE6A-92E0084C064D}"/>
              </a:ext>
            </a:extLst>
          </p:cNvPr>
          <p:cNvSpPr/>
          <p:nvPr/>
        </p:nvSpPr>
        <p:spPr>
          <a:xfrm>
            <a:off x="358714" y="2499266"/>
            <a:ext cx="6180667" cy="5164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2">
            <a:extLst>
              <a:ext uri="{FF2B5EF4-FFF2-40B4-BE49-F238E27FC236}">
                <a16:creationId xmlns:a16="http://schemas.microsoft.com/office/drawing/2014/main" id="{EF547869-EDD8-D9DA-3144-28F31269779B}"/>
              </a:ext>
            </a:extLst>
          </p:cNvPr>
          <p:cNvSpPr txBox="1">
            <a:spLocks/>
          </p:cNvSpPr>
          <p:nvPr/>
        </p:nvSpPr>
        <p:spPr>
          <a:xfrm>
            <a:off x="214134" y="3015731"/>
            <a:ext cx="6888753" cy="3350683"/>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buClr>
              <a:buSzPct val="100000"/>
              <a:buFont typeface="Arial"/>
              <a:buChar char="•"/>
              <a:defRPr sz="20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Font typeface="Arial"/>
              <a:buNone/>
            </a:pPr>
            <a:r>
              <a:rPr lang="en-US" sz="1400" b="1" dirty="0">
                <a:ln w="3175" cmpd="sng">
                  <a:noFill/>
                </a:ln>
                <a:effectLst/>
                <a:latin typeface="AkayaTelivigala" pitchFamily="2" charset="77"/>
                <a:cs typeface="AkayaTelivigala" pitchFamily="2" charset="77"/>
              </a:rPr>
              <a:t>Internal rendering:</a:t>
            </a:r>
            <a:r>
              <a:rPr lang="en-US" sz="1400" dirty="0">
                <a:ln w="3175" cmpd="sng">
                  <a:noFill/>
                </a:ln>
                <a:effectLst/>
                <a:latin typeface="AkayaTelivigala" pitchFamily="2" charset="77"/>
                <a:cs typeface="AkayaTelivigala" pitchFamily="2" charset="77"/>
              </a:rPr>
              <a:t> When we talk about rendering in React, we often mean the process of calling the, which returns React elements (via JSX). These elements form the virtual DOM — component the internal representation of the interface that React works with.</a:t>
            </a:r>
          </a:p>
          <a:p>
            <a:pPr marL="0" indent="0">
              <a:buFont typeface="Arial"/>
              <a:buNone/>
            </a:pPr>
            <a:r>
              <a:rPr lang="en-US" sz="1400" dirty="0">
                <a:ln w="3175" cmpd="sng">
                  <a:noFill/>
                </a:ln>
                <a:effectLst/>
                <a:latin typeface="AkayaTelivigala" pitchFamily="2" charset="77"/>
                <a:cs typeface="AkayaTelivigala" pitchFamily="2" charset="77"/>
              </a:rPr>
              <a:t>Drawing: After rendering , React compares the new virtual DOM with the previous one to determine the minimal changes that need to be applied to the real DOM (this process is called “diffing ”). Only after that are then changes synchronized with the real DOM, which leads to visible updates on the screen.</a:t>
            </a:r>
          </a:p>
        </p:txBody>
      </p:sp>
      <p:sp>
        <p:nvSpPr>
          <p:cNvPr id="9" name="Content Placeholder 2">
            <a:extLst>
              <a:ext uri="{FF2B5EF4-FFF2-40B4-BE49-F238E27FC236}">
                <a16:creationId xmlns:a16="http://schemas.microsoft.com/office/drawing/2014/main" id="{049E1C8F-8EA3-6B6E-5F85-B5F817E96404}"/>
              </a:ext>
            </a:extLst>
          </p:cNvPr>
          <p:cNvSpPr txBox="1">
            <a:spLocks/>
          </p:cNvSpPr>
          <p:nvPr/>
        </p:nvSpPr>
        <p:spPr>
          <a:xfrm>
            <a:off x="7699316" y="237067"/>
            <a:ext cx="4278550" cy="6299200"/>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buClr>
              <a:buSzPct val="100000"/>
              <a:buFont typeface="Arial"/>
              <a:buChar char="•"/>
              <a:defRPr sz="20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Font typeface="Arial"/>
              <a:buNone/>
            </a:pPr>
            <a:r>
              <a:rPr lang="en-US" sz="1800" cap="all" dirty="0">
                <a:ln w="3175" cmpd="sng">
                  <a:noFill/>
                </a:ln>
                <a:solidFill>
                  <a:srgbClr val="FFC000"/>
                </a:solidFill>
                <a:effectLst/>
                <a:latin typeface="AkayaTelivigala" pitchFamily="2" charset="77"/>
                <a:ea typeface="+mj-ea"/>
                <a:cs typeface="AkayaTelivigala" pitchFamily="2" charset="77"/>
              </a:rPr>
              <a:t>Rendering Includes:</a:t>
            </a:r>
          </a:p>
          <a:p>
            <a:pPr marL="800100" lvl="1" indent="-342900">
              <a:buFont typeface="+mj-lt"/>
              <a:buAutoNum type="arabicPeriod"/>
            </a:pPr>
            <a:r>
              <a:rPr lang="en-US" sz="1200" dirty="0">
                <a:ln w="3175" cmpd="sng">
                  <a:noFill/>
                </a:ln>
                <a:effectLst/>
                <a:latin typeface="AkayaTelivigala" pitchFamily="2" charset="77"/>
                <a:cs typeface="AkayaTelivigala" pitchFamily="2" charset="77"/>
              </a:rPr>
              <a:t>Calling the components and getting elements</a:t>
            </a:r>
          </a:p>
          <a:p>
            <a:pPr marL="800100" lvl="1" indent="-342900">
              <a:buFont typeface="+mj-lt"/>
              <a:buAutoNum type="arabicPeriod"/>
            </a:pPr>
            <a:r>
              <a:rPr lang="en-US" sz="1200" dirty="0">
                <a:ln w="3175" cmpd="sng">
                  <a:noFill/>
                </a:ln>
                <a:effectLst/>
                <a:latin typeface="AkayaTelivigala" pitchFamily="2" charset="77"/>
                <a:cs typeface="AkayaTelivigala" pitchFamily="2" charset="77"/>
              </a:rPr>
              <a:t>Building and updating the virtual dom.</a:t>
            </a:r>
          </a:p>
          <a:p>
            <a:pPr marL="800100" lvl="1" indent="-342900">
              <a:buFont typeface="+mj-lt"/>
              <a:buAutoNum type="arabicPeriod"/>
            </a:pPr>
            <a:r>
              <a:rPr lang="en-US" sz="1200" dirty="0">
                <a:ln w="3175" cmpd="sng">
                  <a:noFill/>
                </a:ln>
                <a:effectLst/>
                <a:latin typeface="AkayaTelivigala" pitchFamily="2" charset="77"/>
                <a:cs typeface="AkayaTelivigala" pitchFamily="2" charset="77"/>
              </a:rPr>
              <a:t>Comparing the virtual </a:t>
            </a:r>
            <a:r>
              <a:rPr lang="en-US" sz="1200" dirty="0" err="1">
                <a:ln w="3175" cmpd="sng">
                  <a:noFill/>
                </a:ln>
                <a:effectLst/>
                <a:latin typeface="AkayaTelivigala" pitchFamily="2" charset="77"/>
                <a:cs typeface="AkayaTelivigala" pitchFamily="2" charset="77"/>
              </a:rPr>
              <a:t>dom</a:t>
            </a:r>
            <a:r>
              <a:rPr lang="en-US" sz="1200" dirty="0">
                <a:ln w="3175" cmpd="sng">
                  <a:noFill/>
                </a:ln>
                <a:effectLst/>
                <a:latin typeface="AkayaTelivigala" pitchFamily="2" charset="77"/>
                <a:cs typeface="AkayaTelivigala" pitchFamily="2" charset="77"/>
              </a:rPr>
              <a:t> with the previous dom.</a:t>
            </a:r>
          </a:p>
        </p:txBody>
      </p:sp>
      <p:sp>
        <p:nvSpPr>
          <p:cNvPr id="10" name="Content Placeholder 2">
            <a:extLst>
              <a:ext uri="{FF2B5EF4-FFF2-40B4-BE49-F238E27FC236}">
                <a16:creationId xmlns:a16="http://schemas.microsoft.com/office/drawing/2014/main" id="{1EEF3293-61C2-809A-AD54-55FAD3B7D444}"/>
              </a:ext>
            </a:extLst>
          </p:cNvPr>
          <p:cNvSpPr txBox="1">
            <a:spLocks/>
          </p:cNvSpPr>
          <p:nvPr/>
        </p:nvSpPr>
        <p:spPr>
          <a:xfrm>
            <a:off x="7840133" y="4629172"/>
            <a:ext cx="4137733" cy="909627"/>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buClr>
              <a:buSzPct val="100000"/>
              <a:buFont typeface="Arial"/>
              <a:buChar char="•"/>
              <a:defRPr sz="20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Font typeface="Arial"/>
              <a:buNone/>
            </a:pPr>
            <a:r>
              <a:rPr lang="en-US" sz="1200" dirty="0">
                <a:effectLst/>
              </a:rPr>
              <a:t>And the actual drawing on the screen is the next step that react performs after rendering, Technically, it is called the </a:t>
            </a:r>
            <a:r>
              <a:rPr lang="en-US" sz="1700" b="1" dirty="0">
                <a:solidFill>
                  <a:srgbClr val="00B0F0"/>
                </a:solidFill>
                <a:effectLst/>
                <a:latin typeface="AkayaTelivigala" pitchFamily="2" charset="77"/>
                <a:cs typeface="AkayaTelivigala" pitchFamily="2" charset="77"/>
              </a:rPr>
              <a:t>commit phase.</a:t>
            </a:r>
          </a:p>
        </p:txBody>
      </p:sp>
      <p:sp>
        <p:nvSpPr>
          <p:cNvPr id="11" name="Rectangle 10">
            <a:extLst>
              <a:ext uri="{FF2B5EF4-FFF2-40B4-BE49-F238E27FC236}">
                <a16:creationId xmlns:a16="http://schemas.microsoft.com/office/drawing/2014/main" id="{468361E7-2910-588D-488D-1BF154636343}"/>
              </a:ext>
            </a:extLst>
          </p:cNvPr>
          <p:cNvSpPr/>
          <p:nvPr/>
        </p:nvSpPr>
        <p:spPr>
          <a:xfrm>
            <a:off x="7840132" y="4727461"/>
            <a:ext cx="3894667" cy="7130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86777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1339B-9871-E8F9-84B0-72FFCBFFF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99B1F-C655-FED4-D2D0-38215C0D5582}"/>
              </a:ext>
            </a:extLst>
          </p:cNvPr>
          <p:cNvSpPr>
            <a:spLocks noGrp="1"/>
          </p:cNvSpPr>
          <p:nvPr>
            <p:ph type="title"/>
          </p:nvPr>
        </p:nvSpPr>
        <p:spPr>
          <a:xfrm>
            <a:off x="533399" y="2117554"/>
            <a:ext cx="3332955" cy="2622892"/>
          </a:xfrm>
        </p:spPr>
        <p:txBody>
          <a:bodyPr anchor="ctr">
            <a:normAutofit/>
          </a:bodyPr>
          <a:lstStyle/>
          <a:p>
            <a:r>
              <a:rPr lang="en-US" sz="3100" cap="small" dirty="0">
                <a:solidFill>
                  <a:srgbClr val="FFC000"/>
                </a:solidFill>
                <a:effectLst/>
                <a:latin typeface="Calibri" panose="020F0502020204030204" pitchFamily="34" charset="0"/>
                <a:ea typeface="+mn-ea"/>
                <a:cs typeface="Calibri" panose="020F0502020204030204" pitchFamily="34" charset="0"/>
              </a:rPr>
              <a:t>Rendering</a:t>
            </a:r>
            <a:br>
              <a:rPr lang="en-US" sz="3100" cap="small" dirty="0">
                <a:solidFill>
                  <a:srgbClr val="FFC000"/>
                </a:solidFill>
                <a:effectLst/>
                <a:latin typeface="Calibri" panose="020F0502020204030204" pitchFamily="34" charset="0"/>
                <a:ea typeface="+mn-ea"/>
                <a:cs typeface="Calibri" panose="020F0502020204030204" pitchFamily="34" charset="0"/>
              </a:rPr>
            </a:br>
            <a: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t>-- When is rendering triggered?</a:t>
            </a: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br>
              <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rPr>
            </a:br>
            <a:endParaRPr lang="en-US" sz="1200" cap="small" dirty="0">
              <a:gradFill flip="none" rotWithShape="1">
                <a:gsLst>
                  <a:gs pos="0">
                    <a:schemeClr val="tx1"/>
                  </a:gs>
                  <a:gs pos="100000">
                    <a:schemeClr val="tx1">
                      <a:lumMod val="75000"/>
                    </a:schemeClr>
                  </a:gs>
                </a:gsLst>
                <a:lin ang="5580000" scaled="0"/>
                <a:tileRect/>
              </a:gradFill>
              <a:effectLst/>
              <a:latin typeface="AkayaTelivigala" pitchFamily="2" charset="77"/>
              <a:ea typeface="+mn-ea"/>
              <a:cs typeface="AkayaTelivigala" pitchFamily="2" charset="77"/>
            </a:endParaRPr>
          </a:p>
        </p:txBody>
      </p:sp>
      <p:sp>
        <p:nvSpPr>
          <p:cNvPr id="3" name="Content Placeholder 2">
            <a:extLst>
              <a:ext uri="{FF2B5EF4-FFF2-40B4-BE49-F238E27FC236}">
                <a16:creationId xmlns:a16="http://schemas.microsoft.com/office/drawing/2014/main" id="{368B124E-C470-610D-B4D0-B4E12B1EE043}"/>
              </a:ext>
            </a:extLst>
          </p:cNvPr>
          <p:cNvSpPr>
            <a:spLocks noGrp="1"/>
          </p:cNvSpPr>
          <p:nvPr>
            <p:ph idx="1"/>
          </p:nvPr>
        </p:nvSpPr>
        <p:spPr>
          <a:xfrm>
            <a:off x="4769848" y="389467"/>
            <a:ext cx="6888753" cy="2319866"/>
          </a:xfrm>
        </p:spPr>
        <p:txBody>
          <a:bodyPr>
            <a:normAutofit fontScale="92500" lnSpcReduction="20000"/>
          </a:bodyPr>
          <a:lstStyle/>
          <a:p>
            <a:pPr marL="0" indent="0">
              <a:buNone/>
            </a:pPr>
            <a:r>
              <a:rPr lang="en-US" sz="2600" cap="all" dirty="0">
                <a:ln w="3175" cmpd="sng">
                  <a:noFill/>
                </a:ln>
                <a:solidFill>
                  <a:srgbClr val="FFC000"/>
                </a:solidFill>
                <a:effectLst/>
                <a:latin typeface="AkayaTelivigala" pitchFamily="2" charset="77"/>
                <a:ea typeface="+mj-ea"/>
                <a:cs typeface="AkayaTelivigala" pitchFamily="2" charset="77"/>
              </a:rPr>
              <a:t>Components rendering is triggered in two cases:</a:t>
            </a:r>
          </a:p>
          <a:p>
            <a:pPr marL="0" indent="0">
              <a:buNone/>
            </a:pPr>
            <a:endParaRPr lang="en-US" sz="2400" cap="all" dirty="0">
              <a:ln w="3175" cmpd="sng">
                <a:noFill/>
              </a:ln>
              <a:solidFill>
                <a:srgbClr val="FFC000"/>
              </a:solidFill>
              <a:effectLst/>
              <a:latin typeface="Calibri" panose="020F0502020204030204" pitchFamily="34" charset="0"/>
              <a:ea typeface="+mj-ea"/>
              <a:cs typeface="Calibri" panose="020F0502020204030204" pitchFamily="34" charset="0"/>
            </a:endParaRPr>
          </a:p>
          <a:p>
            <a:pPr marL="0" indent="0">
              <a:buNone/>
            </a:pPr>
            <a:r>
              <a:rPr lang="en-US" sz="2100" b="1" dirty="0">
                <a:solidFill>
                  <a:srgbClr val="00B0F0"/>
                </a:solidFill>
                <a:effectLst/>
                <a:latin typeface="AkayaTelivigala" pitchFamily="2" charset="77"/>
                <a:cs typeface="AkayaTelivigala" pitchFamily="2" charset="77"/>
              </a:rPr>
              <a:t>Initial Rendering:</a:t>
            </a:r>
          </a:p>
          <a:p>
            <a:pPr marL="0" indent="0">
              <a:buNone/>
            </a:pPr>
            <a:endParaRPr lang="en-US" sz="2400" cap="all" dirty="0">
              <a:ln w="3175" cmpd="sng">
                <a:noFill/>
              </a:ln>
              <a:solidFill>
                <a:srgbClr val="FFC000"/>
              </a:solidFill>
              <a:effectLst/>
              <a:latin typeface="Calibri" panose="020F0502020204030204" pitchFamily="34" charset="0"/>
              <a:ea typeface="+mj-ea"/>
              <a:cs typeface="Calibri" panose="020F0502020204030204" pitchFamily="34" charset="0"/>
            </a:endParaRPr>
          </a:p>
          <a:p>
            <a:pPr marL="0" indent="0">
              <a:buNone/>
            </a:pPr>
            <a:r>
              <a:rPr lang="en-US" b="1" dirty="0">
                <a:solidFill>
                  <a:srgbClr val="00B0F0"/>
                </a:solidFill>
                <a:effectLst/>
                <a:latin typeface="AkayaTelivigala" pitchFamily="2" charset="77"/>
                <a:cs typeface="AkayaTelivigala" pitchFamily="2" charset="77"/>
              </a:rPr>
              <a:t>Re-Render:</a:t>
            </a:r>
          </a:p>
        </p:txBody>
      </p:sp>
    </p:spTree>
    <p:extLst>
      <p:ext uri="{BB962C8B-B14F-4D97-AF65-F5344CB8AC3E}">
        <p14:creationId xmlns:p14="http://schemas.microsoft.com/office/powerpoint/2010/main" val="30876249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94516-BEBD-4D1C-EF7C-FFF81C03E6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E28C8-9B08-31BE-54CE-72982B6F83E7}"/>
              </a:ext>
            </a:extLst>
          </p:cNvPr>
          <p:cNvSpPr>
            <a:spLocks noGrp="1"/>
          </p:cNvSpPr>
          <p:nvPr>
            <p:ph type="title"/>
          </p:nvPr>
        </p:nvSpPr>
        <p:spPr>
          <a:xfrm>
            <a:off x="2415468" y="2846650"/>
            <a:ext cx="7361063" cy="1164699"/>
          </a:xfrm>
        </p:spPr>
        <p:txBody>
          <a:bodyPr>
            <a:normAutofit/>
          </a:bodyPr>
          <a:lstStyle/>
          <a:p>
            <a:pPr algn="ctr"/>
            <a:r>
              <a:rPr lang="en-US" dirty="0">
                <a:solidFill>
                  <a:srgbClr val="FFC000"/>
                </a:solidFill>
                <a:effectLst/>
                <a:latin typeface="AkayaTelivigala" pitchFamily="2" charset="77"/>
                <a:cs typeface="AkayaTelivigala" pitchFamily="2" charset="77"/>
              </a:rPr>
              <a:t>Virtual DOM</a:t>
            </a:r>
            <a:br>
              <a:rPr lang="en-US" dirty="0">
                <a:solidFill>
                  <a:srgbClr val="FFC000"/>
                </a:solidFill>
                <a:effectLst/>
                <a:latin typeface="AkayaTelivigala" pitchFamily="2" charset="77"/>
                <a:cs typeface="AkayaTelivigala" pitchFamily="2" charset="77"/>
              </a:rPr>
            </a:br>
            <a:r>
              <a:rPr lang="en-US" sz="2000" dirty="0">
                <a:solidFill>
                  <a:schemeClr val="tx1">
                    <a:lumMod val="85000"/>
                  </a:schemeClr>
                </a:solidFill>
                <a:effectLst/>
                <a:latin typeface="AkayaTelivigala" pitchFamily="2" charset="77"/>
                <a:cs typeface="AkayaTelivigala" pitchFamily="2" charset="77"/>
              </a:rPr>
              <a:t>-- What does it look like?</a:t>
            </a:r>
          </a:p>
        </p:txBody>
      </p:sp>
    </p:spTree>
    <p:extLst>
      <p:ext uri="{BB962C8B-B14F-4D97-AF65-F5344CB8AC3E}">
        <p14:creationId xmlns:p14="http://schemas.microsoft.com/office/powerpoint/2010/main" val="17533712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C8C13-5434-AF36-1A3C-2351B56F11F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E14D8A8-4F73-1EB6-2F54-420E88A02866}"/>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3343889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7F911-79E9-93DC-E726-BE34FBC22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E0E963-9740-DDF8-05EC-3C038365108D}"/>
              </a:ext>
            </a:extLst>
          </p:cNvPr>
          <p:cNvSpPr>
            <a:spLocks noGrp="1"/>
          </p:cNvSpPr>
          <p:nvPr>
            <p:ph type="title"/>
          </p:nvPr>
        </p:nvSpPr>
        <p:spPr>
          <a:xfrm>
            <a:off x="2415468" y="2846650"/>
            <a:ext cx="7361063" cy="1164699"/>
          </a:xfrm>
        </p:spPr>
        <p:txBody>
          <a:bodyPr>
            <a:normAutofit/>
          </a:bodyPr>
          <a:lstStyle/>
          <a:p>
            <a:pPr algn="ctr"/>
            <a:r>
              <a:rPr lang="en-US" dirty="0">
                <a:solidFill>
                  <a:srgbClr val="FFC000"/>
                </a:solidFill>
                <a:effectLst/>
                <a:latin typeface="AkayaTelivigala" pitchFamily="2" charset="77"/>
                <a:cs typeface="AkayaTelivigala" pitchFamily="2" charset="77"/>
              </a:rPr>
              <a:t>Virtual DOM</a:t>
            </a:r>
            <a:br>
              <a:rPr lang="en-US" dirty="0">
                <a:solidFill>
                  <a:srgbClr val="FFC000"/>
                </a:solidFill>
                <a:effectLst/>
                <a:latin typeface="AkayaTelivigala" pitchFamily="2" charset="77"/>
                <a:cs typeface="AkayaTelivigala" pitchFamily="2" charset="77"/>
              </a:rPr>
            </a:br>
            <a:r>
              <a:rPr lang="en-US" sz="2000" dirty="0">
                <a:solidFill>
                  <a:schemeClr val="tx1">
                    <a:lumMod val="85000"/>
                  </a:schemeClr>
                </a:solidFill>
                <a:effectLst/>
                <a:latin typeface="AkayaTelivigala" pitchFamily="2" charset="77"/>
                <a:cs typeface="AkayaTelivigala" pitchFamily="2" charset="77"/>
              </a:rPr>
              <a:t>-- How it Works?</a:t>
            </a:r>
          </a:p>
        </p:txBody>
      </p:sp>
    </p:spTree>
    <p:extLst>
      <p:ext uri="{BB962C8B-B14F-4D97-AF65-F5344CB8AC3E}">
        <p14:creationId xmlns:p14="http://schemas.microsoft.com/office/powerpoint/2010/main" val="24460613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F6B55-FACB-78BB-B41D-FB194E9EBC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4E0377-B8D7-A80B-20D5-BEACC224795D}"/>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4537202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C93BE-CA7F-C2CF-F125-FEFEE5446C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946C92-46FF-E1BB-3010-BF3E59867D74}"/>
              </a:ext>
            </a:extLst>
          </p:cNvPr>
          <p:cNvSpPr>
            <a:spLocks noGrp="1"/>
          </p:cNvSpPr>
          <p:nvPr>
            <p:ph type="title"/>
          </p:nvPr>
        </p:nvSpPr>
        <p:spPr>
          <a:xfrm>
            <a:off x="2415468" y="2846650"/>
            <a:ext cx="7361063" cy="1164699"/>
          </a:xfrm>
        </p:spPr>
        <p:txBody>
          <a:bodyPr>
            <a:normAutofit/>
          </a:bodyPr>
          <a:lstStyle/>
          <a:p>
            <a:pPr algn="ctr"/>
            <a:r>
              <a:rPr lang="en-US" dirty="0">
                <a:solidFill>
                  <a:srgbClr val="FFC000"/>
                </a:solidFill>
                <a:effectLst/>
                <a:latin typeface="AkayaTelivigala" pitchFamily="2" charset="77"/>
                <a:cs typeface="AkayaTelivigala" pitchFamily="2" charset="77"/>
              </a:rPr>
              <a:t>Fiber Tree</a:t>
            </a:r>
            <a:br>
              <a:rPr lang="en-US" dirty="0">
                <a:solidFill>
                  <a:srgbClr val="FFC000"/>
                </a:solidFill>
                <a:effectLst/>
                <a:latin typeface="AkayaTelivigala" pitchFamily="2" charset="77"/>
                <a:cs typeface="AkayaTelivigala" pitchFamily="2" charset="77"/>
              </a:rPr>
            </a:br>
            <a:r>
              <a:rPr lang="en-US" sz="2000" dirty="0">
                <a:solidFill>
                  <a:schemeClr val="tx1">
                    <a:lumMod val="85000"/>
                  </a:schemeClr>
                </a:solidFill>
                <a:effectLst/>
                <a:latin typeface="AkayaTelivigala" pitchFamily="2" charset="77"/>
                <a:cs typeface="AkayaTelivigala" pitchFamily="2" charset="77"/>
              </a:rPr>
              <a:t>-- How it Works?</a:t>
            </a:r>
          </a:p>
        </p:txBody>
      </p:sp>
    </p:spTree>
    <p:extLst>
      <p:ext uri="{BB962C8B-B14F-4D97-AF65-F5344CB8AC3E}">
        <p14:creationId xmlns:p14="http://schemas.microsoft.com/office/powerpoint/2010/main" val="6812679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DE353-F6C8-5570-F5CB-CC77029284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9408DA-0F52-DF18-41F5-F4BBE44143BB}"/>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0986370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C36F7-1CDC-6D68-16C3-89264C91E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0AE316-3B52-8BFC-B61C-5016F172305E}"/>
              </a:ext>
            </a:extLst>
          </p:cNvPr>
          <p:cNvSpPr>
            <a:spLocks noGrp="1"/>
          </p:cNvSpPr>
          <p:nvPr>
            <p:ph type="title"/>
          </p:nvPr>
        </p:nvSpPr>
        <p:spPr>
          <a:xfrm>
            <a:off x="2415468" y="2846650"/>
            <a:ext cx="7361063" cy="1164699"/>
          </a:xfrm>
        </p:spPr>
        <p:txBody>
          <a:bodyPr>
            <a:normAutofit/>
          </a:bodyPr>
          <a:lstStyle/>
          <a:p>
            <a:pPr algn="ctr"/>
            <a:r>
              <a:rPr lang="en-US" dirty="0">
                <a:solidFill>
                  <a:srgbClr val="FFC000"/>
                </a:solidFill>
                <a:effectLst/>
                <a:latin typeface="AkayaTelivigala" pitchFamily="2" charset="77"/>
                <a:cs typeface="AkayaTelivigala" pitchFamily="2" charset="77"/>
              </a:rPr>
              <a:t>Fiber Tree </a:t>
            </a:r>
            <a:r>
              <a:rPr lang="en-US" dirty="0">
                <a:solidFill>
                  <a:schemeClr val="tx1">
                    <a:lumMod val="85000"/>
                  </a:schemeClr>
                </a:solidFill>
                <a:effectLst/>
                <a:latin typeface="AkayaTelivigala" pitchFamily="2" charset="77"/>
                <a:cs typeface="AkayaTelivigala" pitchFamily="2" charset="77"/>
              </a:rPr>
              <a:t>Vs</a:t>
            </a:r>
            <a:r>
              <a:rPr lang="en-US" dirty="0">
                <a:solidFill>
                  <a:srgbClr val="FFC000"/>
                </a:solidFill>
                <a:effectLst/>
                <a:latin typeface="AkayaTelivigala" pitchFamily="2" charset="77"/>
                <a:cs typeface="AkayaTelivigala" pitchFamily="2" charset="77"/>
              </a:rPr>
              <a:t> Virtual </a:t>
            </a:r>
            <a:r>
              <a:rPr lang="en-US" dirty="0" err="1">
                <a:solidFill>
                  <a:srgbClr val="FFC000"/>
                </a:solidFill>
                <a:effectLst/>
                <a:latin typeface="AkayaTelivigala" pitchFamily="2" charset="77"/>
                <a:cs typeface="AkayaTelivigala" pitchFamily="2" charset="77"/>
              </a:rPr>
              <a:t>DOm</a:t>
            </a:r>
            <a:br>
              <a:rPr lang="en-US" dirty="0">
                <a:solidFill>
                  <a:srgbClr val="FFC000"/>
                </a:solidFill>
                <a:effectLst/>
                <a:latin typeface="AkayaTelivigala" pitchFamily="2" charset="77"/>
                <a:cs typeface="AkayaTelivigala" pitchFamily="2" charset="77"/>
              </a:rPr>
            </a:br>
            <a:r>
              <a:rPr lang="en-US" sz="2000" dirty="0">
                <a:solidFill>
                  <a:schemeClr val="tx1">
                    <a:lumMod val="85000"/>
                  </a:schemeClr>
                </a:solidFill>
                <a:effectLst/>
                <a:latin typeface="AkayaTelivigala" pitchFamily="2" charset="77"/>
                <a:cs typeface="AkayaTelivigala" pitchFamily="2" charset="77"/>
              </a:rPr>
              <a:t>-- What’s the difference ?</a:t>
            </a:r>
          </a:p>
        </p:txBody>
      </p:sp>
    </p:spTree>
    <p:extLst>
      <p:ext uri="{BB962C8B-B14F-4D97-AF65-F5344CB8AC3E}">
        <p14:creationId xmlns:p14="http://schemas.microsoft.com/office/powerpoint/2010/main" val="38080333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7D285-A628-3A05-5987-C2EC58A1D8D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0736177-878E-080C-9A0B-F8056F65036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9713776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87EE4-9CD3-0B0D-D16F-538871270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560E6-EAAE-F43E-E8EA-5482783977E0}"/>
              </a:ext>
            </a:extLst>
          </p:cNvPr>
          <p:cNvSpPr>
            <a:spLocks noGrp="1"/>
          </p:cNvSpPr>
          <p:nvPr>
            <p:ph type="title"/>
          </p:nvPr>
        </p:nvSpPr>
        <p:spPr>
          <a:xfrm>
            <a:off x="2415468" y="2846650"/>
            <a:ext cx="7361063" cy="1164699"/>
          </a:xfrm>
        </p:spPr>
        <p:txBody>
          <a:bodyPr>
            <a:normAutofit/>
          </a:bodyPr>
          <a:lstStyle/>
          <a:p>
            <a:pPr algn="ctr"/>
            <a:r>
              <a:rPr lang="en-US" dirty="0">
                <a:solidFill>
                  <a:srgbClr val="FFC000"/>
                </a:solidFill>
                <a:effectLst/>
                <a:latin typeface="AkayaTelivigala" pitchFamily="2" charset="77"/>
                <a:cs typeface="AkayaTelivigala" pitchFamily="2" charset="77"/>
              </a:rPr>
              <a:t>Rendering scheme</a:t>
            </a:r>
            <a:br>
              <a:rPr lang="en-US" dirty="0">
                <a:solidFill>
                  <a:srgbClr val="FFC000"/>
                </a:solidFill>
                <a:effectLst/>
                <a:latin typeface="AkayaTelivigala" pitchFamily="2" charset="77"/>
                <a:cs typeface="AkayaTelivigala" pitchFamily="2" charset="77"/>
              </a:rPr>
            </a:br>
            <a:r>
              <a:rPr lang="en-US" sz="2000" dirty="0">
                <a:solidFill>
                  <a:schemeClr val="tx1">
                    <a:lumMod val="85000"/>
                  </a:schemeClr>
                </a:solidFill>
                <a:effectLst/>
                <a:latin typeface="AkayaTelivigala" pitchFamily="2" charset="77"/>
                <a:cs typeface="AkayaTelivigala" pitchFamily="2" charset="77"/>
              </a:rPr>
              <a:t>-- How React updates the application ?</a:t>
            </a:r>
          </a:p>
        </p:txBody>
      </p:sp>
    </p:spTree>
    <p:extLst>
      <p:ext uri="{BB962C8B-B14F-4D97-AF65-F5344CB8AC3E}">
        <p14:creationId xmlns:p14="http://schemas.microsoft.com/office/powerpoint/2010/main" val="34919912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CB68-7AE6-9DC4-1D5B-6CEECD68A5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F4671D-EC34-9597-F2AF-9590241EACB6}"/>
              </a:ext>
            </a:extLst>
          </p:cNvPr>
          <p:cNvSpPr txBox="1"/>
          <p:nvPr/>
        </p:nvSpPr>
        <p:spPr>
          <a:xfrm>
            <a:off x="1507067" y="1405467"/>
            <a:ext cx="946093" cy="369332"/>
          </a:xfrm>
          <a:prstGeom prst="rect">
            <a:avLst/>
          </a:prstGeom>
          <a:noFill/>
        </p:spPr>
        <p:txBody>
          <a:bodyPr wrap="none" rtlCol="0">
            <a:spAutoFit/>
          </a:bodyPr>
          <a:lstStyle/>
          <a:p>
            <a:r>
              <a:rPr lang="en-US" dirty="0"/>
              <a:t>Lets try</a:t>
            </a:r>
          </a:p>
        </p:txBody>
      </p:sp>
    </p:spTree>
    <p:extLst>
      <p:ext uri="{BB962C8B-B14F-4D97-AF65-F5344CB8AC3E}">
        <p14:creationId xmlns:p14="http://schemas.microsoft.com/office/powerpoint/2010/main" val="36194187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F98FB-8A24-6C33-69EB-AC7924A5ABF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4A4D0C-6B0E-E1A2-F178-45792EEF6E15}"/>
              </a:ext>
            </a:extLst>
          </p:cNvPr>
          <p:cNvSpPr txBox="1"/>
          <p:nvPr/>
        </p:nvSpPr>
        <p:spPr>
          <a:xfrm>
            <a:off x="1507067" y="1405467"/>
            <a:ext cx="946093" cy="369332"/>
          </a:xfrm>
          <a:prstGeom prst="rect">
            <a:avLst/>
          </a:prstGeom>
          <a:noFill/>
        </p:spPr>
        <p:txBody>
          <a:bodyPr wrap="none" rtlCol="0">
            <a:spAutoFit/>
          </a:bodyPr>
          <a:lstStyle/>
          <a:p>
            <a:r>
              <a:rPr lang="en-US" dirty="0"/>
              <a:t>Lets try</a:t>
            </a:r>
          </a:p>
        </p:txBody>
      </p:sp>
    </p:spTree>
    <p:extLst>
      <p:ext uri="{BB962C8B-B14F-4D97-AF65-F5344CB8AC3E}">
        <p14:creationId xmlns:p14="http://schemas.microsoft.com/office/powerpoint/2010/main" val="246475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BA5CE-6991-49D0-4B65-C81283220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D9D390-AF80-6D74-6D40-7BD894C7CC1E}"/>
              </a:ext>
            </a:extLst>
          </p:cNvPr>
          <p:cNvSpPr>
            <a:spLocks noGrp="1"/>
          </p:cNvSpPr>
          <p:nvPr>
            <p:ph type="title"/>
          </p:nvPr>
        </p:nvSpPr>
        <p:spPr>
          <a:xfrm>
            <a:off x="2415468" y="2846650"/>
            <a:ext cx="7361063" cy="1164699"/>
          </a:xfrm>
        </p:spPr>
        <p:txBody>
          <a:bodyPr>
            <a:normAutofit/>
          </a:bodyPr>
          <a:lstStyle/>
          <a:p>
            <a:pPr algn="ctr"/>
            <a:r>
              <a:rPr lang="en-US" dirty="0" err="1">
                <a:solidFill>
                  <a:srgbClr val="FFC000"/>
                </a:solidFill>
                <a:effectLst/>
                <a:latin typeface="AkayaTelivigala" pitchFamily="2" charset="77"/>
                <a:cs typeface="AkayaTelivigala" pitchFamily="2" charset="77"/>
              </a:rPr>
              <a:t>Memoization</a:t>
            </a:r>
            <a:br>
              <a:rPr lang="en-US" dirty="0">
                <a:solidFill>
                  <a:srgbClr val="FFC000"/>
                </a:solidFill>
                <a:effectLst/>
                <a:latin typeface="AkayaTelivigala" pitchFamily="2" charset="77"/>
                <a:cs typeface="AkayaTelivigala" pitchFamily="2" charset="77"/>
              </a:rPr>
            </a:br>
            <a:r>
              <a:rPr lang="en-US" sz="2000" dirty="0">
                <a:solidFill>
                  <a:schemeClr val="tx1">
                    <a:lumMod val="85000"/>
                  </a:schemeClr>
                </a:solidFill>
                <a:effectLst/>
                <a:latin typeface="AkayaTelivigala" pitchFamily="2" charset="77"/>
                <a:cs typeface="AkayaTelivigala" pitchFamily="2" charset="77"/>
              </a:rPr>
              <a:t>-- Application performance optimization ?</a:t>
            </a:r>
          </a:p>
        </p:txBody>
      </p:sp>
    </p:spTree>
    <p:extLst>
      <p:ext uri="{BB962C8B-B14F-4D97-AF65-F5344CB8AC3E}">
        <p14:creationId xmlns:p14="http://schemas.microsoft.com/office/powerpoint/2010/main" val="18807042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9326-8E35-F42F-5476-15FBC6CC9D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CDE76-4663-8732-089B-6192C2E502F9}"/>
              </a:ext>
            </a:extLst>
          </p:cNvPr>
          <p:cNvSpPr>
            <a:spLocks noGrp="1"/>
          </p:cNvSpPr>
          <p:nvPr>
            <p:ph type="title"/>
          </p:nvPr>
        </p:nvSpPr>
        <p:spPr>
          <a:xfrm>
            <a:off x="358069" y="2667925"/>
            <a:ext cx="4408666" cy="1522150"/>
          </a:xfrm>
        </p:spPr>
        <p:txBody>
          <a:bodyPr>
            <a:normAutofit/>
          </a:bodyPr>
          <a:lstStyle/>
          <a:p>
            <a:r>
              <a:rPr lang="en-US" sz="2000" dirty="0">
                <a:solidFill>
                  <a:srgbClr val="FFC000"/>
                </a:solidFill>
                <a:effectLst/>
                <a:latin typeface="AkayaTelivigala" pitchFamily="2" charset="77"/>
                <a:cs typeface="AkayaTelivigala" pitchFamily="2" charset="77"/>
              </a:rPr>
              <a:t>Re-</a:t>
            </a:r>
            <a:r>
              <a:rPr lang="en-US" sz="1800" dirty="0">
                <a:solidFill>
                  <a:srgbClr val="FFC000"/>
                </a:solidFill>
                <a:effectLst/>
                <a:latin typeface="AkayaTelivigala" pitchFamily="2" charset="77"/>
                <a:cs typeface="AkayaTelivigala" pitchFamily="2" charset="77"/>
              </a:rPr>
              <a:t> Render</a:t>
            </a:r>
            <a:br>
              <a:rPr lang="en-US" dirty="0">
                <a:solidFill>
                  <a:srgbClr val="FFC000"/>
                </a:solidFill>
                <a:effectLst/>
                <a:latin typeface="AkayaTelivigala" pitchFamily="2" charset="77"/>
                <a:cs typeface="AkayaTelivigala" pitchFamily="2" charset="77"/>
              </a:rPr>
            </a:br>
            <a:r>
              <a:rPr lang="en-US" sz="1400" dirty="0">
                <a:solidFill>
                  <a:schemeClr val="tx1">
                    <a:lumMod val="85000"/>
                  </a:schemeClr>
                </a:solidFill>
                <a:effectLst/>
                <a:latin typeface="AkayaTelivigala" pitchFamily="2" charset="77"/>
                <a:cs typeface="AkayaTelivigala" pitchFamily="2" charset="77"/>
              </a:rPr>
              <a:t>-- </a:t>
            </a:r>
            <a:r>
              <a:rPr lang="en-US" sz="1600" b="1" cap="small" dirty="0">
                <a:solidFill>
                  <a:schemeClr val="tx1"/>
                </a:solidFill>
                <a:effectLst/>
                <a:latin typeface="AkayaTelivigala" pitchFamily="2" charset="77"/>
                <a:ea typeface="+mn-ea"/>
                <a:cs typeface="AkayaTelivigala" pitchFamily="2" charset="77"/>
              </a:rPr>
              <a:t>Re -rendering of child components always happens if the parent component re -renders, even if the child component ’s dependencies received from the parent (props) have not changed.</a:t>
            </a:r>
            <a:endParaRPr lang="en-US" sz="1400" dirty="0">
              <a:solidFill>
                <a:schemeClr val="tx1">
                  <a:lumMod val="85000"/>
                </a:schemeClr>
              </a:solidFill>
              <a:effectLst/>
              <a:latin typeface="AkayaTelivigala" pitchFamily="2" charset="77"/>
              <a:cs typeface="AkayaTelivigala" pitchFamily="2" charset="77"/>
            </a:endParaRPr>
          </a:p>
        </p:txBody>
      </p:sp>
      <p:sp>
        <p:nvSpPr>
          <p:cNvPr id="9" name="Content Placeholder 2">
            <a:extLst>
              <a:ext uri="{FF2B5EF4-FFF2-40B4-BE49-F238E27FC236}">
                <a16:creationId xmlns:a16="http://schemas.microsoft.com/office/drawing/2014/main" id="{30096D28-C736-A259-D3F4-EB4B99B96D95}"/>
              </a:ext>
            </a:extLst>
          </p:cNvPr>
          <p:cNvSpPr txBox="1">
            <a:spLocks/>
          </p:cNvSpPr>
          <p:nvPr/>
        </p:nvSpPr>
        <p:spPr>
          <a:xfrm>
            <a:off x="5079999" y="1043440"/>
            <a:ext cx="6169733" cy="1100666"/>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buClr>
              <a:buSzPct val="100000"/>
              <a:buFont typeface="Arial"/>
              <a:buChar char="•"/>
              <a:defRPr sz="20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457200" lvl="1" indent="0">
              <a:buNone/>
            </a:pPr>
            <a:r>
              <a:rPr lang="en-US" sz="1600" dirty="0">
                <a:ln w="3175" cmpd="sng">
                  <a:noFill/>
                </a:ln>
                <a:effectLst/>
                <a:latin typeface="AkayaTelivigala" pitchFamily="2" charset="77"/>
                <a:cs typeface="AkayaTelivigala" pitchFamily="2" charset="77"/>
              </a:rPr>
              <a:t>Such and approach often wastes extra resources on re-drawing and re-rendering.</a:t>
            </a:r>
          </a:p>
        </p:txBody>
      </p:sp>
      <p:sp>
        <p:nvSpPr>
          <p:cNvPr id="10" name="Content Placeholder 2">
            <a:extLst>
              <a:ext uri="{FF2B5EF4-FFF2-40B4-BE49-F238E27FC236}">
                <a16:creationId xmlns:a16="http://schemas.microsoft.com/office/drawing/2014/main" id="{F3861F4E-B054-D39E-4B28-0C2543726D5D}"/>
              </a:ext>
            </a:extLst>
          </p:cNvPr>
          <p:cNvSpPr txBox="1">
            <a:spLocks/>
          </p:cNvSpPr>
          <p:nvPr/>
        </p:nvSpPr>
        <p:spPr>
          <a:xfrm>
            <a:off x="7162801" y="2519373"/>
            <a:ext cx="2658534" cy="909627"/>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buClr>
              <a:buSzPct val="100000"/>
              <a:buFont typeface="Arial"/>
              <a:buChar char="•"/>
              <a:defRPr sz="20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Font typeface="Arial"/>
              <a:buNone/>
            </a:pPr>
            <a:r>
              <a:rPr lang="en-US" sz="1700" b="1" dirty="0" err="1">
                <a:solidFill>
                  <a:srgbClr val="00B0F0"/>
                </a:solidFill>
                <a:effectLst/>
                <a:latin typeface="AkayaTelivigala" pitchFamily="2" charset="77"/>
                <a:cs typeface="AkayaTelivigala" pitchFamily="2" charset="77"/>
              </a:rPr>
              <a:t>Memoization</a:t>
            </a:r>
            <a:r>
              <a:rPr lang="en-US" sz="1700" b="1" dirty="0">
                <a:solidFill>
                  <a:srgbClr val="00B0F0"/>
                </a:solidFill>
                <a:effectLst/>
                <a:latin typeface="AkayaTelivigala" pitchFamily="2" charset="77"/>
                <a:cs typeface="AkayaTelivigala" pitchFamily="2" charset="77"/>
              </a:rPr>
              <a:t> </a:t>
            </a:r>
            <a:r>
              <a:rPr lang="en-US" sz="1600" b="1" dirty="0">
                <a:ln w="3175" cmpd="sng">
                  <a:noFill/>
                </a:ln>
                <a:effectLst/>
                <a:latin typeface="AkayaTelivigala" pitchFamily="2" charset="77"/>
                <a:cs typeface="AkayaTelivigala" pitchFamily="2" charset="77"/>
              </a:rPr>
              <a:t>to the rescue</a:t>
            </a:r>
          </a:p>
        </p:txBody>
      </p:sp>
      <p:sp>
        <p:nvSpPr>
          <p:cNvPr id="11" name="Rectangle 10">
            <a:extLst>
              <a:ext uri="{FF2B5EF4-FFF2-40B4-BE49-F238E27FC236}">
                <a16:creationId xmlns:a16="http://schemas.microsoft.com/office/drawing/2014/main" id="{50EC2856-0B08-4DB8-1425-64964062C04C}"/>
              </a:ext>
            </a:extLst>
          </p:cNvPr>
          <p:cNvSpPr/>
          <p:nvPr/>
        </p:nvSpPr>
        <p:spPr>
          <a:xfrm>
            <a:off x="7162801" y="2545157"/>
            <a:ext cx="2658534" cy="71304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5312AF8A-B288-DE43-5870-B9CCB951029C}"/>
              </a:ext>
            </a:extLst>
          </p:cNvPr>
          <p:cNvSpPr txBox="1">
            <a:spLocks/>
          </p:cNvSpPr>
          <p:nvPr/>
        </p:nvSpPr>
        <p:spPr>
          <a:xfrm>
            <a:off x="5554133" y="4060308"/>
            <a:ext cx="6169733" cy="1100666"/>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buClr>
              <a:buSzPct val="100000"/>
              <a:buFont typeface="Arial"/>
              <a:buChar char="•"/>
              <a:defRPr sz="20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en-US" cap="all" dirty="0" err="1">
                <a:ln w="3175" cmpd="sng">
                  <a:noFill/>
                </a:ln>
                <a:solidFill>
                  <a:srgbClr val="FFC000"/>
                </a:solidFill>
                <a:effectLst/>
                <a:latin typeface="AkayaTelivigala" pitchFamily="2" charset="77"/>
                <a:ea typeface="+mj-ea"/>
                <a:cs typeface="AkayaTelivigala" pitchFamily="2" charset="77"/>
              </a:rPr>
              <a:t>Memoization</a:t>
            </a:r>
            <a:endParaRPr lang="en-US" cap="all" dirty="0">
              <a:ln w="3175" cmpd="sng">
                <a:noFill/>
              </a:ln>
              <a:solidFill>
                <a:srgbClr val="FFC000"/>
              </a:solidFill>
              <a:effectLst/>
              <a:latin typeface="AkayaTelivigala" pitchFamily="2" charset="77"/>
              <a:ea typeface="+mj-ea"/>
              <a:cs typeface="AkayaTelivigala" pitchFamily="2" charset="77"/>
            </a:endParaRPr>
          </a:p>
          <a:p>
            <a:pPr marL="0" indent="0">
              <a:buNone/>
            </a:pPr>
            <a:r>
              <a:rPr lang="en-US" sz="1600" dirty="0">
                <a:ln w="3175" cmpd="sng">
                  <a:noFill/>
                </a:ln>
                <a:effectLst/>
                <a:latin typeface="AkayaTelivigala" pitchFamily="2" charset="77"/>
                <a:cs typeface="AkayaTelivigala" pitchFamily="2" charset="77"/>
              </a:rPr>
              <a:t>Is an optimization technique that consist of caching the result of computation.</a:t>
            </a:r>
          </a:p>
        </p:txBody>
      </p:sp>
    </p:spTree>
    <p:extLst>
      <p:ext uri="{BB962C8B-B14F-4D97-AF65-F5344CB8AC3E}">
        <p14:creationId xmlns:p14="http://schemas.microsoft.com/office/powerpoint/2010/main" val="860562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7BA84-E647-2795-1AC0-71C424327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77432-DA47-C52F-4255-5520595B9A46}"/>
              </a:ext>
            </a:extLst>
          </p:cNvPr>
          <p:cNvSpPr>
            <a:spLocks noGrp="1"/>
          </p:cNvSpPr>
          <p:nvPr>
            <p:ph type="title"/>
          </p:nvPr>
        </p:nvSpPr>
        <p:spPr>
          <a:xfrm>
            <a:off x="2415468" y="2846650"/>
            <a:ext cx="7361063" cy="1164699"/>
          </a:xfrm>
        </p:spPr>
        <p:txBody>
          <a:bodyPr>
            <a:normAutofit/>
          </a:bodyPr>
          <a:lstStyle/>
          <a:p>
            <a:pPr algn="ctr"/>
            <a:r>
              <a:rPr lang="en-US" dirty="0">
                <a:solidFill>
                  <a:srgbClr val="FFC000"/>
                </a:solidFill>
                <a:effectLst/>
                <a:latin typeface="AkayaTelivigala" pitchFamily="2" charset="77"/>
                <a:cs typeface="AkayaTelivigala" pitchFamily="2" charset="77"/>
              </a:rPr>
              <a:t>Commit phase</a:t>
            </a:r>
            <a:br>
              <a:rPr lang="en-US" dirty="0">
                <a:solidFill>
                  <a:srgbClr val="FFC000"/>
                </a:solidFill>
                <a:effectLst/>
                <a:latin typeface="AkayaTelivigala" pitchFamily="2" charset="77"/>
                <a:cs typeface="AkayaTelivigala" pitchFamily="2" charset="77"/>
              </a:rPr>
            </a:br>
            <a:r>
              <a:rPr lang="en-US" sz="2000" dirty="0">
                <a:solidFill>
                  <a:schemeClr val="tx1">
                    <a:lumMod val="85000"/>
                  </a:schemeClr>
                </a:solidFill>
                <a:effectLst/>
                <a:latin typeface="AkayaTelivigala" pitchFamily="2" charset="77"/>
                <a:cs typeface="AkayaTelivigala" pitchFamily="2" charset="77"/>
              </a:rPr>
              <a:t>--  ?</a:t>
            </a:r>
          </a:p>
        </p:txBody>
      </p:sp>
    </p:spTree>
    <p:extLst>
      <p:ext uri="{BB962C8B-B14F-4D97-AF65-F5344CB8AC3E}">
        <p14:creationId xmlns:p14="http://schemas.microsoft.com/office/powerpoint/2010/main" val="17738634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2B2A4-C49C-1429-5452-96F575AFE0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500EF-C8ED-0E5A-1D08-5F2109427175}"/>
              </a:ext>
            </a:extLst>
          </p:cNvPr>
          <p:cNvSpPr>
            <a:spLocks noGrp="1"/>
          </p:cNvSpPr>
          <p:nvPr>
            <p:ph type="title"/>
          </p:nvPr>
        </p:nvSpPr>
        <p:spPr>
          <a:xfrm>
            <a:off x="358069" y="2667925"/>
            <a:ext cx="4408666" cy="1522150"/>
          </a:xfrm>
        </p:spPr>
        <p:txBody>
          <a:bodyPr>
            <a:normAutofit/>
          </a:bodyPr>
          <a:lstStyle/>
          <a:p>
            <a:r>
              <a:rPr lang="en-US" sz="2000" dirty="0">
                <a:solidFill>
                  <a:srgbClr val="FFC000"/>
                </a:solidFill>
                <a:effectLst/>
                <a:latin typeface="AkayaTelivigala" pitchFamily="2" charset="77"/>
                <a:cs typeface="AkayaTelivigala" pitchFamily="2" charset="77"/>
              </a:rPr>
              <a:t>Commit Phase</a:t>
            </a:r>
            <a:br>
              <a:rPr lang="en-US" dirty="0">
                <a:solidFill>
                  <a:srgbClr val="FFC000"/>
                </a:solidFill>
                <a:effectLst/>
                <a:latin typeface="AkayaTelivigala" pitchFamily="2" charset="77"/>
                <a:cs typeface="AkayaTelivigala" pitchFamily="2" charset="77"/>
              </a:rPr>
            </a:br>
            <a:r>
              <a:rPr lang="en-US" sz="1400" dirty="0">
                <a:solidFill>
                  <a:schemeClr val="tx1">
                    <a:lumMod val="85000"/>
                  </a:schemeClr>
                </a:solidFill>
                <a:effectLst/>
                <a:latin typeface="AkayaTelivigala" pitchFamily="2" charset="77"/>
                <a:cs typeface="AkayaTelivigala" pitchFamily="2" charset="77"/>
              </a:rPr>
              <a:t>-- </a:t>
            </a:r>
            <a:r>
              <a:rPr lang="en-US" sz="1600" b="1" cap="small" dirty="0">
                <a:solidFill>
                  <a:schemeClr val="tx1"/>
                </a:solidFill>
                <a:effectLst/>
                <a:latin typeface="AkayaTelivigala" pitchFamily="2" charset="77"/>
                <a:ea typeface="+mn-ea"/>
                <a:cs typeface="AkayaTelivigala" pitchFamily="2" charset="77"/>
              </a:rPr>
              <a:t>The final state of rendering.</a:t>
            </a:r>
            <a:endParaRPr lang="en-US" sz="1400" dirty="0">
              <a:solidFill>
                <a:schemeClr val="tx1">
                  <a:lumMod val="85000"/>
                </a:schemeClr>
              </a:solidFill>
              <a:effectLst/>
              <a:latin typeface="AkayaTelivigala" pitchFamily="2" charset="77"/>
              <a:cs typeface="AkayaTelivigala" pitchFamily="2" charset="77"/>
            </a:endParaRPr>
          </a:p>
        </p:txBody>
      </p:sp>
      <p:sp>
        <p:nvSpPr>
          <p:cNvPr id="9" name="Content Placeholder 2">
            <a:extLst>
              <a:ext uri="{FF2B5EF4-FFF2-40B4-BE49-F238E27FC236}">
                <a16:creationId xmlns:a16="http://schemas.microsoft.com/office/drawing/2014/main" id="{AA0D5ABB-8B21-86B1-A8D5-1B36C5A5C448}"/>
              </a:ext>
            </a:extLst>
          </p:cNvPr>
          <p:cNvSpPr txBox="1">
            <a:spLocks/>
          </p:cNvSpPr>
          <p:nvPr/>
        </p:nvSpPr>
        <p:spPr>
          <a:xfrm>
            <a:off x="5079999" y="1043440"/>
            <a:ext cx="6169733" cy="1100666"/>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buClr>
              <a:buSzPct val="100000"/>
              <a:buFont typeface="Arial"/>
              <a:buChar char="•"/>
              <a:defRPr sz="20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457200" lvl="1" indent="0">
              <a:buNone/>
            </a:pPr>
            <a:r>
              <a:rPr lang="en-US" sz="1600" dirty="0">
                <a:ln w="3175" cmpd="sng">
                  <a:noFill/>
                </a:ln>
                <a:effectLst/>
                <a:latin typeface="AkayaTelivigala" pitchFamily="2" charset="77"/>
                <a:cs typeface="AkayaTelivigala" pitchFamily="2" charset="77"/>
              </a:rPr>
              <a:t>In this phase react applies all the changes calculated during the render phase to the real dom.</a:t>
            </a:r>
          </a:p>
        </p:txBody>
      </p:sp>
      <p:sp>
        <p:nvSpPr>
          <p:cNvPr id="10" name="Content Placeholder 2">
            <a:extLst>
              <a:ext uri="{FF2B5EF4-FFF2-40B4-BE49-F238E27FC236}">
                <a16:creationId xmlns:a16="http://schemas.microsoft.com/office/drawing/2014/main" id="{FF5EE111-EFD0-CEF4-5B84-F89F8193E244}"/>
              </a:ext>
            </a:extLst>
          </p:cNvPr>
          <p:cNvSpPr txBox="1">
            <a:spLocks/>
          </p:cNvSpPr>
          <p:nvPr/>
        </p:nvSpPr>
        <p:spPr>
          <a:xfrm>
            <a:off x="5664202" y="3756236"/>
            <a:ext cx="6059664" cy="1298364"/>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buClr>
              <a:buSzPct val="100000"/>
              <a:buFont typeface="Arial"/>
              <a:buChar char="•"/>
              <a:defRPr sz="20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en-US" sz="1600" dirty="0">
                <a:ln w="3175" cmpd="sng">
                  <a:noFill/>
                </a:ln>
                <a:effectLst/>
                <a:latin typeface="AkayaTelivigala" pitchFamily="2" charset="77"/>
                <a:cs typeface="AkayaTelivigala" pitchFamily="2" charset="77"/>
              </a:rPr>
              <a:t>Unlike the Render Phase, which can be paused, the Commit Phase is </a:t>
            </a:r>
            <a:r>
              <a:rPr lang="en-US" sz="1400" b="1" dirty="0">
                <a:solidFill>
                  <a:srgbClr val="00B0F0"/>
                </a:solidFill>
                <a:effectLst/>
                <a:latin typeface="AkayaTelivigala" pitchFamily="2" charset="77"/>
                <a:cs typeface="AkayaTelivigala" pitchFamily="2" charset="77"/>
              </a:rPr>
              <a:t>always executed synchronously</a:t>
            </a:r>
            <a:r>
              <a:rPr lang="en-US" sz="1600" dirty="0">
                <a:ln w="3175" cmpd="sng">
                  <a:noFill/>
                </a:ln>
                <a:effectLst/>
                <a:latin typeface="AkayaTelivigala" pitchFamily="2" charset="77"/>
                <a:cs typeface="AkayaTelivigala" pitchFamily="2" charset="77"/>
              </a:rPr>
              <a:t>. This ensures that the interface is fully updated and all necessary changes are applied in real time.</a:t>
            </a:r>
          </a:p>
        </p:txBody>
      </p:sp>
      <p:sp>
        <p:nvSpPr>
          <p:cNvPr id="11" name="Rectangle 10">
            <a:extLst>
              <a:ext uri="{FF2B5EF4-FFF2-40B4-BE49-F238E27FC236}">
                <a16:creationId xmlns:a16="http://schemas.microsoft.com/office/drawing/2014/main" id="{B539730F-B2AC-74E8-7A32-7EA4A02783C5}"/>
              </a:ext>
            </a:extLst>
          </p:cNvPr>
          <p:cNvSpPr/>
          <p:nvPr/>
        </p:nvSpPr>
        <p:spPr>
          <a:xfrm>
            <a:off x="5664202" y="3756236"/>
            <a:ext cx="6059664" cy="129836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35658317-3D9D-163A-C9D2-0F4969CD7945}"/>
              </a:ext>
            </a:extLst>
          </p:cNvPr>
          <p:cNvSpPr txBox="1">
            <a:spLocks/>
          </p:cNvSpPr>
          <p:nvPr/>
        </p:nvSpPr>
        <p:spPr>
          <a:xfrm>
            <a:off x="5554133" y="2117592"/>
            <a:ext cx="6169733" cy="1100666"/>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buClr>
              <a:buSzPct val="100000"/>
              <a:buFont typeface="Arial"/>
              <a:buChar char="•"/>
              <a:defRPr sz="20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pPr marL="0" indent="0">
              <a:buNone/>
            </a:pPr>
            <a:r>
              <a:rPr lang="en-US" sz="1600" dirty="0">
                <a:ln w="3175" cmpd="sng">
                  <a:noFill/>
                </a:ln>
                <a:effectLst/>
                <a:latin typeface="AkayaTelivigala" pitchFamily="2" charset="77"/>
                <a:cs typeface="AkayaTelivigala" pitchFamily="2" charset="77"/>
              </a:rPr>
              <a:t>This phase includes</a:t>
            </a:r>
          </a:p>
          <a:p>
            <a:pPr marL="342900" indent="-342900">
              <a:buFont typeface="+mj-lt"/>
              <a:buAutoNum type="arabicPeriod"/>
            </a:pPr>
            <a:r>
              <a:rPr lang="en-US" sz="1400" b="1" dirty="0">
                <a:solidFill>
                  <a:srgbClr val="00B0F0"/>
                </a:solidFill>
                <a:effectLst/>
                <a:latin typeface="AkayaTelivigala" pitchFamily="2" charset="77"/>
                <a:cs typeface="AkayaTelivigala" pitchFamily="2" charset="77"/>
              </a:rPr>
              <a:t>Updating the real </a:t>
            </a:r>
            <a:r>
              <a:rPr lang="en-US" sz="1400" b="1" dirty="0" err="1">
                <a:solidFill>
                  <a:srgbClr val="00B0F0"/>
                </a:solidFill>
                <a:effectLst/>
                <a:latin typeface="AkayaTelivigala" pitchFamily="2" charset="77"/>
                <a:cs typeface="AkayaTelivigala" pitchFamily="2" charset="77"/>
              </a:rPr>
              <a:t>dom</a:t>
            </a:r>
            <a:endParaRPr lang="en-US" sz="1400" b="1" dirty="0">
              <a:solidFill>
                <a:srgbClr val="00B0F0"/>
              </a:solidFill>
              <a:effectLst/>
              <a:latin typeface="AkayaTelivigala" pitchFamily="2" charset="77"/>
              <a:cs typeface="AkayaTelivigala" pitchFamily="2" charset="77"/>
            </a:endParaRPr>
          </a:p>
          <a:p>
            <a:pPr marL="342900" indent="-342900">
              <a:buFont typeface="+mj-lt"/>
              <a:buAutoNum type="arabicPeriod"/>
            </a:pPr>
            <a:r>
              <a:rPr lang="en-US" sz="1400" b="1" dirty="0">
                <a:solidFill>
                  <a:srgbClr val="00B0F0"/>
                </a:solidFill>
                <a:effectLst/>
                <a:latin typeface="AkayaTelivigala" pitchFamily="2" charset="77"/>
                <a:cs typeface="AkayaTelivigala" pitchFamily="2" charset="77"/>
              </a:rPr>
              <a:t>Executing effect</a:t>
            </a:r>
          </a:p>
        </p:txBody>
      </p:sp>
    </p:spTree>
    <p:extLst>
      <p:ext uri="{BB962C8B-B14F-4D97-AF65-F5344CB8AC3E}">
        <p14:creationId xmlns:p14="http://schemas.microsoft.com/office/powerpoint/2010/main" val="1150786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00902-3332-9D3F-240B-06299D337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C1AED-F939-3042-8D78-0082571543AD}"/>
              </a:ext>
            </a:extLst>
          </p:cNvPr>
          <p:cNvSpPr>
            <a:spLocks noGrp="1"/>
          </p:cNvSpPr>
          <p:nvPr>
            <p:ph type="title"/>
          </p:nvPr>
        </p:nvSpPr>
        <p:spPr>
          <a:xfrm>
            <a:off x="2415468" y="2846650"/>
            <a:ext cx="7361063" cy="1164699"/>
          </a:xfrm>
        </p:spPr>
        <p:txBody>
          <a:bodyPr>
            <a:normAutofit/>
          </a:bodyPr>
          <a:lstStyle/>
          <a:p>
            <a:pPr algn="ctr"/>
            <a:r>
              <a:rPr lang="en-US" dirty="0">
                <a:solidFill>
                  <a:srgbClr val="FFC000"/>
                </a:solidFill>
                <a:effectLst/>
                <a:latin typeface="AkayaTelivigala" pitchFamily="2" charset="77"/>
                <a:cs typeface="AkayaTelivigala" pitchFamily="2" charset="77"/>
              </a:rPr>
              <a:t>Diffing</a:t>
            </a:r>
            <a:br>
              <a:rPr lang="en-US" dirty="0">
                <a:solidFill>
                  <a:srgbClr val="FFC000"/>
                </a:solidFill>
                <a:effectLst/>
                <a:latin typeface="AkayaTelivigala" pitchFamily="2" charset="77"/>
                <a:cs typeface="AkayaTelivigala" pitchFamily="2" charset="77"/>
              </a:rPr>
            </a:br>
            <a:r>
              <a:rPr lang="en-US" sz="2000" dirty="0">
                <a:solidFill>
                  <a:schemeClr val="tx1">
                    <a:lumMod val="85000"/>
                  </a:schemeClr>
                </a:solidFill>
                <a:effectLst/>
                <a:latin typeface="AkayaTelivigala" pitchFamily="2" charset="77"/>
                <a:cs typeface="AkayaTelivigala" pitchFamily="2" charset="77"/>
              </a:rPr>
              <a:t>--  How it works?</a:t>
            </a:r>
          </a:p>
        </p:txBody>
      </p:sp>
    </p:spTree>
    <p:extLst>
      <p:ext uri="{BB962C8B-B14F-4D97-AF65-F5344CB8AC3E}">
        <p14:creationId xmlns:p14="http://schemas.microsoft.com/office/powerpoint/2010/main" val="29956331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F4B54B"/>
      </a:accent1>
      <a:accent2>
        <a:srgbClr val="A2C84E"/>
      </a:accent2>
      <a:accent3>
        <a:srgbClr val="4BC298"/>
      </a:accent3>
      <a:accent4>
        <a:srgbClr val="4CB5D3"/>
      </a:accent4>
      <a:accent5>
        <a:srgbClr val="9167E3"/>
      </a:accent5>
      <a:accent6>
        <a:srgbClr val="E05073"/>
      </a:accent6>
      <a:hlink>
        <a:srgbClr val="E19520"/>
      </a:hlink>
      <a:folHlink>
        <a:srgbClr val="E8B15D"/>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DD1DAD52-B525-46B5-8E87-60EE23581B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Mesh</Template>
  <TotalTime>900</TotalTime>
  <Words>3285</Words>
  <Application>Microsoft Macintosh PowerPoint</Application>
  <PresentationFormat>Widescreen</PresentationFormat>
  <Paragraphs>284</Paragraphs>
  <Slides>54</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AkayaTelivigala</vt:lpstr>
      <vt:lpstr>Aptos</vt:lpstr>
      <vt:lpstr>Arial</vt:lpstr>
      <vt:lpstr>Calibri</vt:lpstr>
      <vt:lpstr>Century Gothic</vt:lpstr>
      <vt:lpstr>Helvetica</vt:lpstr>
      <vt:lpstr>Mesh</vt:lpstr>
      <vt:lpstr>React JS </vt:lpstr>
      <vt:lpstr>Before Start…</vt:lpstr>
      <vt:lpstr>Array methods:</vt:lpstr>
      <vt:lpstr>Object methods:</vt:lpstr>
      <vt:lpstr>String methods:</vt:lpstr>
      <vt:lpstr>Number methods:</vt:lpstr>
      <vt:lpstr>Some More topics… </vt:lpstr>
      <vt:lpstr>Creating a new React Project</vt:lpstr>
      <vt:lpstr>Vite — It is a modern build tool for JavaScript projects. Its main goal is to provide fast and efficient development, especially for modern frameworks such as Vue, React, Svelte, and others. </vt:lpstr>
      <vt:lpstr>React.createElement -- It’s the function that React uses to create elements. </vt:lpstr>
      <vt:lpstr>React.createElement -- More on how it works</vt:lpstr>
      <vt:lpstr>JSX -- JavaScript XML</vt:lpstr>
      <vt:lpstr>JSX – It is a language extension. Javascript -- Which allows you to write elements that look like HTML or XML directly in your React code  Or, JSX is a syntax that lets you write HTML, CSS and JS all in one place. </vt:lpstr>
      <vt:lpstr>JSX.CSS -- Working with CSS</vt:lpstr>
      <vt:lpstr>CSS in JSX -- How CSS works in a React component</vt:lpstr>
      <vt:lpstr>CSS in JSX -- Using a CSS file with predefined styles for specific classes</vt:lpstr>
      <vt:lpstr>Props -- props (abbreviation of properties)</vt:lpstr>
      <vt:lpstr>Props -- A way to pass data from parent components to child components.    </vt:lpstr>
      <vt:lpstr>useState -- State Management</vt:lpstr>
      <vt:lpstr>useState -- This is one of the React hooks that allows components to have their own state.    </vt:lpstr>
      <vt:lpstr>State Update -- State can only be changed through setState().    </vt:lpstr>
      <vt:lpstr>When to use -- UseState – and how exactly</vt:lpstr>
      <vt:lpstr>useState -- When to use   </vt:lpstr>
      <vt:lpstr>PowerPoint Presentation</vt:lpstr>
      <vt:lpstr>React is Declarative -- But what does that mean??</vt:lpstr>
      <vt:lpstr>Declarative and Imperative    </vt:lpstr>
      <vt:lpstr>Component Composition -- But what does that mean??</vt:lpstr>
      <vt:lpstr>useEffect-- Hook</vt:lpstr>
      <vt:lpstr>useEffect -- Is used to manage side effect in functional components.    </vt:lpstr>
      <vt:lpstr>useEffect -- How does it work   </vt:lpstr>
      <vt:lpstr>useEffect Vs Events --What to Choose ?</vt:lpstr>
      <vt:lpstr>useEffect -- What to use for working with side effects?   </vt:lpstr>
      <vt:lpstr>Class vs Functional Components -- And their differences</vt:lpstr>
      <vt:lpstr>Class vs Function -- Class and Functional components are two ways to create components in React   </vt:lpstr>
      <vt:lpstr>Class vs Function -- Class and Functional components are two ways to create components in React   </vt:lpstr>
      <vt:lpstr>Rendering -- How it works</vt:lpstr>
      <vt:lpstr>Component Rendering in React -- is the process where React calls the component function to get a description of the interface in the form of react elements. These elements are used to create and update the virtual dom, which is then synchronized with the real dom.</vt:lpstr>
      <vt:lpstr>Rendering -- When is rendering triggered?   </vt:lpstr>
      <vt:lpstr>Virtual DOM -- What does it look like?</vt:lpstr>
      <vt:lpstr>PowerPoint Presentation</vt:lpstr>
      <vt:lpstr>Virtual DOM -- How it Works?</vt:lpstr>
      <vt:lpstr>PowerPoint Presentation</vt:lpstr>
      <vt:lpstr>Fiber Tree -- How it Works?</vt:lpstr>
      <vt:lpstr>PowerPoint Presentation</vt:lpstr>
      <vt:lpstr>Fiber Tree Vs Virtual DOm -- What’s the difference ?</vt:lpstr>
      <vt:lpstr>PowerPoint Presentation</vt:lpstr>
      <vt:lpstr>Rendering scheme -- How React updates the application ?</vt:lpstr>
      <vt:lpstr>PowerPoint Presentation</vt:lpstr>
      <vt:lpstr>PowerPoint Presentation</vt:lpstr>
      <vt:lpstr>Memoization -- Application performance optimization ?</vt:lpstr>
      <vt:lpstr>Re- Render -- Re -rendering of child components always happens if the parent component re -renders, even if the child component ’s dependencies received from the parent (props) have not changed.</vt:lpstr>
      <vt:lpstr>Commit phase --  ?</vt:lpstr>
      <vt:lpstr>Commit Phase -- The final state of rendering.</vt:lpstr>
      <vt:lpstr>Diffing --  How it works?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Yash Vardhan</dc:creator>
  <cp:lastModifiedBy>Yash Vardhan</cp:lastModifiedBy>
  <cp:revision>2</cp:revision>
  <dcterms:created xsi:type="dcterms:W3CDTF">2025-11-04T04:51:52Z</dcterms:created>
  <dcterms:modified xsi:type="dcterms:W3CDTF">2025-11-06T05:36:57Z</dcterms:modified>
</cp:coreProperties>
</file>